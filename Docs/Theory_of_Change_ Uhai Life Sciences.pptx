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Lst>
  <p:sldSz cx="20078700" cy="11277600"/>
  <p:notesSz cx="6858000" cy="9144000"/>
  <p:embeddedFontLst>
    <p:embeddedFont>
      <p:font typeface="Aharoni" panose="02010803020104030203" pitchFamily="2" charset="-79"/>
      <p:bold r:id="rId16"/>
    </p:embeddedFont>
    <p:embeddedFont>
      <p:font typeface="League Spartan" panose="020B0604020202020204" charset="0"/>
      <p:regular r:id="rId17"/>
    </p:embeddedFont>
    <p:embeddedFont>
      <p:font typeface="Open Sans" panose="020B0606030504020204" pitchFamily="34" charset="0"/>
      <p:regular r:id="rId18"/>
      <p:bold r:id="rId19"/>
      <p:italic r:id="rId20"/>
      <p:boldItalic r:id="rId21"/>
    </p:embeddedFont>
    <p:embeddedFont>
      <p:font typeface="Open Sans Semi-Bold"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1AC1B1-CC9D-400A-B0C9-C3E90C97FADB}" v="49" dt="2025-07-24T11:42:28.0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3" d="100"/>
          <a:sy n="53" d="100"/>
        </p:scale>
        <p:origin x="432"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rald Lwande" userId="b7c99195fc78e91f" providerId="LiveId" clId="{BA1AC1B1-CC9D-400A-B0C9-C3E90C97FADB}"/>
    <pc:docChg chg="undo custSel delSld modSld">
      <pc:chgData name="Gerald Lwande" userId="b7c99195fc78e91f" providerId="LiveId" clId="{BA1AC1B1-CC9D-400A-B0C9-C3E90C97FADB}" dt="2025-07-24T11:45:06.960" v="1687" actId="6549"/>
      <pc:docMkLst>
        <pc:docMk/>
      </pc:docMkLst>
      <pc:sldChg chg="modSp mod">
        <pc:chgData name="Gerald Lwande" userId="b7c99195fc78e91f" providerId="LiveId" clId="{BA1AC1B1-CC9D-400A-B0C9-C3E90C97FADB}" dt="2025-07-18T07:24:12.978" v="77" actId="6549"/>
        <pc:sldMkLst>
          <pc:docMk/>
          <pc:sldMk cId="0" sldId="258"/>
        </pc:sldMkLst>
        <pc:spChg chg="mod">
          <ac:chgData name="Gerald Lwande" userId="b7c99195fc78e91f" providerId="LiveId" clId="{BA1AC1B1-CC9D-400A-B0C9-C3E90C97FADB}" dt="2025-07-18T07:24:12.978" v="77" actId="6549"/>
          <ac:spMkLst>
            <pc:docMk/>
            <pc:sldMk cId="0" sldId="258"/>
            <ac:spMk id="8" creationId="{00000000-0000-0000-0000-000000000000}"/>
          </ac:spMkLst>
        </pc:spChg>
      </pc:sldChg>
      <pc:sldChg chg="modSp mod">
        <pc:chgData name="Gerald Lwande" userId="b7c99195fc78e91f" providerId="LiveId" clId="{BA1AC1B1-CC9D-400A-B0C9-C3E90C97FADB}" dt="2025-07-18T07:54:34.682" v="447" actId="6549"/>
        <pc:sldMkLst>
          <pc:docMk/>
          <pc:sldMk cId="0" sldId="259"/>
        </pc:sldMkLst>
        <pc:spChg chg="mod">
          <ac:chgData name="Gerald Lwande" userId="b7c99195fc78e91f" providerId="LiveId" clId="{BA1AC1B1-CC9D-400A-B0C9-C3E90C97FADB}" dt="2025-07-18T07:54:34.682" v="447" actId="6549"/>
          <ac:spMkLst>
            <pc:docMk/>
            <pc:sldMk cId="0" sldId="259"/>
            <ac:spMk id="8" creationId="{00000000-0000-0000-0000-000000000000}"/>
          </ac:spMkLst>
        </pc:spChg>
      </pc:sldChg>
      <pc:sldChg chg="modSp mod">
        <pc:chgData name="Gerald Lwande" userId="b7c99195fc78e91f" providerId="LiveId" clId="{BA1AC1B1-CC9D-400A-B0C9-C3E90C97FADB}" dt="2025-07-18T08:07:22.313" v="639" actId="2710"/>
        <pc:sldMkLst>
          <pc:docMk/>
          <pc:sldMk cId="0" sldId="260"/>
        </pc:sldMkLst>
        <pc:spChg chg="mod">
          <ac:chgData name="Gerald Lwande" userId="b7c99195fc78e91f" providerId="LiveId" clId="{BA1AC1B1-CC9D-400A-B0C9-C3E90C97FADB}" dt="2025-07-18T08:07:22.313" v="639" actId="2710"/>
          <ac:spMkLst>
            <pc:docMk/>
            <pc:sldMk cId="0" sldId="260"/>
            <ac:spMk id="8" creationId="{00000000-0000-0000-0000-000000000000}"/>
          </ac:spMkLst>
        </pc:spChg>
        <pc:grpChg chg="mod">
          <ac:chgData name="Gerald Lwande" userId="b7c99195fc78e91f" providerId="LiveId" clId="{BA1AC1B1-CC9D-400A-B0C9-C3E90C97FADB}" dt="2025-07-18T08:02:51.337" v="480" actId="1076"/>
          <ac:grpSpMkLst>
            <pc:docMk/>
            <pc:sldMk cId="0" sldId="260"/>
            <ac:grpSpMk id="7" creationId="{00000000-0000-0000-0000-000000000000}"/>
          </ac:grpSpMkLst>
        </pc:grpChg>
      </pc:sldChg>
      <pc:sldChg chg="modSp mod">
        <pc:chgData name="Gerald Lwande" userId="b7c99195fc78e91f" providerId="LiveId" clId="{BA1AC1B1-CC9D-400A-B0C9-C3E90C97FADB}" dt="2025-07-18T08:52:44.942" v="1373" actId="313"/>
        <pc:sldMkLst>
          <pc:docMk/>
          <pc:sldMk cId="0" sldId="261"/>
        </pc:sldMkLst>
        <pc:spChg chg="mod">
          <ac:chgData name="Gerald Lwande" userId="b7c99195fc78e91f" providerId="LiveId" clId="{BA1AC1B1-CC9D-400A-B0C9-C3E90C97FADB}" dt="2025-07-18T08:52:44.942" v="1373" actId="313"/>
          <ac:spMkLst>
            <pc:docMk/>
            <pc:sldMk cId="0" sldId="261"/>
            <ac:spMk id="8" creationId="{00000000-0000-0000-0000-000000000000}"/>
          </ac:spMkLst>
        </pc:spChg>
      </pc:sldChg>
      <pc:sldChg chg="modSp mod">
        <pc:chgData name="Gerald Lwande" userId="b7c99195fc78e91f" providerId="LiveId" clId="{BA1AC1B1-CC9D-400A-B0C9-C3E90C97FADB}" dt="2025-07-18T08:25:22.188" v="1056" actId="6549"/>
        <pc:sldMkLst>
          <pc:docMk/>
          <pc:sldMk cId="0" sldId="262"/>
        </pc:sldMkLst>
        <pc:spChg chg="mod">
          <ac:chgData name="Gerald Lwande" userId="b7c99195fc78e91f" providerId="LiveId" clId="{BA1AC1B1-CC9D-400A-B0C9-C3E90C97FADB}" dt="2025-07-18T08:25:22.188" v="1056" actId="6549"/>
          <ac:spMkLst>
            <pc:docMk/>
            <pc:sldMk cId="0" sldId="262"/>
            <ac:spMk id="8" creationId="{00000000-0000-0000-0000-000000000000}"/>
          </ac:spMkLst>
        </pc:spChg>
      </pc:sldChg>
      <pc:sldChg chg="modSp mod">
        <pc:chgData name="Gerald Lwande" userId="b7c99195fc78e91f" providerId="LiveId" clId="{BA1AC1B1-CC9D-400A-B0C9-C3E90C97FADB}" dt="2025-07-18T08:38:05.915" v="1090" actId="6549"/>
        <pc:sldMkLst>
          <pc:docMk/>
          <pc:sldMk cId="0" sldId="263"/>
        </pc:sldMkLst>
        <pc:spChg chg="mod">
          <ac:chgData name="Gerald Lwande" userId="b7c99195fc78e91f" providerId="LiveId" clId="{BA1AC1B1-CC9D-400A-B0C9-C3E90C97FADB}" dt="2025-07-18T08:38:05.915" v="1090" actId="6549"/>
          <ac:spMkLst>
            <pc:docMk/>
            <pc:sldMk cId="0" sldId="263"/>
            <ac:spMk id="8" creationId="{00000000-0000-0000-0000-000000000000}"/>
          </ac:spMkLst>
        </pc:spChg>
      </pc:sldChg>
      <pc:sldChg chg="modSp mod">
        <pc:chgData name="Gerald Lwande" userId="b7c99195fc78e91f" providerId="LiveId" clId="{BA1AC1B1-CC9D-400A-B0C9-C3E90C97FADB}" dt="2025-07-18T08:41:37.933" v="1115" actId="2710"/>
        <pc:sldMkLst>
          <pc:docMk/>
          <pc:sldMk cId="0" sldId="264"/>
        </pc:sldMkLst>
        <pc:spChg chg="mod">
          <ac:chgData name="Gerald Lwande" userId="b7c99195fc78e91f" providerId="LiveId" clId="{BA1AC1B1-CC9D-400A-B0C9-C3E90C97FADB}" dt="2025-07-18T08:41:37.933" v="1115" actId="2710"/>
          <ac:spMkLst>
            <pc:docMk/>
            <pc:sldMk cId="0" sldId="264"/>
            <ac:spMk id="8" creationId="{00000000-0000-0000-0000-000000000000}"/>
          </ac:spMkLst>
        </pc:spChg>
      </pc:sldChg>
      <pc:sldChg chg="modSp mod">
        <pc:chgData name="Gerald Lwande" userId="b7c99195fc78e91f" providerId="LiveId" clId="{BA1AC1B1-CC9D-400A-B0C9-C3E90C97FADB}" dt="2025-07-18T08:43:04.457" v="1226" actId="11"/>
        <pc:sldMkLst>
          <pc:docMk/>
          <pc:sldMk cId="0" sldId="265"/>
        </pc:sldMkLst>
        <pc:spChg chg="mod">
          <ac:chgData name="Gerald Lwande" userId="b7c99195fc78e91f" providerId="LiveId" clId="{BA1AC1B1-CC9D-400A-B0C9-C3E90C97FADB}" dt="2025-07-18T08:43:04.457" v="1226" actId="11"/>
          <ac:spMkLst>
            <pc:docMk/>
            <pc:sldMk cId="0" sldId="265"/>
            <ac:spMk id="8" creationId="{00000000-0000-0000-0000-000000000000}"/>
          </ac:spMkLst>
        </pc:spChg>
      </pc:sldChg>
      <pc:sldChg chg="addSp modSp mod">
        <pc:chgData name="Gerald Lwande" userId="b7c99195fc78e91f" providerId="LiveId" clId="{BA1AC1B1-CC9D-400A-B0C9-C3E90C97FADB}" dt="2025-07-24T11:45:06.960" v="1687" actId="6549"/>
        <pc:sldMkLst>
          <pc:docMk/>
          <pc:sldMk cId="0" sldId="266"/>
        </pc:sldMkLst>
        <pc:spChg chg="mod">
          <ac:chgData name="Gerald Lwande" userId="b7c99195fc78e91f" providerId="LiveId" clId="{BA1AC1B1-CC9D-400A-B0C9-C3E90C97FADB}" dt="2025-07-24T11:45:06.960" v="1687" actId="6549"/>
          <ac:spMkLst>
            <pc:docMk/>
            <pc:sldMk cId="0" sldId="266"/>
            <ac:spMk id="8" creationId="{00000000-0000-0000-0000-000000000000}"/>
          </ac:spMkLst>
        </pc:spChg>
      </pc:sldChg>
      <pc:sldChg chg="del">
        <pc:chgData name="Gerald Lwande" userId="b7c99195fc78e91f" providerId="LiveId" clId="{BA1AC1B1-CC9D-400A-B0C9-C3E90C97FADB}" dt="2025-07-24T10:45:25.852" v="1435" actId="47"/>
        <pc:sldMkLst>
          <pc:docMk/>
          <pc:sldMk cId="0" sldId="267"/>
        </pc:sldMkLst>
      </pc:sldChg>
      <pc:sldChg chg="addSp modSp mod">
        <pc:chgData name="Gerald Lwande" userId="b7c99195fc78e91f" providerId="LiveId" clId="{BA1AC1B1-CC9D-400A-B0C9-C3E90C97FADB}" dt="2025-07-24T11:38:50.869" v="1649" actId="1076"/>
        <pc:sldMkLst>
          <pc:docMk/>
          <pc:sldMk cId="0" sldId="268"/>
        </pc:sldMkLst>
        <pc:spChg chg="mod">
          <ac:chgData name="Gerald Lwande" userId="b7c99195fc78e91f" providerId="LiveId" clId="{BA1AC1B1-CC9D-400A-B0C9-C3E90C97FADB}" dt="2025-07-18T07:03:36.220" v="0"/>
          <ac:spMkLst>
            <pc:docMk/>
            <pc:sldMk cId="0" sldId="268"/>
            <ac:spMk id="12" creationId="{C104F6FC-C0D7-7BD7-2C24-A09605A46197}"/>
          </ac:spMkLst>
        </pc:spChg>
        <pc:spChg chg="mod">
          <ac:chgData name="Gerald Lwande" userId="b7c99195fc78e91f" providerId="LiveId" clId="{BA1AC1B1-CC9D-400A-B0C9-C3E90C97FADB}" dt="2025-07-24T10:55:48.584" v="1582" actId="255"/>
          <ac:spMkLst>
            <pc:docMk/>
            <pc:sldMk cId="0" sldId="268"/>
            <ac:spMk id="13" creationId="{0C7C97B2-15ED-759D-2076-7B8BFABEC351}"/>
          </ac:spMkLst>
        </pc:spChg>
        <pc:spChg chg="mod">
          <ac:chgData name="Gerald Lwande" userId="b7c99195fc78e91f" providerId="LiveId" clId="{BA1AC1B1-CC9D-400A-B0C9-C3E90C97FADB}" dt="2025-07-18T07:03:36.220" v="0"/>
          <ac:spMkLst>
            <pc:docMk/>
            <pc:sldMk cId="0" sldId="268"/>
            <ac:spMk id="14" creationId="{D1786759-E65A-E506-1E7A-D0D744B15B13}"/>
          </ac:spMkLst>
        </pc:spChg>
        <pc:spChg chg="mod">
          <ac:chgData name="Gerald Lwande" userId="b7c99195fc78e91f" providerId="LiveId" clId="{BA1AC1B1-CC9D-400A-B0C9-C3E90C97FADB}" dt="2025-07-24T10:55:35.723" v="1579" actId="2711"/>
          <ac:spMkLst>
            <pc:docMk/>
            <pc:sldMk cId="0" sldId="268"/>
            <ac:spMk id="15" creationId="{4C963D23-3683-E094-A598-12C0EF7BFEA8}"/>
          </ac:spMkLst>
        </pc:spChg>
        <pc:spChg chg="mod">
          <ac:chgData name="Gerald Lwande" userId="b7c99195fc78e91f" providerId="LiveId" clId="{BA1AC1B1-CC9D-400A-B0C9-C3E90C97FADB}" dt="2025-07-18T08:55:20.715" v="1429" actId="20577"/>
          <ac:spMkLst>
            <pc:docMk/>
            <pc:sldMk cId="0" sldId="268"/>
            <ac:spMk id="16" creationId="{0F06895A-1B86-C5AF-3887-0D0A6D8938A8}"/>
          </ac:spMkLst>
        </pc:spChg>
        <pc:spChg chg="mod">
          <ac:chgData name="Gerald Lwande" userId="b7c99195fc78e91f" providerId="LiveId" clId="{BA1AC1B1-CC9D-400A-B0C9-C3E90C97FADB}" dt="2025-07-24T10:54:37.182" v="1570" actId="2710"/>
          <ac:spMkLst>
            <pc:docMk/>
            <pc:sldMk cId="0" sldId="268"/>
            <ac:spMk id="17" creationId="{52B83A3A-5037-845C-D931-ED25B4CE291B}"/>
          </ac:spMkLst>
        </pc:spChg>
        <pc:spChg chg="mod">
          <ac:chgData name="Gerald Lwande" userId="b7c99195fc78e91f" providerId="LiveId" clId="{BA1AC1B1-CC9D-400A-B0C9-C3E90C97FADB}" dt="2025-07-18T08:55:29.515" v="1430" actId="6549"/>
          <ac:spMkLst>
            <pc:docMk/>
            <pc:sldMk cId="0" sldId="268"/>
            <ac:spMk id="18" creationId="{C7F6381D-CF7B-789E-A1CE-CDFAA0D06EAB}"/>
          </ac:spMkLst>
        </pc:spChg>
        <pc:spChg chg="mod">
          <ac:chgData name="Gerald Lwande" userId="b7c99195fc78e91f" providerId="LiveId" clId="{BA1AC1B1-CC9D-400A-B0C9-C3E90C97FADB}" dt="2025-07-24T10:54:20.108" v="1568" actId="27636"/>
          <ac:spMkLst>
            <pc:docMk/>
            <pc:sldMk cId="0" sldId="268"/>
            <ac:spMk id="19" creationId="{16864074-E361-5462-7965-77158665DEC8}"/>
          </ac:spMkLst>
        </pc:spChg>
        <pc:spChg chg="mod">
          <ac:chgData name="Gerald Lwande" userId="b7c99195fc78e91f" providerId="LiveId" clId="{BA1AC1B1-CC9D-400A-B0C9-C3E90C97FADB}" dt="2025-07-18T07:03:36.220" v="0"/>
          <ac:spMkLst>
            <pc:docMk/>
            <pc:sldMk cId="0" sldId="268"/>
            <ac:spMk id="20" creationId="{D5153489-DCCD-A609-8279-BF604FE7221C}"/>
          </ac:spMkLst>
        </pc:spChg>
        <pc:spChg chg="mod">
          <ac:chgData name="Gerald Lwande" userId="b7c99195fc78e91f" providerId="LiveId" clId="{BA1AC1B1-CC9D-400A-B0C9-C3E90C97FADB}" dt="2025-07-24T11:38:50.869" v="1649" actId="1076"/>
          <ac:spMkLst>
            <pc:docMk/>
            <pc:sldMk cId="0" sldId="268"/>
            <ac:spMk id="21" creationId="{BF9F9D20-5FA5-074B-510D-631CBD4A1B47}"/>
          </ac:spMkLst>
        </pc:spChg>
        <pc:grpChg chg="mod">
          <ac:chgData name="Gerald Lwande" userId="b7c99195fc78e91f" providerId="LiveId" clId="{BA1AC1B1-CC9D-400A-B0C9-C3E90C97FADB}" dt="2025-07-18T07:03:43.764" v="1" actId="1076"/>
          <ac:grpSpMkLst>
            <pc:docMk/>
            <pc:sldMk cId="0" sldId="268"/>
            <ac:grpSpMk id="7" creationId="{00000000-0000-0000-0000-000000000000}"/>
          </ac:grpSpMkLst>
        </pc:grpChg>
        <pc:grpChg chg="mod">
          <ac:chgData name="Gerald Lwande" userId="b7c99195fc78e91f" providerId="LiveId" clId="{BA1AC1B1-CC9D-400A-B0C9-C3E90C97FADB}" dt="2025-07-18T08:49:23.254" v="1311" actId="1076"/>
          <ac:grpSpMkLst>
            <pc:docMk/>
            <pc:sldMk cId="0" sldId="268"/>
            <ac:grpSpMk id="11" creationId="{C56212B0-A426-2C4D-6D91-826B6724AF68}"/>
          </ac:grpSpMkLst>
        </pc:gr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jpe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jpeg"/><Relationship Id="rId5" Type="http://schemas.openxmlformats.org/officeDocument/2006/relationships/image" Target="../media/image4.jpeg"/><Relationship Id="rId10" Type="http://schemas.openxmlformats.org/officeDocument/2006/relationships/image" Target="../media/image9.png"/><Relationship Id="rId4" Type="http://schemas.openxmlformats.org/officeDocument/2006/relationships/image" Target="../media/image3.sv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sv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sv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sv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svg"/></Relationships>
</file>

<file path=ppt/slides/_rels/slide1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10.jpeg"/><Relationship Id="rId5" Type="http://schemas.openxmlformats.org/officeDocument/2006/relationships/image" Target="../media/image4.jpeg"/><Relationship Id="rId10" Type="http://schemas.openxmlformats.org/officeDocument/2006/relationships/image" Target="../media/image9.png"/><Relationship Id="rId4" Type="http://schemas.openxmlformats.org/officeDocument/2006/relationships/image" Target="../media/image3.svg"/><Relationship Id="rId9" Type="http://schemas.openxmlformats.org/officeDocument/2006/relationships/image" Target="../media/image1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2"/>
            <a:stretch>
              <a:fillRect r="-63" b="-168"/>
            </a:stretch>
          </a:blipFill>
        </p:spPr>
        <p:txBody>
          <a:bodyPr/>
          <a:lstStyle/>
          <a:p>
            <a:endParaRPr lang="en-GB"/>
          </a:p>
        </p:txBody>
      </p:sp>
      <p:sp>
        <p:nvSpPr>
          <p:cNvPr id="3" name="Freeform 3"/>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5"/>
            <a:stretch>
              <a:fillRect t="-2332" r="-12070" b="-90"/>
            </a:stretch>
          </a:blipFill>
        </p:spPr>
        <p:txBody>
          <a:bodyPr/>
          <a:lstStyle/>
          <a:p>
            <a:endParaRPr lang="en-GB"/>
          </a:p>
        </p:txBody>
      </p:sp>
      <p:sp>
        <p:nvSpPr>
          <p:cNvPr id="5" name="Freeform 5"/>
          <p:cNvSpPr/>
          <p:nvPr/>
        </p:nvSpPr>
        <p:spPr>
          <a:xfrm rot="5400000">
            <a:off x="-5080792" y="5080792"/>
            <a:ext cx="11290297" cy="1128712"/>
          </a:xfrm>
          <a:custGeom>
            <a:avLst/>
            <a:gdLst/>
            <a:ahLst/>
            <a:cxnLst/>
            <a:rect l="l" t="t" r="r" b="b"/>
            <a:pathLst>
              <a:path w="11290297" h="1128712">
                <a:moveTo>
                  <a:pt x="0" y="0"/>
                </a:moveTo>
                <a:lnTo>
                  <a:pt x="11290297" y="0"/>
                </a:lnTo>
                <a:lnTo>
                  <a:pt x="11290297" y="1128713"/>
                </a:lnTo>
                <a:lnTo>
                  <a:pt x="0" y="1128713"/>
                </a:lnTo>
                <a:lnTo>
                  <a:pt x="0" y="0"/>
                </a:lnTo>
                <a:close/>
              </a:path>
            </a:pathLst>
          </a:custGeom>
          <a:blipFill>
            <a:blip r:embed="rId6"/>
            <a:stretch>
              <a:fillRect t="-451106" r="-56" b="-449737"/>
            </a:stretch>
          </a:blipFill>
        </p:spPr>
        <p:txBody>
          <a:bodyPr/>
          <a:lstStyle/>
          <a:p>
            <a:endParaRPr lang="en-GB"/>
          </a:p>
        </p:txBody>
      </p:sp>
      <p:sp>
        <p:nvSpPr>
          <p:cNvPr id="6" name="Freeform 6"/>
          <p:cNvSpPr/>
          <p:nvPr/>
        </p:nvSpPr>
        <p:spPr>
          <a:xfrm>
            <a:off x="12558485" y="0"/>
            <a:ext cx="7532912" cy="11290297"/>
          </a:xfrm>
          <a:custGeom>
            <a:avLst/>
            <a:gdLst/>
            <a:ahLst/>
            <a:cxnLst/>
            <a:rect l="l" t="t" r="r" b="b"/>
            <a:pathLst>
              <a:path w="7532912" h="11290297">
                <a:moveTo>
                  <a:pt x="0" y="0"/>
                </a:moveTo>
                <a:lnTo>
                  <a:pt x="7532912" y="0"/>
                </a:lnTo>
                <a:lnTo>
                  <a:pt x="7532912" y="11290297"/>
                </a:lnTo>
                <a:lnTo>
                  <a:pt x="0" y="11290297"/>
                </a:lnTo>
                <a:lnTo>
                  <a:pt x="0" y="0"/>
                </a:lnTo>
                <a:close/>
              </a:path>
            </a:pathLst>
          </a:custGeom>
          <a:blipFill>
            <a:blip r:embed="rId7"/>
            <a:stretch>
              <a:fillRect l="-53733" r="-78637"/>
            </a:stretch>
          </a:blipFill>
        </p:spPr>
        <p:txBody>
          <a:bodyPr/>
          <a:lstStyle/>
          <a:p>
            <a:endParaRPr lang="en-GB"/>
          </a:p>
        </p:txBody>
      </p:sp>
      <p:sp>
        <p:nvSpPr>
          <p:cNvPr id="7" name="TextBox 7"/>
          <p:cNvSpPr txBox="1"/>
          <p:nvPr/>
        </p:nvSpPr>
        <p:spPr>
          <a:xfrm>
            <a:off x="1659675" y="3018629"/>
            <a:ext cx="7150322" cy="1946910"/>
          </a:xfrm>
          <a:prstGeom prst="rect">
            <a:avLst/>
          </a:prstGeom>
        </p:spPr>
        <p:txBody>
          <a:bodyPr lIns="0" tIns="0" rIns="0" bIns="0" rtlCol="0" anchor="t">
            <a:spAutoFit/>
          </a:bodyPr>
          <a:lstStyle/>
          <a:p>
            <a:pPr algn="l">
              <a:lnSpc>
                <a:spcPts val="7769"/>
              </a:lnSpc>
            </a:pPr>
            <a:r>
              <a:rPr lang="en-US" sz="5999" b="1">
                <a:solidFill>
                  <a:srgbClr val="FFFFFF"/>
                </a:solidFill>
                <a:latin typeface="League Spartan"/>
                <a:ea typeface="League Spartan"/>
                <a:cs typeface="League Spartan"/>
                <a:sym typeface="League Spartan"/>
              </a:rPr>
              <a:t>Africa Impact Academy</a:t>
            </a:r>
          </a:p>
        </p:txBody>
      </p:sp>
      <p:sp>
        <p:nvSpPr>
          <p:cNvPr id="8" name="TextBox 8"/>
          <p:cNvSpPr txBox="1"/>
          <p:nvPr/>
        </p:nvSpPr>
        <p:spPr>
          <a:xfrm>
            <a:off x="5956954" y="3465843"/>
            <a:ext cx="233429" cy="1261615"/>
          </a:xfrm>
          <a:prstGeom prst="rect">
            <a:avLst/>
          </a:prstGeom>
        </p:spPr>
        <p:txBody>
          <a:bodyPr lIns="0" tIns="0" rIns="0" bIns="0" rtlCol="0" anchor="t">
            <a:spAutoFit/>
          </a:bodyPr>
          <a:lstStyle/>
          <a:p>
            <a:pPr algn="l">
              <a:lnSpc>
                <a:spcPts val="11192"/>
              </a:lnSpc>
            </a:pPr>
            <a:r>
              <a:rPr lang="en-US" sz="6800" b="1">
                <a:solidFill>
                  <a:srgbClr val="F79646"/>
                </a:solidFill>
                <a:latin typeface="League Spartan"/>
                <a:ea typeface="League Spartan"/>
                <a:cs typeface="League Spartan"/>
                <a:sym typeface="League Spartan"/>
              </a:rPr>
              <a:t> </a:t>
            </a:r>
          </a:p>
        </p:txBody>
      </p:sp>
      <p:sp>
        <p:nvSpPr>
          <p:cNvPr id="9" name="TextBox 9"/>
          <p:cNvSpPr txBox="1"/>
          <p:nvPr/>
        </p:nvSpPr>
        <p:spPr>
          <a:xfrm>
            <a:off x="1659675" y="5605462"/>
            <a:ext cx="8031761" cy="647065"/>
          </a:xfrm>
          <a:prstGeom prst="rect">
            <a:avLst/>
          </a:prstGeom>
        </p:spPr>
        <p:txBody>
          <a:bodyPr lIns="0" tIns="0" rIns="0" bIns="0" rtlCol="0" anchor="t">
            <a:spAutoFit/>
          </a:bodyPr>
          <a:lstStyle/>
          <a:p>
            <a:pPr algn="l">
              <a:lnSpc>
                <a:spcPts val="5180"/>
              </a:lnSpc>
            </a:pPr>
            <a:r>
              <a:rPr lang="en-US" sz="4000" b="1">
                <a:solidFill>
                  <a:srgbClr val="FFB437"/>
                </a:solidFill>
                <a:latin typeface="Open Sans Semi-Bold"/>
                <a:ea typeface="Open Sans Semi-Bold"/>
                <a:cs typeface="Open Sans Semi-Bold"/>
                <a:sym typeface="Open Sans Semi-Bold"/>
              </a:rPr>
              <a:t>THEORY OF CHANGE TEMPLATE</a:t>
            </a:r>
          </a:p>
        </p:txBody>
      </p:sp>
      <p:sp>
        <p:nvSpPr>
          <p:cNvPr id="10" name="Freeform 10"/>
          <p:cNvSpPr/>
          <p:nvPr/>
        </p:nvSpPr>
        <p:spPr>
          <a:xfrm>
            <a:off x="2609711" y="8853656"/>
            <a:ext cx="3740875" cy="992091"/>
          </a:xfrm>
          <a:custGeom>
            <a:avLst/>
            <a:gdLst/>
            <a:ahLst/>
            <a:cxnLst/>
            <a:rect l="l" t="t" r="r" b="b"/>
            <a:pathLst>
              <a:path w="3740875" h="992091">
                <a:moveTo>
                  <a:pt x="0" y="0"/>
                </a:moveTo>
                <a:lnTo>
                  <a:pt x="3740875" y="0"/>
                </a:lnTo>
                <a:lnTo>
                  <a:pt x="3740875" y="992091"/>
                </a:lnTo>
                <a:lnTo>
                  <a:pt x="0" y="99209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GB"/>
          </a:p>
        </p:txBody>
      </p:sp>
      <p:sp>
        <p:nvSpPr>
          <p:cNvPr id="11" name="Freeform 11"/>
          <p:cNvSpPr/>
          <p:nvPr/>
        </p:nvSpPr>
        <p:spPr>
          <a:xfrm>
            <a:off x="1544271" y="8312575"/>
            <a:ext cx="2261807" cy="1525782"/>
          </a:xfrm>
          <a:custGeom>
            <a:avLst/>
            <a:gdLst/>
            <a:ahLst/>
            <a:cxnLst/>
            <a:rect l="l" t="t" r="r" b="b"/>
            <a:pathLst>
              <a:path w="2261807" h="1525782">
                <a:moveTo>
                  <a:pt x="0" y="0"/>
                </a:moveTo>
                <a:lnTo>
                  <a:pt x="2261807" y="0"/>
                </a:lnTo>
                <a:lnTo>
                  <a:pt x="2261807" y="1525782"/>
                </a:lnTo>
                <a:lnTo>
                  <a:pt x="0" y="1525782"/>
                </a:lnTo>
                <a:lnTo>
                  <a:pt x="0" y="0"/>
                </a:lnTo>
                <a:close/>
              </a:path>
            </a:pathLst>
          </a:custGeom>
          <a:blipFill>
            <a:blip r:embed="rId10"/>
            <a:stretch>
              <a:fillRect/>
            </a:stretch>
          </a:blipFill>
        </p:spPr>
        <p:txBody>
          <a:bodyPr/>
          <a:lstStyle/>
          <a:p>
            <a:endParaRPr lang="en-GB"/>
          </a:p>
        </p:txBody>
      </p:sp>
      <p:sp>
        <p:nvSpPr>
          <p:cNvPr id="12" name="Freeform 12"/>
          <p:cNvSpPr/>
          <p:nvPr/>
        </p:nvSpPr>
        <p:spPr>
          <a:xfrm>
            <a:off x="4695610" y="8312575"/>
            <a:ext cx="2801730" cy="1533172"/>
          </a:xfrm>
          <a:custGeom>
            <a:avLst/>
            <a:gdLst/>
            <a:ahLst/>
            <a:cxnLst/>
            <a:rect l="l" t="t" r="r" b="b"/>
            <a:pathLst>
              <a:path w="2801730" h="1533172">
                <a:moveTo>
                  <a:pt x="0" y="0"/>
                </a:moveTo>
                <a:lnTo>
                  <a:pt x="2801729" y="0"/>
                </a:lnTo>
                <a:lnTo>
                  <a:pt x="2801729" y="1533172"/>
                </a:lnTo>
                <a:lnTo>
                  <a:pt x="0" y="1533172"/>
                </a:lnTo>
                <a:lnTo>
                  <a:pt x="0" y="0"/>
                </a:lnTo>
                <a:close/>
              </a:path>
            </a:pathLst>
          </a:custGeom>
          <a:blipFill>
            <a:blip r:embed="rId11"/>
            <a:stretch>
              <a:fillRect/>
            </a:stretch>
          </a:blipFill>
        </p:spPr>
        <p:txBody>
          <a:bodyPr/>
          <a:lstStyle/>
          <a:p>
            <a:endParaRPr lang="en-GB"/>
          </a:p>
        </p:txBody>
      </p:sp>
      <p:sp>
        <p:nvSpPr>
          <p:cNvPr id="13" name="Freeform 13"/>
          <p:cNvSpPr/>
          <p:nvPr/>
        </p:nvSpPr>
        <p:spPr>
          <a:xfrm>
            <a:off x="8164089" y="8593312"/>
            <a:ext cx="3978837" cy="1245044"/>
          </a:xfrm>
          <a:custGeom>
            <a:avLst/>
            <a:gdLst/>
            <a:ahLst/>
            <a:cxnLst/>
            <a:rect l="l" t="t" r="r" b="b"/>
            <a:pathLst>
              <a:path w="3978837" h="1245044">
                <a:moveTo>
                  <a:pt x="0" y="0"/>
                </a:moveTo>
                <a:lnTo>
                  <a:pt x="3978838" y="0"/>
                </a:lnTo>
                <a:lnTo>
                  <a:pt x="3978838" y="1245045"/>
                </a:lnTo>
                <a:lnTo>
                  <a:pt x="0" y="1245045"/>
                </a:lnTo>
                <a:lnTo>
                  <a:pt x="0" y="0"/>
                </a:lnTo>
                <a:close/>
              </a:path>
            </a:pathLst>
          </a:custGeom>
          <a:blipFill>
            <a:blip r:embed="rId12"/>
            <a:stretch>
              <a:fillRect/>
            </a:stretch>
          </a:blipFill>
        </p:spPr>
        <p:txBody>
          <a:bodyPr/>
          <a:lstStyle/>
          <a:p>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2"/>
            <a:stretch>
              <a:fillRect r="-63" b="-168"/>
            </a:stretch>
          </a:blipFill>
        </p:spPr>
        <p:txBody>
          <a:bodyPr/>
          <a:lstStyle/>
          <a:p>
            <a:endParaRPr lang="en-GB"/>
          </a:p>
        </p:txBody>
      </p:sp>
      <p:sp>
        <p:nvSpPr>
          <p:cNvPr id="3" name="Freeform 3"/>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5"/>
            <a:stretch>
              <a:fillRect t="-84" r="-12821" b="-84"/>
            </a:stretch>
          </a:blipFill>
        </p:spPr>
        <p:txBody>
          <a:bodyPr/>
          <a:lstStyle/>
          <a:p>
            <a:endParaRPr lang="en-GB"/>
          </a:p>
        </p:txBody>
      </p:sp>
      <p:sp>
        <p:nvSpPr>
          <p:cNvPr id="5" name="Freeform 5"/>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6" name="Freeform 6"/>
          <p:cNvSpPr/>
          <p:nvPr/>
        </p:nvSpPr>
        <p:spPr>
          <a:xfrm rot="5400000">
            <a:off x="-5077618" y="5083971"/>
            <a:ext cx="11283953" cy="1128708"/>
          </a:xfrm>
          <a:custGeom>
            <a:avLst/>
            <a:gdLst/>
            <a:ahLst/>
            <a:cxnLst/>
            <a:rect l="l" t="t" r="r" b="b"/>
            <a:pathLst>
              <a:path w="11283953" h="1128708">
                <a:moveTo>
                  <a:pt x="0" y="0"/>
                </a:moveTo>
                <a:lnTo>
                  <a:pt x="11283953" y="0"/>
                </a:lnTo>
                <a:lnTo>
                  <a:pt x="11283953" y="1128708"/>
                </a:lnTo>
                <a:lnTo>
                  <a:pt x="0" y="1128708"/>
                </a:lnTo>
                <a:lnTo>
                  <a:pt x="0" y="0"/>
                </a:lnTo>
                <a:close/>
              </a:path>
            </a:pathLst>
          </a:custGeom>
          <a:blipFill>
            <a:blip r:embed="rId6"/>
            <a:stretch>
              <a:fillRect t="-447163" r="-112" b="-453684"/>
            </a:stretch>
          </a:blipFill>
        </p:spPr>
        <p:txBody>
          <a:bodyPr/>
          <a:lstStyle/>
          <a:p>
            <a:endParaRPr lang="en-GB"/>
          </a:p>
        </p:txBody>
      </p:sp>
      <p:sp>
        <p:nvSpPr>
          <p:cNvPr id="7" name="TextBox 7"/>
          <p:cNvSpPr txBox="1"/>
          <p:nvPr/>
        </p:nvSpPr>
        <p:spPr>
          <a:xfrm>
            <a:off x="1660210" y="1033462"/>
            <a:ext cx="9673695" cy="854075"/>
          </a:xfrm>
          <a:prstGeom prst="rect">
            <a:avLst/>
          </a:prstGeom>
        </p:spPr>
        <p:txBody>
          <a:bodyPr lIns="0" tIns="0" rIns="0" bIns="0" rtlCol="0" anchor="t">
            <a:spAutoFit/>
          </a:bodyPr>
          <a:lstStyle/>
          <a:p>
            <a:pPr algn="l">
              <a:lnSpc>
                <a:spcPts val="6999"/>
              </a:lnSpc>
            </a:pPr>
            <a:r>
              <a:rPr lang="en-US" sz="4999">
                <a:solidFill>
                  <a:srgbClr val="FFFEFE"/>
                </a:solidFill>
                <a:latin typeface="League Spartan"/>
                <a:ea typeface="League Spartan"/>
                <a:cs typeface="League Spartan"/>
                <a:sym typeface="League Spartan"/>
              </a:rPr>
              <a:t>What Is a Th</a:t>
            </a:r>
            <a:r>
              <a:rPr lang="en-US" sz="4999" b="1">
                <a:solidFill>
                  <a:srgbClr val="FFFEFE"/>
                </a:solidFill>
                <a:latin typeface="League Spartan"/>
                <a:ea typeface="League Spartan"/>
                <a:cs typeface="League Spartan"/>
                <a:sym typeface="League Spartan"/>
              </a:rPr>
              <a:t>eory of Change?</a:t>
            </a:r>
          </a:p>
        </p:txBody>
      </p:sp>
      <p:sp>
        <p:nvSpPr>
          <p:cNvPr id="8" name="TextBox 8"/>
          <p:cNvSpPr txBox="1"/>
          <p:nvPr/>
        </p:nvSpPr>
        <p:spPr>
          <a:xfrm>
            <a:off x="1660210" y="2118473"/>
            <a:ext cx="13641587" cy="1922145"/>
          </a:xfrm>
          <a:prstGeom prst="rect">
            <a:avLst/>
          </a:prstGeom>
        </p:spPr>
        <p:txBody>
          <a:bodyPr lIns="0" tIns="0" rIns="0" bIns="0" rtlCol="0" anchor="t">
            <a:spAutoFit/>
          </a:bodyPr>
          <a:lstStyle/>
          <a:p>
            <a:pPr algn="l">
              <a:lnSpc>
                <a:spcPts val="5220"/>
              </a:lnSpc>
            </a:pPr>
            <a:r>
              <a:rPr lang="en-US" sz="2900">
                <a:solidFill>
                  <a:srgbClr val="FFFFFF"/>
                </a:solidFill>
                <a:latin typeface="Open Sans"/>
                <a:ea typeface="Open Sans"/>
                <a:cs typeface="Open Sans"/>
                <a:sym typeface="Open Sans"/>
              </a:rPr>
              <a:t>A Theory of Change (ToC) is a clear, logical framework that explains how and why a desired change is expected to happen in a particular context. It maps the journey from inputs and activities to outputs, outcomes, and long-term impact.</a:t>
            </a:r>
          </a:p>
        </p:txBody>
      </p:sp>
      <p:sp>
        <p:nvSpPr>
          <p:cNvPr id="9" name="TextBox 9"/>
          <p:cNvSpPr txBox="1"/>
          <p:nvPr/>
        </p:nvSpPr>
        <p:spPr>
          <a:xfrm>
            <a:off x="1660210" y="5872162"/>
            <a:ext cx="16878774" cy="3893820"/>
          </a:xfrm>
          <a:prstGeom prst="rect">
            <a:avLst/>
          </a:prstGeom>
        </p:spPr>
        <p:txBody>
          <a:bodyPr lIns="0" tIns="0" rIns="0" bIns="0" rtlCol="0" anchor="t">
            <a:spAutoFit/>
          </a:bodyPr>
          <a:lstStyle/>
          <a:p>
            <a:pPr marL="626111" lvl="1" indent="-313055" algn="l">
              <a:lnSpc>
                <a:spcPts val="5220"/>
              </a:lnSpc>
              <a:buAutoNum type="arabicPeriod"/>
            </a:pPr>
            <a:r>
              <a:rPr lang="en-US" sz="2900">
                <a:solidFill>
                  <a:srgbClr val="FFFFFF"/>
                </a:solidFill>
                <a:latin typeface="Open Sans"/>
                <a:ea typeface="Open Sans"/>
                <a:cs typeface="Open Sans"/>
                <a:sym typeface="Open Sans"/>
              </a:rPr>
              <a:t>Clarifies strategic direction by connecting day-to-day activities with long-term goals.</a:t>
            </a:r>
          </a:p>
          <a:p>
            <a:pPr marL="626111" lvl="1" indent="-313055" algn="l">
              <a:lnSpc>
                <a:spcPts val="5220"/>
              </a:lnSpc>
              <a:buAutoNum type="arabicPeriod"/>
            </a:pPr>
            <a:r>
              <a:rPr lang="en-US" sz="2900">
                <a:solidFill>
                  <a:srgbClr val="FFFFFF"/>
                </a:solidFill>
                <a:latin typeface="Open Sans"/>
                <a:ea typeface="Open Sans"/>
                <a:cs typeface="Open Sans"/>
                <a:sym typeface="Open Sans"/>
              </a:rPr>
              <a:t>Guides program design and resource allocation more effectively.</a:t>
            </a:r>
          </a:p>
          <a:p>
            <a:pPr marL="626111" lvl="1" indent="-313055" algn="l">
              <a:lnSpc>
                <a:spcPts val="5220"/>
              </a:lnSpc>
              <a:buAutoNum type="arabicPeriod"/>
            </a:pPr>
            <a:r>
              <a:rPr lang="en-US" sz="2900">
                <a:solidFill>
                  <a:srgbClr val="FFFFFF"/>
                </a:solidFill>
                <a:latin typeface="Open Sans"/>
                <a:ea typeface="Open Sans"/>
                <a:cs typeface="Open Sans"/>
                <a:sym typeface="Open Sans"/>
              </a:rPr>
              <a:t>Supports fundraising by demonstrating logic and potential for impact to donors or investors.</a:t>
            </a:r>
          </a:p>
          <a:p>
            <a:pPr marL="626111" lvl="1" indent="-313055" algn="l">
              <a:lnSpc>
                <a:spcPts val="5220"/>
              </a:lnSpc>
              <a:buAutoNum type="arabicPeriod"/>
            </a:pPr>
            <a:r>
              <a:rPr lang="en-US" sz="2900">
                <a:solidFill>
                  <a:srgbClr val="FFFFFF"/>
                </a:solidFill>
                <a:latin typeface="Open Sans"/>
                <a:ea typeface="Open Sans"/>
                <a:cs typeface="Open Sans"/>
                <a:sym typeface="Open Sans"/>
              </a:rPr>
              <a:t>Strengthens monitoring and evaluation, helping track what’s working and what’s not.</a:t>
            </a:r>
          </a:p>
          <a:p>
            <a:pPr marL="626109" lvl="1" indent="-313054" algn="l">
              <a:lnSpc>
                <a:spcPts val="5219"/>
              </a:lnSpc>
              <a:buAutoNum type="arabicPeriod"/>
            </a:pPr>
            <a:r>
              <a:rPr lang="en-US" sz="2899">
                <a:solidFill>
                  <a:srgbClr val="FFFFFF"/>
                </a:solidFill>
                <a:latin typeface="Open Sans"/>
                <a:ea typeface="Open Sans"/>
                <a:cs typeface="Open Sans"/>
                <a:sym typeface="Open Sans"/>
              </a:rPr>
              <a:t>Enables stakeholder alignment, keeping your team, partners, and beneficiaries on the same page.</a:t>
            </a:r>
          </a:p>
        </p:txBody>
      </p:sp>
      <p:sp>
        <p:nvSpPr>
          <p:cNvPr id="10" name="TextBox 10"/>
          <p:cNvSpPr txBox="1"/>
          <p:nvPr/>
        </p:nvSpPr>
        <p:spPr>
          <a:xfrm>
            <a:off x="1660210" y="4954588"/>
            <a:ext cx="10676364" cy="688974"/>
          </a:xfrm>
          <a:prstGeom prst="rect">
            <a:avLst/>
          </a:prstGeom>
        </p:spPr>
        <p:txBody>
          <a:bodyPr lIns="0" tIns="0" rIns="0" bIns="0" rtlCol="0" anchor="t">
            <a:spAutoFit/>
          </a:bodyPr>
          <a:lstStyle/>
          <a:p>
            <a:pPr algn="l">
              <a:lnSpc>
                <a:spcPts val="5600"/>
              </a:lnSpc>
            </a:pPr>
            <a:r>
              <a:rPr lang="en-US" sz="4000">
                <a:solidFill>
                  <a:srgbClr val="FFFEFE"/>
                </a:solidFill>
                <a:latin typeface="League Spartan"/>
                <a:ea typeface="League Spartan"/>
                <a:cs typeface="League Spartan"/>
                <a:sym typeface="League Spartan"/>
              </a:rPr>
              <a:t>Why Is It Imp</a:t>
            </a:r>
            <a:r>
              <a:rPr lang="en-US" sz="4000" b="1">
                <a:solidFill>
                  <a:srgbClr val="FFFEFE"/>
                </a:solidFill>
                <a:latin typeface="League Spartan"/>
                <a:ea typeface="League Spartan"/>
                <a:cs typeface="League Spartan"/>
                <a:sym typeface="League Spartan"/>
              </a:rPr>
              <a:t>ortant for Entrepreneurs?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2"/>
            <a:stretch>
              <a:fillRect r="-63" b="-168"/>
            </a:stretch>
          </a:blipFill>
        </p:spPr>
        <p:txBody>
          <a:bodyPr/>
          <a:lstStyle/>
          <a:p>
            <a:endParaRPr lang="en-GB"/>
          </a:p>
        </p:txBody>
      </p:sp>
      <p:sp>
        <p:nvSpPr>
          <p:cNvPr id="3" name="Freeform 3"/>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5"/>
            <a:stretch>
              <a:fillRect t="-84" r="-12821" b="-84"/>
            </a:stretch>
          </a:blipFill>
        </p:spPr>
        <p:txBody>
          <a:bodyPr/>
          <a:lstStyle/>
          <a:p>
            <a:endParaRPr lang="en-GB"/>
          </a:p>
        </p:txBody>
      </p:sp>
      <p:sp>
        <p:nvSpPr>
          <p:cNvPr id="5" name="Freeform 5"/>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6" name="Freeform 6"/>
          <p:cNvSpPr/>
          <p:nvPr/>
        </p:nvSpPr>
        <p:spPr>
          <a:xfrm rot="5400000">
            <a:off x="-5077618" y="5083971"/>
            <a:ext cx="11283953" cy="1128708"/>
          </a:xfrm>
          <a:custGeom>
            <a:avLst/>
            <a:gdLst/>
            <a:ahLst/>
            <a:cxnLst/>
            <a:rect l="l" t="t" r="r" b="b"/>
            <a:pathLst>
              <a:path w="11283953" h="1128708">
                <a:moveTo>
                  <a:pt x="0" y="0"/>
                </a:moveTo>
                <a:lnTo>
                  <a:pt x="11283953" y="0"/>
                </a:lnTo>
                <a:lnTo>
                  <a:pt x="11283953" y="1128708"/>
                </a:lnTo>
                <a:lnTo>
                  <a:pt x="0" y="1128708"/>
                </a:lnTo>
                <a:lnTo>
                  <a:pt x="0" y="0"/>
                </a:lnTo>
                <a:close/>
              </a:path>
            </a:pathLst>
          </a:custGeom>
          <a:blipFill>
            <a:blip r:embed="rId6"/>
            <a:stretch>
              <a:fillRect t="-447163" r="-112" b="-453684"/>
            </a:stretch>
          </a:blipFill>
        </p:spPr>
        <p:txBody>
          <a:bodyPr/>
          <a:lstStyle/>
          <a:p>
            <a:endParaRPr lang="en-GB"/>
          </a:p>
        </p:txBody>
      </p:sp>
      <p:grpSp>
        <p:nvGrpSpPr>
          <p:cNvPr id="7" name="Group 7"/>
          <p:cNvGrpSpPr/>
          <p:nvPr/>
        </p:nvGrpSpPr>
        <p:grpSpPr>
          <a:xfrm>
            <a:off x="1446955" y="5006022"/>
            <a:ext cx="17913625" cy="5868582"/>
            <a:chOff x="0" y="0"/>
            <a:chExt cx="4299942" cy="1408680"/>
          </a:xfrm>
        </p:grpSpPr>
        <p:sp>
          <p:nvSpPr>
            <p:cNvPr id="8" name="Freeform 8"/>
            <p:cNvSpPr/>
            <p:nvPr/>
          </p:nvSpPr>
          <p:spPr>
            <a:xfrm>
              <a:off x="0" y="0"/>
              <a:ext cx="4299942" cy="1408680"/>
            </a:xfrm>
            <a:custGeom>
              <a:avLst/>
              <a:gdLst/>
              <a:ahLst/>
              <a:cxnLst/>
              <a:rect l="l" t="t" r="r" b="b"/>
              <a:pathLst>
                <a:path w="4299942" h="1408680">
                  <a:moveTo>
                    <a:pt x="12101" y="0"/>
                  </a:moveTo>
                  <a:lnTo>
                    <a:pt x="4287841" y="0"/>
                  </a:lnTo>
                  <a:cubicBezTo>
                    <a:pt x="4294524" y="0"/>
                    <a:pt x="4299942" y="5418"/>
                    <a:pt x="4299942" y="12101"/>
                  </a:cubicBezTo>
                  <a:lnTo>
                    <a:pt x="4299942" y="1396579"/>
                  </a:lnTo>
                  <a:cubicBezTo>
                    <a:pt x="4299942" y="1403262"/>
                    <a:pt x="4294524" y="1408680"/>
                    <a:pt x="4287841" y="1408680"/>
                  </a:cubicBezTo>
                  <a:lnTo>
                    <a:pt x="12101" y="1408680"/>
                  </a:lnTo>
                  <a:cubicBezTo>
                    <a:pt x="8892" y="1408680"/>
                    <a:pt x="5814" y="1407405"/>
                    <a:pt x="3544" y="1405136"/>
                  </a:cubicBezTo>
                  <a:cubicBezTo>
                    <a:pt x="1275" y="1402866"/>
                    <a:pt x="0" y="1399788"/>
                    <a:pt x="0" y="1396579"/>
                  </a:cubicBezTo>
                  <a:lnTo>
                    <a:pt x="0" y="12101"/>
                  </a:lnTo>
                  <a:cubicBezTo>
                    <a:pt x="0" y="8892"/>
                    <a:pt x="1275" y="5814"/>
                    <a:pt x="3544" y="3544"/>
                  </a:cubicBezTo>
                  <a:cubicBezTo>
                    <a:pt x="5814" y="1275"/>
                    <a:pt x="8892" y="0"/>
                    <a:pt x="12101" y="0"/>
                  </a:cubicBezTo>
                  <a:close/>
                </a:path>
              </a:pathLst>
            </a:custGeom>
            <a:solidFill>
              <a:srgbClr val="08C8A1"/>
            </a:solidFill>
          </p:spPr>
          <p:txBody>
            <a:bodyPr/>
            <a:lstStyle/>
            <a:p>
              <a:pPr marL="457200" indent="-457200" algn="just">
                <a:lnSpc>
                  <a:spcPct val="200000"/>
                </a:lnSpc>
                <a:buFont typeface="Arial" panose="020B0604020202020204" pitchFamily="34" charset="0"/>
                <a:buChar char="•"/>
              </a:pPr>
              <a:r>
                <a:rPr lang="en-KE" sz="2900" dirty="0" err="1">
                  <a:latin typeface="Open Sans" panose="020B0606030504020204" pitchFamily="34" charset="0"/>
                  <a:ea typeface="Open Sans" panose="020B0606030504020204" pitchFamily="34" charset="0"/>
                  <a:cs typeface="Open Sans" panose="020B0606030504020204" pitchFamily="34" charset="0"/>
                </a:rPr>
                <a:t>Uhai</a:t>
              </a:r>
              <a:r>
                <a:rPr lang="en-KE" sz="2900" dirty="0">
                  <a:latin typeface="Open Sans" panose="020B0606030504020204" pitchFamily="34" charset="0"/>
                  <a:ea typeface="Open Sans" panose="020B0606030504020204" pitchFamily="34" charset="0"/>
                  <a:cs typeface="Open Sans" panose="020B0606030504020204" pitchFamily="34" charset="0"/>
                </a:rPr>
                <a:t> Life Sciences </a:t>
              </a:r>
              <a:r>
                <a:rPr lang="en-US" sz="2900" dirty="0">
                  <a:latin typeface="Open Sans" panose="020B0606030504020204" pitchFamily="34" charset="0"/>
                  <a:ea typeface="Open Sans" panose="020B0606030504020204" pitchFamily="34" charset="0"/>
                  <a:cs typeface="Open Sans" panose="020B0606030504020204" pitchFamily="34" charset="0"/>
                </a:rPr>
                <a:t>strengthens the blood supply chain pillars of Access, Processing, and distribution.</a:t>
              </a:r>
            </a:p>
            <a:p>
              <a:pPr marL="457200" indent="-457200" algn="just">
                <a:lnSpc>
                  <a:spcPct val="200000"/>
                </a:lnSpc>
                <a:buFont typeface="Arial" panose="020B0604020202020204" pitchFamily="34" charset="0"/>
                <a:buChar char="•"/>
              </a:pPr>
              <a:r>
                <a:rPr lang="en-US" sz="2900" dirty="0">
                  <a:latin typeface="Open Sans" panose="020B0606030504020204" pitchFamily="34" charset="0"/>
                  <a:ea typeface="Open Sans" panose="020B0606030504020204" pitchFamily="34" charset="0"/>
                  <a:cs typeface="Open Sans" panose="020B0606030504020204" pitchFamily="34" charset="0"/>
                </a:rPr>
                <a:t>It ensures that patients in critical need of blood transfusions receive</a:t>
              </a:r>
              <a:r>
                <a:rPr lang="en-KE" sz="2900" dirty="0">
                  <a:latin typeface="Open Sans" panose="020B0606030504020204" pitchFamily="34" charset="0"/>
                  <a:ea typeface="Open Sans" panose="020B0606030504020204" pitchFamily="34" charset="0"/>
                  <a:cs typeface="Open Sans" panose="020B0606030504020204" pitchFamily="34" charset="0"/>
                </a:rPr>
                <a:t> adequate quantities promptly. </a:t>
              </a:r>
              <a:endParaRPr lang="en-US" sz="2900" dirty="0">
                <a:latin typeface="Open Sans" panose="020B0606030504020204" pitchFamily="34" charset="0"/>
                <a:ea typeface="Open Sans" panose="020B0606030504020204" pitchFamily="34" charset="0"/>
                <a:cs typeface="Open Sans" panose="020B0606030504020204" pitchFamily="34" charset="0"/>
              </a:endParaRPr>
            </a:p>
            <a:p>
              <a:pPr marL="457200" indent="-457200" algn="just">
                <a:lnSpc>
                  <a:spcPct val="200000"/>
                </a:lnSpc>
                <a:buFont typeface="Arial" panose="020B0604020202020204" pitchFamily="34" charset="0"/>
                <a:buChar char="•"/>
              </a:pPr>
              <a:r>
                <a:rPr lang="en-KE" sz="2900" dirty="0">
                  <a:latin typeface="Open Sans" panose="020B0606030504020204" pitchFamily="34" charset="0"/>
                  <a:ea typeface="Open Sans" panose="020B0606030504020204" pitchFamily="34" charset="0"/>
                  <a:cs typeface="Open Sans" panose="020B0606030504020204" pitchFamily="34" charset="0"/>
                </a:rPr>
                <a:t>This is because Kenya suffers from inadequate access and variable distribution of blood for patients suffering from chronic and acute critical diseases. </a:t>
              </a:r>
              <a:endParaRPr lang="en-US" sz="2900" dirty="0">
                <a:latin typeface="Open Sans" panose="020B0606030504020204" pitchFamily="34" charset="0"/>
                <a:ea typeface="Open Sans" panose="020B0606030504020204" pitchFamily="34" charset="0"/>
                <a:cs typeface="Open Sans" panose="020B0606030504020204" pitchFamily="34" charset="0"/>
              </a:endParaRPr>
            </a:p>
            <a:p>
              <a:pPr marL="457200" indent="-457200" algn="just">
                <a:lnSpc>
                  <a:spcPct val="200000"/>
                </a:lnSpc>
                <a:buFont typeface="Arial" panose="020B0604020202020204" pitchFamily="34" charset="0"/>
                <a:buChar char="•"/>
              </a:pPr>
              <a:r>
                <a:rPr lang="en-KE" sz="2900" dirty="0">
                  <a:latin typeface="Open Sans" panose="020B0606030504020204" pitchFamily="34" charset="0"/>
                  <a:ea typeface="Open Sans" panose="020B0606030504020204" pitchFamily="34" charset="0"/>
                  <a:cs typeface="Open Sans" panose="020B0606030504020204" pitchFamily="34" charset="0"/>
                </a:rPr>
                <a:t>Insufficient quantities of blood received by the blood bank </a:t>
              </a:r>
              <a:r>
                <a:rPr lang="en-KE" sz="2900" dirty="0" err="1">
                  <a:latin typeface="Open Sans" panose="020B0606030504020204" pitchFamily="34" charset="0"/>
                  <a:ea typeface="Open Sans" panose="020B0606030504020204" pitchFamily="34" charset="0"/>
                  <a:cs typeface="Open Sans" panose="020B0606030504020204" pitchFamily="34" charset="0"/>
                </a:rPr>
                <a:t>creat</a:t>
              </a:r>
              <a:r>
                <a:rPr lang="en-US" sz="2900" dirty="0">
                  <a:latin typeface="Open Sans" panose="020B0606030504020204" pitchFamily="34" charset="0"/>
                  <a:ea typeface="Open Sans" panose="020B0606030504020204" pitchFamily="34" charset="0"/>
                  <a:cs typeface="Open Sans" panose="020B0606030504020204" pitchFamily="34" charset="0"/>
                </a:rPr>
                <a:t>es</a:t>
              </a:r>
              <a:r>
                <a:rPr lang="en-KE" sz="2900" dirty="0">
                  <a:latin typeface="Open Sans" panose="020B0606030504020204" pitchFamily="34" charset="0"/>
                  <a:ea typeface="Open Sans" panose="020B0606030504020204" pitchFamily="34" charset="0"/>
                  <a:cs typeface="Open Sans" panose="020B0606030504020204" pitchFamily="34" charset="0"/>
                </a:rPr>
                <a:t> bias in distribution</a:t>
              </a:r>
              <a:r>
                <a:rPr lang="en-US" sz="2900" dirty="0">
                  <a:latin typeface="Open Sans" panose="020B0606030504020204" pitchFamily="34" charset="0"/>
                  <a:ea typeface="Open Sans" panose="020B0606030504020204" pitchFamily="34" charset="0"/>
                  <a:cs typeface="Open Sans" panose="020B0606030504020204" pitchFamily="34" charset="0"/>
                </a:rPr>
                <a:t> to </a:t>
              </a:r>
              <a:r>
                <a:rPr lang="en-KE" sz="2900" dirty="0">
                  <a:latin typeface="Open Sans" panose="020B0606030504020204" pitchFamily="34" charset="0"/>
                  <a:ea typeface="Open Sans" panose="020B0606030504020204" pitchFamily="34" charset="0"/>
                  <a:cs typeface="Open Sans" panose="020B0606030504020204" pitchFamily="34" charset="0"/>
                </a:rPr>
                <a:t>patient</a:t>
              </a:r>
              <a:r>
                <a:rPr lang="en-US" sz="2900" dirty="0">
                  <a:latin typeface="Open Sans" panose="020B0606030504020204" pitchFamily="34" charset="0"/>
                  <a:ea typeface="Open Sans" panose="020B0606030504020204" pitchFamily="34" charset="0"/>
                  <a:cs typeface="Open Sans" panose="020B0606030504020204" pitchFamily="34" charset="0"/>
                </a:rPr>
                <a:t>s</a:t>
              </a:r>
              <a:r>
                <a:rPr lang="en-KE" sz="2900" dirty="0">
                  <a:latin typeface="Open Sans" panose="020B0606030504020204" pitchFamily="34" charset="0"/>
                  <a:ea typeface="Open Sans" panose="020B0606030504020204" pitchFamily="34" charset="0"/>
                  <a:cs typeface="Open Sans" panose="020B0606030504020204" pitchFamily="34" charset="0"/>
                </a:rPr>
                <a:t>. </a:t>
              </a:r>
              <a:endParaRPr lang="en-US" sz="2900" dirty="0">
                <a:latin typeface="Open Sans" panose="020B0606030504020204" pitchFamily="34" charset="0"/>
                <a:ea typeface="Open Sans" panose="020B0606030504020204" pitchFamily="34" charset="0"/>
                <a:cs typeface="Open Sans" panose="020B0606030504020204" pitchFamily="34" charset="0"/>
              </a:endParaRPr>
            </a:p>
            <a:p>
              <a:pPr marL="457200" indent="-457200" algn="just">
                <a:lnSpc>
                  <a:spcPct val="200000"/>
                </a:lnSpc>
                <a:buFont typeface="Arial" panose="020B0604020202020204" pitchFamily="34" charset="0"/>
                <a:buChar char="•"/>
              </a:pPr>
              <a:r>
                <a:rPr lang="en-US" sz="2900" dirty="0">
                  <a:latin typeface="Open Sans" panose="020B0606030504020204" pitchFamily="34" charset="0"/>
                  <a:ea typeface="Open Sans" panose="020B0606030504020204" pitchFamily="34" charset="0"/>
                  <a:cs typeface="Open Sans" panose="020B0606030504020204" pitchFamily="34" charset="0"/>
                </a:rPr>
                <a:t>I</a:t>
              </a:r>
              <a:r>
                <a:rPr lang="en-KE" sz="2900" dirty="0" err="1">
                  <a:latin typeface="Open Sans" panose="020B0606030504020204" pitchFamily="34" charset="0"/>
                  <a:ea typeface="Open Sans" panose="020B0606030504020204" pitchFamily="34" charset="0"/>
                  <a:cs typeface="Open Sans" panose="020B0606030504020204" pitchFamily="34" charset="0"/>
                </a:rPr>
                <a:t>nadequate</a:t>
              </a:r>
              <a:r>
                <a:rPr lang="en-KE" sz="2900" dirty="0">
                  <a:latin typeface="Open Sans" panose="020B0606030504020204" pitchFamily="34" charset="0"/>
                  <a:ea typeface="Open Sans" panose="020B0606030504020204" pitchFamily="34" charset="0"/>
                  <a:cs typeface="Open Sans" panose="020B0606030504020204" pitchFamily="34" charset="0"/>
                </a:rPr>
                <a:t> access to blood prolongs hospitalization</a:t>
              </a:r>
              <a:r>
                <a:rPr lang="en-US" sz="2900" dirty="0">
                  <a:latin typeface="Open Sans" panose="020B0606030504020204" pitchFamily="34" charset="0"/>
                  <a:ea typeface="Open Sans" panose="020B0606030504020204" pitchFamily="34" charset="0"/>
                  <a:cs typeface="Open Sans" panose="020B0606030504020204" pitchFamily="34" charset="0"/>
                </a:rPr>
                <a:t> and increases the cost of </a:t>
              </a:r>
              <a:r>
                <a:rPr lang="en-KE" sz="2900" dirty="0">
                  <a:latin typeface="Open Sans" panose="020B0606030504020204" pitchFamily="34" charset="0"/>
                  <a:ea typeface="Open Sans" panose="020B0606030504020204" pitchFamily="34" charset="0"/>
                  <a:cs typeface="Open Sans" panose="020B0606030504020204" pitchFamily="34" charset="0"/>
                </a:rPr>
                <a:t>patient care</a:t>
              </a:r>
              <a:r>
                <a:rPr lang="en-US" sz="2900" dirty="0">
                  <a:latin typeface="Open Sans" panose="020B0606030504020204" pitchFamily="34" charset="0"/>
                  <a:ea typeface="Open Sans" panose="020B0606030504020204" pitchFamily="34" charset="0"/>
                  <a:cs typeface="Open Sans" panose="020B0606030504020204" pitchFamily="34" charset="0"/>
                </a:rPr>
                <a:t>. </a:t>
              </a:r>
              <a:endParaRPr lang="en-KE" sz="2900" dirty="0">
                <a:latin typeface="Open Sans" panose="020B0606030504020204" pitchFamily="34" charset="0"/>
                <a:ea typeface="Open Sans" panose="020B0606030504020204" pitchFamily="34" charset="0"/>
                <a:cs typeface="Open Sans" panose="020B0606030504020204" pitchFamily="34" charset="0"/>
              </a:endParaRPr>
            </a:p>
            <a:p>
              <a:endParaRPr lang="en-GB" sz="2900"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TextBox 9"/>
            <p:cNvSpPr txBox="1"/>
            <p:nvPr/>
          </p:nvSpPr>
          <p:spPr>
            <a:xfrm>
              <a:off x="0" y="-171450"/>
              <a:ext cx="4299942" cy="1580130"/>
            </a:xfrm>
            <a:prstGeom prst="rect">
              <a:avLst/>
            </a:prstGeom>
          </p:spPr>
          <p:txBody>
            <a:bodyPr lIns="50800" tIns="50800" rIns="50800" bIns="50800" rtlCol="0" anchor="ctr"/>
            <a:lstStyle/>
            <a:p>
              <a:pPr algn="ctr">
                <a:lnSpc>
                  <a:spcPts val="5220"/>
                </a:lnSpc>
              </a:pPr>
              <a:endParaRPr/>
            </a:p>
          </p:txBody>
        </p:sp>
      </p:grpSp>
      <p:sp>
        <p:nvSpPr>
          <p:cNvPr id="10" name="TextBox 10"/>
          <p:cNvSpPr txBox="1"/>
          <p:nvPr/>
        </p:nvSpPr>
        <p:spPr>
          <a:xfrm>
            <a:off x="1660210" y="1033462"/>
            <a:ext cx="12824939" cy="854075"/>
          </a:xfrm>
          <a:prstGeom prst="rect">
            <a:avLst/>
          </a:prstGeom>
        </p:spPr>
        <p:txBody>
          <a:bodyPr lIns="0" tIns="0" rIns="0" bIns="0" rtlCol="0" anchor="t">
            <a:spAutoFit/>
          </a:bodyPr>
          <a:lstStyle/>
          <a:p>
            <a:pPr algn="l">
              <a:lnSpc>
                <a:spcPts val="6999"/>
              </a:lnSpc>
            </a:pPr>
            <a:r>
              <a:rPr lang="en-US" sz="4999">
                <a:solidFill>
                  <a:srgbClr val="FFFEFE"/>
                </a:solidFill>
                <a:latin typeface="League Spartan"/>
                <a:ea typeface="League Spartan"/>
                <a:cs typeface="League Spartan"/>
                <a:sym typeface="League Spartan"/>
              </a:rPr>
              <a:t>Th</a:t>
            </a:r>
            <a:r>
              <a:rPr lang="en-US" sz="4999" b="1">
                <a:solidFill>
                  <a:srgbClr val="FFFEFE"/>
                </a:solidFill>
                <a:latin typeface="League Spartan"/>
                <a:ea typeface="League Spartan"/>
                <a:cs typeface="League Spartan"/>
                <a:sym typeface="League Spartan"/>
              </a:rPr>
              <a:t>eory of Change Template Questions</a:t>
            </a:r>
          </a:p>
        </p:txBody>
      </p:sp>
      <p:sp>
        <p:nvSpPr>
          <p:cNvPr id="11" name="TextBox 11"/>
          <p:cNvSpPr txBox="1"/>
          <p:nvPr/>
        </p:nvSpPr>
        <p:spPr>
          <a:xfrm>
            <a:off x="1660210" y="1716088"/>
            <a:ext cx="9544970" cy="607695"/>
          </a:xfrm>
          <a:prstGeom prst="rect">
            <a:avLst/>
          </a:prstGeom>
        </p:spPr>
        <p:txBody>
          <a:bodyPr lIns="0" tIns="0" rIns="0" bIns="0" rtlCol="0" anchor="t">
            <a:spAutoFit/>
          </a:bodyPr>
          <a:lstStyle/>
          <a:p>
            <a:pPr algn="l">
              <a:lnSpc>
                <a:spcPts val="5220"/>
              </a:lnSpc>
            </a:pPr>
            <a:r>
              <a:rPr lang="en-US" sz="2900">
                <a:solidFill>
                  <a:srgbClr val="FFFFFF"/>
                </a:solidFill>
                <a:latin typeface="Open Sans"/>
                <a:ea typeface="Open Sans"/>
                <a:cs typeface="Open Sans"/>
                <a:sym typeface="Open Sans"/>
              </a:rPr>
              <a:t>Use these sections and questions to develop your ToC:</a:t>
            </a:r>
          </a:p>
        </p:txBody>
      </p:sp>
      <p:sp>
        <p:nvSpPr>
          <p:cNvPr id="12" name="TextBox 12"/>
          <p:cNvSpPr txBox="1"/>
          <p:nvPr/>
        </p:nvSpPr>
        <p:spPr>
          <a:xfrm>
            <a:off x="1660210" y="2891956"/>
            <a:ext cx="5747522" cy="688974"/>
          </a:xfrm>
          <a:prstGeom prst="rect">
            <a:avLst/>
          </a:prstGeom>
        </p:spPr>
        <p:txBody>
          <a:bodyPr lIns="0" tIns="0" rIns="0" bIns="0" rtlCol="0" anchor="t">
            <a:spAutoFit/>
          </a:bodyPr>
          <a:lstStyle/>
          <a:p>
            <a:pPr algn="l">
              <a:lnSpc>
                <a:spcPts val="5600"/>
              </a:lnSpc>
            </a:pPr>
            <a:r>
              <a:rPr lang="en-US" sz="4000">
                <a:solidFill>
                  <a:srgbClr val="FFFEFE"/>
                </a:solidFill>
                <a:latin typeface="League Spartan"/>
                <a:ea typeface="League Spartan"/>
                <a:cs typeface="League Spartan"/>
                <a:sym typeface="League Spartan"/>
              </a:rPr>
              <a:t>1. Define the P</a:t>
            </a:r>
            <a:r>
              <a:rPr lang="en-US" sz="4000" b="1">
                <a:solidFill>
                  <a:srgbClr val="FFFEFE"/>
                </a:solidFill>
                <a:latin typeface="League Spartan"/>
                <a:ea typeface="League Spartan"/>
                <a:cs typeface="League Spartan"/>
                <a:sym typeface="League Spartan"/>
              </a:rPr>
              <a:t>roblem</a:t>
            </a:r>
          </a:p>
        </p:txBody>
      </p:sp>
      <p:sp>
        <p:nvSpPr>
          <p:cNvPr id="13" name="TextBox 13"/>
          <p:cNvSpPr txBox="1"/>
          <p:nvPr/>
        </p:nvSpPr>
        <p:spPr>
          <a:xfrm>
            <a:off x="1660210" y="3576003"/>
            <a:ext cx="16878774" cy="1268095"/>
          </a:xfrm>
          <a:prstGeom prst="rect">
            <a:avLst/>
          </a:prstGeom>
        </p:spPr>
        <p:txBody>
          <a:bodyPr lIns="0" tIns="0" rIns="0" bIns="0" rtlCol="0" anchor="t">
            <a:spAutoFit/>
          </a:bodyPr>
          <a:lstStyle/>
          <a:p>
            <a:pPr algn="l">
              <a:lnSpc>
                <a:spcPts val="5220"/>
              </a:lnSpc>
            </a:pPr>
            <a:r>
              <a:rPr lang="en-US" sz="2900" dirty="0">
                <a:solidFill>
                  <a:srgbClr val="FFFFFF"/>
                </a:solidFill>
                <a:latin typeface="Open Sans"/>
                <a:ea typeface="Open Sans"/>
                <a:cs typeface="Open Sans"/>
                <a:sym typeface="Open Sans"/>
              </a:rPr>
              <a:t>What specific problem(s) are you trying to solve? What issue does your business or project seek to address? Who is affected by this problem? What are the root causes of this problem?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2"/>
            <a:stretch>
              <a:fillRect r="-63" b="-168"/>
            </a:stretch>
          </a:blipFill>
        </p:spPr>
        <p:txBody>
          <a:bodyPr/>
          <a:lstStyle/>
          <a:p>
            <a:endParaRPr lang="en-GB"/>
          </a:p>
        </p:txBody>
      </p:sp>
      <p:sp>
        <p:nvSpPr>
          <p:cNvPr id="3" name="Freeform 3"/>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5"/>
            <a:stretch>
              <a:fillRect t="-84" r="-12821" b="-84"/>
            </a:stretch>
          </a:blipFill>
        </p:spPr>
        <p:txBody>
          <a:bodyPr/>
          <a:lstStyle/>
          <a:p>
            <a:endParaRPr lang="en-GB"/>
          </a:p>
        </p:txBody>
      </p:sp>
      <p:sp>
        <p:nvSpPr>
          <p:cNvPr id="5" name="Freeform 5"/>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6" name="Freeform 6"/>
          <p:cNvSpPr/>
          <p:nvPr/>
        </p:nvSpPr>
        <p:spPr>
          <a:xfrm rot="5400000">
            <a:off x="-5077618" y="5083971"/>
            <a:ext cx="11283953" cy="1128708"/>
          </a:xfrm>
          <a:custGeom>
            <a:avLst/>
            <a:gdLst/>
            <a:ahLst/>
            <a:cxnLst/>
            <a:rect l="l" t="t" r="r" b="b"/>
            <a:pathLst>
              <a:path w="11283953" h="1128708">
                <a:moveTo>
                  <a:pt x="0" y="0"/>
                </a:moveTo>
                <a:lnTo>
                  <a:pt x="11283953" y="0"/>
                </a:lnTo>
                <a:lnTo>
                  <a:pt x="11283953" y="1128708"/>
                </a:lnTo>
                <a:lnTo>
                  <a:pt x="0" y="1128708"/>
                </a:lnTo>
                <a:lnTo>
                  <a:pt x="0" y="0"/>
                </a:lnTo>
                <a:close/>
              </a:path>
            </a:pathLst>
          </a:custGeom>
          <a:blipFill>
            <a:blip r:embed="rId6"/>
            <a:stretch>
              <a:fillRect t="-447163" r="-112" b="-453684"/>
            </a:stretch>
          </a:blipFill>
        </p:spPr>
        <p:txBody>
          <a:bodyPr/>
          <a:lstStyle/>
          <a:p>
            <a:endParaRPr lang="en-GB"/>
          </a:p>
        </p:txBody>
      </p:sp>
      <p:grpSp>
        <p:nvGrpSpPr>
          <p:cNvPr id="7" name="Group 7"/>
          <p:cNvGrpSpPr/>
          <p:nvPr/>
        </p:nvGrpSpPr>
        <p:grpSpPr>
          <a:xfrm>
            <a:off x="1446955" y="3802820"/>
            <a:ext cx="17913625" cy="7071784"/>
            <a:chOff x="0" y="0"/>
            <a:chExt cx="4299942" cy="1697493"/>
          </a:xfrm>
        </p:grpSpPr>
        <p:sp>
          <p:nvSpPr>
            <p:cNvPr id="8" name="Freeform 8"/>
            <p:cNvSpPr/>
            <p:nvPr/>
          </p:nvSpPr>
          <p:spPr>
            <a:xfrm>
              <a:off x="0" y="0"/>
              <a:ext cx="4299942" cy="1697493"/>
            </a:xfrm>
            <a:custGeom>
              <a:avLst/>
              <a:gdLst/>
              <a:ahLst/>
              <a:cxnLst/>
              <a:rect l="l" t="t" r="r" b="b"/>
              <a:pathLst>
                <a:path w="4299942" h="1697493">
                  <a:moveTo>
                    <a:pt x="12101" y="0"/>
                  </a:moveTo>
                  <a:lnTo>
                    <a:pt x="4287841" y="0"/>
                  </a:lnTo>
                  <a:cubicBezTo>
                    <a:pt x="4294524" y="0"/>
                    <a:pt x="4299942" y="5418"/>
                    <a:pt x="4299942" y="12101"/>
                  </a:cubicBezTo>
                  <a:lnTo>
                    <a:pt x="4299942" y="1685392"/>
                  </a:lnTo>
                  <a:cubicBezTo>
                    <a:pt x="4299942" y="1688602"/>
                    <a:pt x="4298667" y="1691680"/>
                    <a:pt x="4296397" y="1693949"/>
                  </a:cubicBezTo>
                  <a:cubicBezTo>
                    <a:pt x="4294128" y="1696219"/>
                    <a:pt x="4291050" y="1697493"/>
                    <a:pt x="4287841" y="1697493"/>
                  </a:cubicBezTo>
                  <a:lnTo>
                    <a:pt x="12101" y="1697493"/>
                  </a:lnTo>
                  <a:cubicBezTo>
                    <a:pt x="8892" y="1697493"/>
                    <a:pt x="5814" y="1696219"/>
                    <a:pt x="3544" y="1693949"/>
                  </a:cubicBezTo>
                  <a:cubicBezTo>
                    <a:pt x="1275" y="1691680"/>
                    <a:pt x="0" y="1688602"/>
                    <a:pt x="0" y="1685392"/>
                  </a:cubicBezTo>
                  <a:lnTo>
                    <a:pt x="0" y="12101"/>
                  </a:lnTo>
                  <a:cubicBezTo>
                    <a:pt x="0" y="8892"/>
                    <a:pt x="1275" y="5814"/>
                    <a:pt x="3544" y="3544"/>
                  </a:cubicBezTo>
                  <a:cubicBezTo>
                    <a:pt x="5814" y="1275"/>
                    <a:pt x="8892" y="0"/>
                    <a:pt x="12101" y="0"/>
                  </a:cubicBezTo>
                  <a:close/>
                </a:path>
              </a:pathLst>
            </a:custGeom>
            <a:solidFill>
              <a:srgbClr val="08C8A1"/>
            </a:solidFill>
          </p:spPr>
          <p:txBody>
            <a:bodyPr/>
            <a:lstStyle/>
            <a:p>
              <a:pPr marL="457200" indent="-457200">
                <a:lnSpc>
                  <a:spcPct val="200000"/>
                </a:lnSpc>
                <a:buFont typeface="Arial" panose="020B0604020202020204" pitchFamily="34" charset="0"/>
                <a:buChar char="•"/>
              </a:pPr>
              <a:r>
                <a:rPr lang="en-GB" sz="2900" dirty="0">
                  <a:latin typeface="Open Sans" panose="020B0606030504020204" pitchFamily="34" charset="0"/>
                  <a:ea typeface="Open Sans" panose="020B0606030504020204" pitchFamily="34" charset="0"/>
                  <a:cs typeface="Open Sans" panose="020B0606030504020204" pitchFamily="34" charset="0"/>
                </a:rPr>
                <a:t>By strengthening the blood supply chain according to the World Health Organisation’s Health Systems Strengthening Pillars. We focus on the Health Products and Technologies Pillar.</a:t>
              </a:r>
            </a:p>
            <a:p>
              <a:pPr marL="457200" indent="-457200">
                <a:lnSpc>
                  <a:spcPct val="200000"/>
                </a:lnSpc>
                <a:buFont typeface="Arial" panose="020B0604020202020204" pitchFamily="34" charset="0"/>
                <a:buChar char="•"/>
              </a:pPr>
              <a:r>
                <a:rPr lang="en-GB" sz="2900" dirty="0">
                  <a:latin typeface="Open Sans" panose="020B0606030504020204" pitchFamily="34" charset="0"/>
                  <a:ea typeface="Open Sans" panose="020B0606030504020204" pitchFamily="34" charset="0"/>
                  <a:cs typeface="Open Sans" panose="020B0606030504020204" pitchFamily="34" charset="0"/>
                </a:rPr>
                <a:t>Through this pillar we hope to ensure we have:</a:t>
              </a:r>
            </a:p>
            <a:p>
              <a:pPr marL="1028700" lvl="1" indent="-571500">
                <a:lnSpc>
                  <a:spcPct val="200000"/>
                </a:lnSpc>
                <a:buFont typeface="+mj-lt"/>
                <a:buAutoNum type="romanUcPeriod"/>
              </a:pPr>
              <a:r>
                <a:rPr lang="en-US" sz="2900" dirty="0">
                  <a:latin typeface="Open Sans" panose="020B0606030504020204" pitchFamily="34" charset="0"/>
                  <a:ea typeface="Open Sans" panose="020B0606030504020204" pitchFamily="34" charset="0"/>
                  <a:cs typeface="Open Sans" panose="020B0606030504020204" pitchFamily="34" charset="0"/>
                </a:rPr>
                <a:t>Adequate donations during blood drives.</a:t>
              </a:r>
            </a:p>
            <a:p>
              <a:pPr marL="1028700" lvl="1" indent="-571500">
                <a:lnSpc>
                  <a:spcPct val="200000"/>
                </a:lnSpc>
                <a:buFont typeface="+mj-lt"/>
                <a:buAutoNum type="romanUcPeriod"/>
              </a:pPr>
              <a:r>
                <a:rPr lang="en-US" sz="2900" dirty="0">
                  <a:latin typeface="Open Sans" panose="020B0606030504020204" pitchFamily="34" charset="0"/>
                  <a:ea typeface="Open Sans" panose="020B0606030504020204" pitchFamily="34" charset="0"/>
                  <a:cs typeface="Open Sans" panose="020B0606030504020204" pitchFamily="34" charset="0"/>
                </a:rPr>
                <a:t>A recurrent pool of donors built. </a:t>
              </a:r>
            </a:p>
            <a:p>
              <a:pPr marL="1028700" lvl="1" indent="-571500">
                <a:lnSpc>
                  <a:spcPct val="200000"/>
                </a:lnSpc>
                <a:buFont typeface="+mj-lt"/>
                <a:buAutoNum type="romanUcPeriod"/>
              </a:pPr>
              <a:r>
                <a:rPr lang="en-US" sz="2900" dirty="0">
                  <a:latin typeface="Open Sans" panose="020B0606030504020204" pitchFamily="34" charset="0"/>
                  <a:ea typeface="Open Sans" panose="020B0606030504020204" pitchFamily="34" charset="0"/>
                  <a:cs typeface="Open Sans" panose="020B0606030504020204" pitchFamily="34" charset="0"/>
                </a:rPr>
                <a:t>Knowledge of available quantities for better planning.</a:t>
              </a:r>
            </a:p>
            <a:p>
              <a:pPr marL="1028700" lvl="1" indent="-571500">
                <a:lnSpc>
                  <a:spcPct val="200000"/>
                </a:lnSpc>
                <a:buFont typeface="+mj-lt"/>
                <a:buAutoNum type="romanUcPeriod"/>
              </a:pPr>
              <a:r>
                <a:rPr lang="en-US" sz="2900" dirty="0">
                  <a:latin typeface="Open Sans" panose="020B0606030504020204" pitchFamily="34" charset="0"/>
                  <a:ea typeface="Open Sans" panose="020B0606030504020204" pitchFamily="34" charset="0"/>
                  <a:cs typeface="Open Sans" panose="020B0606030504020204" pitchFamily="34" charset="0"/>
                </a:rPr>
                <a:t>Sustainable and adequate quantities of blood and blood products for transfusion.</a:t>
              </a:r>
            </a:p>
            <a:p>
              <a:pPr marL="1028700" lvl="1" indent="-571500">
                <a:lnSpc>
                  <a:spcPct val="200000"/>
                </a:lnSpc>
                <a:buFont typeface="+mj-lt"/>
                <a:buAutoNum type="romanUcPeriod"/>
              </a:pPr>
              <a:r>
                <a:rPr lang="en-US" sz="2900" dirty="0">
                  <a:latin typeface="Open Sans" panose="020B0606030504020204" pitchFamily="34" charset="0"/>
                  <a:ea typeface="Open Sans" panose="020B0606030504020204" pitchFamily="34" charset="0"/>
                  <a:cs typeface="Open Sans" panose="020B0606030504020204" pitchFamily="34" charset="0"/>
                </a:rPr>
                <a:t>Reduced human interference and bias in the blood product consumption supply chain.</a:t>
              </a:r>
            </a:p>
            <a:p>
              <a:pPr marL="1028700" lvl="1" indent="-571500">
                <a:buFont typeface="+mj-lt"/>
                <a:buAutoNum type="romanUcPeriod"/>
              </a:pPr>
              <a:endParaRPr lang="en-GB" sz="2900"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TextBox 9"/>
            <p:cNvSpPr txBox="1"/>
            <p:nvPr/>
          </p:nvSpPr>
          <p:spPr>
            <a:xfrm>
              <a:off x="0" y="-171450"/>
              <a:ext cx="4299942" cy="1868943"/>
            </a:xfrm>
            <a:prstGeom prst="rect">
              <a:avLst/>
            </a:prstGeom>
          </p:spPr>
          <p:txBody>
            <a:bodyPr lIns="50800" tIns="50800" rIns="50800" bIns="50800" rtlCol="0" anchor="ctr"/>
            <a:lstStyle/>
            <a:p>
              <a:pPr algn="ctr">
                <a:lnSpc>
                  <a:spcPts val="5220"/>
                </a:lnSpc>
              </a:pPr>
              <a:endParaRPr/>
            </a:p>
          </p:txBody>
        </p:sp>
      </p:grpSp>
      <p:sp>
        <p:nvSpPr>
          <p:cNvPr id="10" name="TextBox 10"/>
          <p:cNvSpPr txBox="1"/>
          <p:nvPr/>
        </p:nvSpPr>
        <p:spPr>
          <a:xfrm>
            <a:off x="1446955" y="1042987"/>
            <a:ext cx="8153926" cy="688974"/>
          </a:xfrm>
          <a:prstGeom prst="rect">
            <a:avLst/>
          </a:prstGeom>
        </p:spPr>
        <p:txBody>
          <a:bodyPr lIns="0" tIns="0" rIns="0" bIns="0" rtlCol="0" anchor="t">
            <a:spAutoFit/>
          </a:bodyPr>
          <a:lstStyle/>
          <a:p>
            <a:pPr algn="l">
              <a:lnSpc>
                <a:spcPts val="5600"/>
              </a:lnSpc>
            </a:pPr>
            <a:r>
              <a:rPr lang="en-US" sz="4000">
                <a:solidFill>
                  <a:srgbClr val="FFFEFE"/>
                </a:solidFill>
                <a:latin typeface="League Spartan"/>
                <a:ea typeface="League Spartan"/>
                <a:cs typeface="League Spartan"/>
                <a:sym typeface="League Spartan"/>
              </a:rPr>
              <a:t>2. Define Your Desi</a:t>
            </a:r>
            <a:r>
              <a:rPr lang="en-US" sz="4000" b="1">
                <a:solidFill>
                  <a:srgbClr val="FFFEFE"/>
                </a:solidFill>
                <a:latin typeface="League Spartan"/>
                <a:ea typeface="League Spartan"/>
                <a:cs typeface="League Spartan"/>
                <a:sym typeface="League Spartan"/>
              </a:rPr>
              <a:t>red Impact</a:t>
            </a:r>
          </a:p>
        </p:txBody>
      </p:sp>
      <p:sp>
        <p:nvSpPr>
          <p:cNvPr id="11" name="TextBox 11"/>
          <p:cNvSpPr txBox="1"/>
          <p:nvPr/>
        </p:nvSpPr>
        <p:spPr>
          <a:xfrm>
            <a:off x="1446955" y="1720594"/>
            <a:ext cx="16878774" cy="1922145"/>
          </a:xfrm>
          <a:prstGeom prst="rect">
            <a:avLst/>
          </a:prstGeom>
        </p:spPr>
        <p:txBody>
          <a:bodyPr lIns="0" tIns="0" rIns="0" bIns="0" rtlCol="0" anchor="t">
            <a:spAutoFit/>
          </a:bodyPr>
          <a:lstStyle/>
          <a:p>
            <a:pPr algn="l">
              <a:lnSpc>
                <a:spcPts val="5220"/>
              </a:lnSpc>
            </a:pPr>
            <a:r>
              <a:rPr lang="en-US" sz="2900" dirty="0">
                <a:solidFill>
                  <a:srgbClr val="FFFFFF"/>
                </a:solidFill>
                <a:latin typeface="Open Sans"/>
                <a:ea typeface="Open Sans"/>
                <a:cs typeface="Open Sans"/>
                <a:sym typeface="Open Sans"/>
              </a:rPr>
              <a:t>What long-term change do you want to see as a result of your work? In an ideal future, what will have changed in the lives of your target audience or community? How will your solution contribute to societal, environmental, or economic improvement?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2"/>
            <a:stretch>
              <a:fillRect r="-63" b="-168"/>
            </a:stretch>
          </a:blipFill>
        </p:spPr>
        <p:txBody>
          <a:bodyPr/>
          <a:lstStyle/>
          <a:p>
            <a:endParaRPr lang="en-GB"/>
          </a:p>
        </p:txBody>
      </p:sp>
      <p:sp>
        <p:nvSpPr>
          <p:cNvPr id="3" name="Freeform 3"/>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5"/>
            <a:stretch>
              <a:fillRect t="-84" r="-12821" b="-84"/>
            </a:stretch>
          </a:blipFill>
        </p:spPr>
        <p:txBody>
          <a:bodyPr/>
          <a:lstStyle/>
          <a:p>
            <a:endParaRPr lang="en-GB"/>
          </a:p>
        </p:txBody>
      </p:sp>
      <p:sp>
        <p:nvSpPr>
          <p:cNvPr id="5" name="Freeform 5"/>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6" name="Freeform 6"/>
          <p:cNvSpPr/>
          <p:nvPr/>
        </p:nvSpPr>
        <p:spPr>
          <a:xfrm rot="5400000">
            <a:off x="-5077618" y="5083971"/>
            <a:ext cx="11283953" cy="1128708"/>
          </a:xfrm>
          <a:custGeom>
            <a:avLst/>
            <a:gdLst/>
            <a:ahLst/>
            <a:cxnLst/>
            <a:rect l="l" t="t" r="r" b="b"/>
            <a:pathLst>
              <a:path w="11283953" h="1128708">
                <a:moveTo>
                  <a:pt x="0" y="0"/>
                </a:moveTo>
                <a:lnTo>
                  <a:pt x="11283953" y="0"/>
                </a:lnTo>
                <a:lnTo>
                  <a:pt x="11283953" y="1128708"/>
                </a:lnTo>
                <a:lnTo>
                  <a:pt x="0" y="1128708"/>
                </a:lnTo>
                <a:lnTo>
                  <a:pt x="0" y="0"/>
                </a:lnTo>
                <a:close/>
              </a:path>
            </a:pathLst>
          </a:custGeom>
          <a:blipFill>
            <a:blip r:embed="rId6"/>
            <a:stretch>
              <a:fillRect t="-447163" r="-112" b="-453684"/>
            </a:stretch>
          </a:blipFill>
        </p:spPr>
        <p:txBody>
          <a:bodyPr/>
          <a:lstStyle/>
          <a:p>
            <a:endParaRPr lang="en-GB"/>
          </a:p>
        </p:txBody>
      </p:sp>
      <p:grpSp>
        <p:nvGrpSpPr>
          <p:cNvPr id="7" name="Group 7"/>
          <p:cNvGrpSpPr/>
          <p:nvPr/>
        </p:nvGrpSpPr>
        <p:grpSpPr>
          <a:xfrm>
            <a:off x="718120" y="809737"/>
            <a:ext cx="18643453" cy="9968364"/>
            <a:chOff x="0" y="-171450"/>
            <a:chExt cx="4475128" cy="2392781"/>
          </a:xfrm>
        </p:grpSpPr>
        <p:sp>
          <p:nvSpPr>
            <p:cNvPr id="8" name="Freeform 8"/>
            <p:cNvSpPr/>
            <p:nvPr/>
          </p:nvSpPr>
          <p:spPr>
            <a:xfrm>
              <a:off x="175186" y="420690"/>
              <a:ext cx="4299942" cy="1800641"/>
            </a:xfrm>
            <a:custGeom>
              <a:avLst/>
              <a:gdLst/>
              <a:ahLst/>
              <a:cxnLst/>
              <a:rect l="l" t="t" r="r" b="b"/>
              <a:pathLst>
                <a:path w="4299942" h="1800641">
                  <a:moveTo>
                    <a:pt x="12101" y="0"/>
                  </a:moveTo>
                  <a:lnTo>
                    <a:pt x="4287841" y="0"/>
                  </a:lnTo>
                  <a:cubicBezTo>
                    <a:pt x="4294524" y="0"/>
                    <a:pt x="4299942" y="5418"/>
                    <a:pt x="4299942" y="12101"/>
                  </a:cubicBezTo>
                  <a:lnTo>
                    <a:pt x="4299942" y="1788540"/>
                  </a:lnTo>
                  <a:cubicBezTo>
                    <a:pt x="4299942" y="1791750"/>
                    <a:pt x="4298667" y="1794827"/>
                    <a:pt x="4296397" y="1797097"/>
                  </a:cubicBezTo>
                  <a:cubicBezTo>
                    <a:pt x="4294128" y="1799366"/>
                    <a:pt x="4291050" y="1800641"/>
                    <a:pt x="4287841" y="1800641"/>
                  </a:cubicBezTo>
                  <a:lnTo>
                    <a:pt x="12101" y="1800641"/>
                  </a:lnTo>
                  <a:cubicBezTo>
                    <a:pt x="5418" y="1800641"/>
                    <a:pt x="0" y="1795223"/>
                    <a:pt x="0" y="1788540"/>
                  </a:cubicBezTo>
                  <a:lnTo>
                    <a:pt x="0" y="12101"/>
                  </a:lnTo>
                  <a:cubicBezTo>
                    <a:pt x="0" y="8892"/>
                    <a:pt x="1275" y="5814"/>
                    <a:pt x="3544" y="3544"/>
                  </a:cubicBezTo>
                  <a:cubicBezTo>
                    <a:pt x="5814" y="1275"/>
                    <a:pt x="8892" y="0"/>
                    <a:pt x="12101" y="0"/>
                  </a:cubicBezTo>
                  <a:close/>
                </a:path>
              </a:pathLst>
            </a:custGeom>
            <a:solidFill>
              <a:srgbClr val="08C8A1"/>
            </a:solidFill>
          </p:spPr>
          <p:txBody>
            <a:bodyPr/>
            <a:lstStyle/>
            <a:p>
              <a:pPr algn="just">
                <a:lnSpc>
                  <a:spcPct val="150000"/>
                </a:lnSpc>
              </a:pPr>
              <a:r>
                <a:rPr lang="en-GB" sz="2900" b="1" dirty="0">
                  <a:latin typeface="Open Sans" panose="020B0606030504020204" pitchFamily="34" charset="0"/>
                  <a:ea typeface="Open Sans" panose="020B0606030504020204" pitchFamily="34" charset="0"/>
                  <a:cs typeface="Open Sans" panose="020B0606030504020204" pitchFamily="34" charset="0"/>
                </a:rPr>
                <a:t>Patients in need of transfusion </a:t>
              </a:r>
              <a:r>
                <a:rPr lang="en-GB" sz="2900" dirty="0">
                  <a:latin typeface="Open Sans" panose="020B0606030504020204" pitchFamily="34" charset="0"/>
                  <a:ea typeface="Open Sans" panose="020B0606030504020204" pitchFamily="34" charset="0"/>
                  <a:cs typeface="Open Sans" panose="020B0606030504020204" pitchFamily="34" charset="0"/>
                </a:rPr>
                <a:t>(Blood Disorders, Cancer, Trauma, undergoing surgery)</a:t>
              </a:r>
            </a:p>
            <a:p>
              <a:pPr marL="996950" lvl="1" indent="-400050" algn="just">
                <a:lnSpc>
                  <a:spcPct val="150000"/>
                </a:lnSpc>
                <a:buFont typeface="+mj-lt"/>
                <a:buAutoNum type="romanLcPeriod"/>
              </a:pPr>
              <a:r>
                <a:rPr lang="en-GB" sz="2900" dirty="0">
                  <a:latin typeface="Open Sans" panose="020B0606030504020204" pitchFamily="34" charset="0"/>
                  <a:ea typeface="Open Sans" panose="020B0606030504020204" pitchFamily="34" charset="0"/>
                  <a:cs typeface="Open Sans" panose="020B0606030504020204" pitchFamily="34" charset="0"/>
                </a:rPr>
                <a:t>Reduced dependence on replacement donations prior to transfusion.</a:t>
              </a:r>
            </a:p>
            <a:p>
              <a:pPr marL="996950" lvl="1" indent="-400050" algn="just">
                <a:lnSpc>
                  <a:spcPct val="150000"/>
                </a:lnSpc>
                <a:buFont typeface="+mj-lt"/>
                <a:buAutoNum type="romanLcPeriod"/>
              </a:pPr>
              <a:r>
                <a:rPr lang="en-GB" sz="2900" dirty="0">
                  <a:latin typeface="Open Sans" panose="020B0606030504020204" pitchFamily="34" charset="0"/>
                  <a:ea typeface="Open Sans" panose="020B0606030504020204" pitchFamily="34" charset="0"/>
                  <a:cs typeface="Open Sans" panose="020B0606030504020204" pitchFamily="34" charset="0"/>
                </a:rPr>
                <a:t>Adequate and safe quantities of transfused blood.</a:t>
              </a:r>
            </a:p>
            <a:p>
              <a:pPr marL="996950" lvl="1" indent="-400050" algn="just">
                <a:lnSpc>
                  <a:spcPct val="150000"/>
                </a:lnSpc>
                <a:buFont typeface="+mj-lt"/>
                <a:buAutoNum type="romanLcPeriod"/>
              </a:pPr>
              <a:r>
                <a:rPr lang="en-GB" sz="2900" dirty="0">
                  <a:latin typeface="Open Sans" panose="020B0606030504020204" pitchFamily="34" charset="0"/>
                  <a:ea typeface="Open Sans" panose="020B0606030504020204" pitchFamily="34" charset="0"/>
                  <a:cs typeface="Open Sans" panose="020B0606030504020204" pitchFamily="34" charset="0"/>
                </a:rPr>
                <a:t>Reduced transfusion costs and bias in blood distribution.</a:t>
              </a:r>
            </a:p>
            <a:p>
              <a:pPr marL="996950" lvl="1" indent="-400050" algn="just">
                <a:lnSpc>
                  <a:spcPct val="150000"/>
                </a:lnSpc>
                <a:buFont typeface="+mj-lt"/>
                <a:buAutoNum type="romanLcPeriod"/>
              </a:pPr>
              <a:r>
                <a:rPr lang="en-GB" sz="2900" dirty="0">
                  <a:latin typeface="Open Sans" panose="020B0606030504020204" pitchFamily="34" charset="0"/>
                  <a:ea typeface="Open Sans" panose="020B0606030504020204" pitchFamily="34" charset="0"/>
                  <a:cs typeface="Open Sans" panose="020B0606030504020204" pitchFamily="34" charset="0"/>
                </a:rPr>
                <a:t>More saved lives through targeted and ringfenced blood.</a:t>
              </a:r>
            </a:p>
            <a:p>
              <a:pPr algn="just">
                <a:lnSpc>
                  <a:spcPct val="150000"/>
                </a:lnSpc>
              </a:pPr>
              <a:r>
                <a:rPr lang="en-GB" sz="2900" b="1" dirty="0">
                  <a:latin typeface="Open Sans" panose="020B0606030504020204" pitchFamily="34" charset="0"/>
                  <a:ea typeface="Open Sans" panose="020B0606030504020204" pitchFamily="34" charset="0"/>
                  <a:cs typeface="Open Sans" panose="020B0606030504020204" pitchFamily="34" charset="0"/>
                </a:rPr>
                <a:t>Blood Donors</a:t>
              </a:r>
            </a:p>
            <a:p>
              <a:pPr marL="996950" lvl="1" indent="-400050" algn="just">
                <a:lnSpc>
                  <a:spcPct val="150000"/>
                </a:lnSpc>
                <a:buFont typeface="+mj-lt"/>
                <a:buAutoNum type="romanLcPeriod"/>
              </a:pPr>
              <a:r>
                <a:rPr lang="en-GB" sz="2900" dirty="0">
                  <a:latin typeface="Open Sans" panose="020B0606030504020204" pitchFamily="34" charset="0"/>
                  <a:ea typeface="Open Sans" panose="020B0606030504020204" pitchFamily="34" charset="0"/>
                  <a:cs typeface="Open Sans" panose="020B0606030504020204" pitchFamily="34" charset="0"/>
                </a:rPr>
                <a:t>Increased donor awareness </a:t>
              </a:r>
            </a:p>
            <a:p>
              <a:pPr marL="996950" lvl="1" indent="-400050" algn="just">
                <a:lnSpc>
                  <a:spcPct val="150000"/>
                </a:lnSpc>
                <a:buFont typeface="+mj-lt"/>
                <a:buAutoNum type="romanLcPeriod"/>
              </a:pPr>
              <a:r>
                <a:rPr lang="en-GB" sz="2900" dirty="0">
                  <a:latin typeface="Open Sans" panose="020B0606030504020204" pitchFamily="34" charset="0"/>
                  <a:ea typeface="Open Sans" panose="020B0606030504020204" pitchFamily="34" charset="0"/>
                  <a:cs typeface="Open Sans" panose="020B0606030504020204" pitchFamily="34" charset="0"/>
                </a:rPr>
                <a:t>Positive reinforcement of blood donors through non-monetary rewards (</a:t>
              </a:r>
              <a:r>
                <a:rPr lang="en-GB" sz="2900" i="1" dirty="0">
                  <a:latin typeface="Open Sans" panose="020B0606030504020204" pitchFamily="34" charset="0"/>
                  <a:ea typeface="Open Sans" panose="020B0606030504020204" pitchFamily="34" charset="0"/>
                  <a:cs typeface="Open Sans" panose="020B0606030504020204" pitchFamily="34" charset="0"/>
                </a:rPr>
                <a:t>digital medals</a:t>
              </a:r>
              <a:r>
                <a:rPr lang="en-GB" sz="2900" dirty="0">
                  <a:latin typeface="Open Sans" panose="020B0606030504020204" pitchFamily="34" charset="0"/>
                  <a:ea typeface="Open Sans" panose="020B0606030504020204" pitchFamily="34" charset="0"/>
                  <a:cs typeface="Open Sans" panose="020B0606030504020204" pitchFamily="34" charset="0"/>
                </a:rPr>
                <a:t>).</a:t>
              </a:r>
              <a:endParaRPr lang="en-GB" sz="2900" i="1" dirty="0">
                <a:latin typeface="Open Sans" panose="020B0606030504020204" pitchFamily="34" charset="0"/>
                <a:ea typeface="Open Sans" panose="020B0606030504020204" pitchFamily="34" charset="0"/>
                <a:cs typeface="Open Sans" panose="020B0606030504020204" pitchFamily="34" charset="0"/>
              </a:endParaRPr>
            </a:p>
            <a:p>
              <a:pPr marL="996950" lvl="1" indent="-400050" algn="just">
                <a:lnSpc>
                  <a:spcPct val="150000"/>
                </a:lnSpc>
                <a:buFont typeface="+mj-lt"/>
                <a:buAutoNum type="romanLcPeriod"/>
              </a:pPr>
              <a:r>
                <a:rPr lang="en-GB" sz="2900" dirty="0">
                  <a:latin typeface="Open Sans" panose="020B0606030504020204" pitchFamily="34" charset="0"/>
                  <a:ea typeface="Open Sans" panose="020B0606030504020204" pitchFamily="34" charset="0"/>
                  <a:cs typeface="Open Sans" panose="020B0606030504020204" pitchFamily="34" charset="0"/>
                </a:rPr>
                <a:t>Transforming blood drives into more of social events</a:t>
              </a:r>
              <a:r>
                <a:rPr lang="en-GB" sz="2900" i="1" dirty="0">
                  <a:latin typeface="Open Sans" panose="020B0606030504020204" pitchFamily="34" charset="0"/>
                  <a:ea typeface="Open Sans" panose="020B0606030504020204" pitchFamily="34" charset="0"/>
                  <a:cs typeface="Open Sans" panose="020B0606030504020204" pitchFamily="34" charset="0"/>
                </a:rPr>
                <a:t> (‘street bashes, dance competition’) </a:t>
              </a:r>
            </a:p>
            <a:p>
              <a:pPr algn="just">
                <a:lnSpc>
                  <a:spcPct val="150000"/>
                </a:lnSpc>
              </a:pPr>
              <a:r>
                <a:rPr lang="en-GB" sz="2900" b="1" dirty="0">
                  <a:latin typeface="Open Sans" panose="020B0606030504020204" pitchFamily="34" charset="0"/>
                  <a:ea typeface="Open Sans" panose="020B0606030504020204" pitchFamily="34" charset="0"/>
                  <a:cs typeface="Open Sans" panose="020B0606030504020204" pitchFamily="34" charset="0"/>
                </a:rPr>
                <a:t>Volunteers</a:t>
              </a:r>
              <a:r>
                <a:rPr lang="en-GB" sz="2900" dirty="0">
                  <a:latin typeface="Open Sans" panose="020B0606030504020204" pitchFamily="34" charset="0"/>
                  <a:ea typeface="Open Sans" panose="020B0606030504020204" pitchFamily="34" charset="0"/>
                  <a:cs typeface="Open Sans" panose="020B0606030504020204" pitchFamily="34" charset="0"/>
                </a:rPr>
                <a:t> (healthcare workers, students, entertainers).</a:t>
              </a:r>
            </a:p>
            <a:p>
              <a:pPr marL="971550" lvl="1" indent="-400050" algn="just">
                <a:lnSpc>
                  <a:spcPct val="150000"/>
                </a:lnSpc>
                <a:buFont typeface="+mj-lt"/>
                <a:buAutoNum type="romanLcPeriod"/>
              </a:pPr>
              <a:r>
                <a:rPr lang="en-GB" sz="2900" dirty="0">
                  <a:latin typeface="Open Sans" panose="020B0606030504020204" pitchFamily="34" charset="0"/>
                  <a:ea typeface="Open Sans" panose="020B0606030504020204" pitchFamily="34" charset="0"/>
                  <a:cs typeface="Open Sans" panose="020B0606030504020204" pitchFamily="34" charset="0"/>
                </a:rPr>
                <a:t>More knowledgeable and altruistic volunteers who make blood drives sustainable.</a:t>
              </a:r>
            </a:p>
            <a:p>
              <a:pPr marL="596900" lvl="1" algn="just">
                <a:lnSpc>
                  <a:spcPct val="150000"/>
                </a:lnSpc>
              </a:pPr>
              <a:endParaRPr lang="en-GB" sz="2900" i="1" dirty="0">
                <a:latin typeface="Open Sans" panose="020B0606030504020204" pitchFamily="34" charset="0"/>
                <a:ea typeface="Open Sans" panose="020B0606030504020204" pitchFamily="34" charset="0"/>
                <a:cs typeface="Open Sans" panose="020B0606030504020204" pitchFamily="34" charset="0"/>
              </a:endParaRPr>
            </a:p>
            <a:p>
              <a:pPr marL="996950" lvl="1" indent="-400050" algn="just">
                <a:lnSpc>
                  <a:spcPct val="150000"/>
                </a:lnSpc>
                <a:buFont typeface="+mj-lt"/>
                <a:buAutoNum type="romanLcPeriod"/>
              </a:pPr>
              <a:endParaRPr lang="en-GB" sz="2900"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TextBox 9"/>
            <p:cNvSpPr txBox="1"/>
            <p:nvPr/>
          </p:nvSpPr>
          <p:spPr>
            <a:xfrm>
              <a:off x="0" y="-171450"/>
              <a:ext cx="4299942" cy="1972091"/>
            </a:xfrm>
            <a:prstGeom prst="rect">
              <a:avLst/>
            </a:prstGeom>
          </p:spPr>
          <p:txBody>
            <a:bodyPr lIns="50800" tIns="50800" rIns="50800" bIns="50800" rtlCol="0" anchor="ctr"/>
            <a:lstStyle/>
            <a:p>
              <a:pPr algn="ctr">
                <a:lnSpc>
                  <a:spcPts val="5220"/>
                </a:lnSpc>
              </a:pPr>
              <a:endParaRPr/>
            </a:p>
          </p:txBody>
        </p:sp>
      </p:grpSp>
      <p:sp>
        <p:nvSpPr>
          <p:cNvPr id="10" name="TextBox 10"/>
          <p:cNvSpPr txBox="1"/>
          <p:nvPr/>
        </p:nvSpPr>
        <p:spPr>
          <a:xfrm>
            <a:off x="1446955" y="1042987"/>
            <a:ext cx="8784175" cy="688974"/>
          </a:xfrm>
          <a:prstGeom prst="rect">
            <a:avLst/>
          </a:prstGeom>
        </p:spPr>
        <p:txBody>
          <a:bodyPr lIns="0" tIns="0" rIns="0" bIns="0" rtlCol="0" anchor="t">
            <a:spAutoFit/>
          </a:bodyPr>
          <a:lstStyle/>
          <a:p>
            <a:pPr algn="l">
              <a:lnSpc>
                <a:spcPts val="5600"/>
              </a:lnSpc>
            </a:pPr>
            <a:r>
              <a:rPr lang="en-US" sz="4000">
                <a:solidFill>
                  <a:srgbClr val="FFFEFE"/>
                </a:solidFill>
                <a:latin typeface="League Spartan"/>
                <a:ea typeface="League Spartan"/>
                <a:cs typeface="League Spartan"/>
                <a:sym typeface="League Spartan"/>
              </a:rPr>
              <a:t>3. Identify Your Ta</a:t>
            </a:r>
            <a:r>
              <a:rPr lang="en-US" sz="4000" b="1">
                <a:solidFill>
                  <a:srgbClr val="FFFEFE"/>
                </a:solidFill>
                <a:latin typeface="League Spartan"/>
                <a:ea typeface="League Spartan"/>
                <a:cs typeface="League Spartan"/>
                <a:sym typeface="League Spartan"/>
              </a:rPr>
              <a:t>rget Group(s)</a:t>
            </a:r>
          </a:p>
        </p:txBody>
      </p:sp>
      <p:sp>
        <p:nvSpPr>
          <p:cNvPr id="11" name="TextBox 11"/>
          <p:cNvSpPr txBox="1"/>
          <p:nvPr/>
        </p:nvSpPr>
        <p:spPr>
          <a:xfrm>
            <a:off x="1446955" y="1720594"/>
            <a:ext cx="16878774" cy="1264920"/>
          </a:xfrm>
          <a:prstGeom prst="rect">
            <a:avLst/>
          </a:prstGeom>
        </p:spPr>
        <p:txBody>
          <a:bodyPr lIns="0" tIns="0" rIns="0" bIns="0" rtlCol="0" anchor="t">
            <a:spAutoFit/>
          </a:bodyPr>
          <a:lstStyle/>
          <a:p>
            <a:pPr algn="l">
              <a:lnSpc>
                <a:spcPts val="5220"/>
              </a:lnSpc>
            </a:pPr>
            <a:r>
              <a:rPr lang="en-US" sz="2900" dirty="0">
                <a:solidFill>
                  <a:srgbClr val="FFFFFF"/>
                </a:solidFill>
                <a:latin typeface="Open Sans"/>
                <a:ea typeface="Open Sans"/>
                <a:cs typeface="Open Sans"/>
                <a:sym typeface="Open Sans"/>
              </a:rPr>
              <a:t>Who are the primary beneficiaries of your intervention? Who will benefit directly and indirectly from your product or service? What are their needs, contexts, and barriers to change?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2"/>
            <a:stretch>
              <a:fillRect r="-63" b="-168"/>
            </a:stretch>
          </a:blipFill>
        </p:spPr>
        <p:txBody>
          <a:bodyPr/>
          <a:lstStyle/>
          <a:p>
            <a:endParaRPr lang="en-GB"/>
          </a:p>
        </p:txBody>
      </p:sp>
      <p:sp>
        <p:nvSpPr>
          <p:cNvPr id="3" name="Freeform 3"/>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5"/>
            <a:stretch>
              <a:fillRect t="-84" r="-12821" b="-84"/>
            </a:stretch>
          </a:blipFill>
        </p:spPr>
        <p:txBody>
          <a:bodyPr/>
          <a:lstStyle/>
          <a:p>
            <a:endParaRPr lang="en-GB"/>
          </a:p>
        </p:txBody>
      </p:sp>
      <p:sp>
        <p:nvSpPr>
          <p:cNvPr id="5" name="Freeform 5"/>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6" name="Freeform 6"/>
          <p:cNvSpPr/>
          <p:nvPr/>
        </p:nvSpPr>
        <p:spPr>
          <a:xfrm rot="5400000">
            <a:off x="-5077618" y="5083971"/>
            <a:ext cx="11283953" cy="1128708"/>
          </a:xfrm>
          <a:custGeom>
            <a:avLst/>
            <a:gdLst/>
            <a:ahLst/>
            <a:cxnLst/>
            <a:rect l="l" t="t" r="r" b="b"/>
            <a:pathLst>
              <a:path w="11283953" h="1128708">
                <a:moveTo>
                  <a:pt x="0" y="0"/>
                </a:moveTo>
                <a:lnTo>
                  <a:pt x="11283953" y="0"/>
                </a:lnTo>
                <a:lnTo>
                  <a:pt x="11283953" y="1128708"/>
                </a:lnTo>
                <a:lnTo>
                  <a:pt x="0" y="1128708"/>
                </a:lnTo>
                <a:lnTo>
                  <a:pt x="0" y="0"/>
                </a:lnTo>
                <a:close/>
              </a:path>
            </a:pathLst>
          </a:custGeom>
          <a:blipFill>
            <a:blip r:embed="rId6"/>
            <a:stretch>
              <a:fillRect t="-447163" r="-112" b="-453684"/>
            </a:stretch>
          </a:blipFill>
        </p:spPr>
        <p:txBody>
          <a:bodyPr/>
          <a:lstStyle/>
          <a:p>
            <a:endParaRPr lang="en-GB"/>
          </a:p>
        </p:txBody>
      </p:sp>
      <p:grpSp>
        <p:nvGrpSpPr>
          <p:cNvPr id="7" name="Group 7"/>
          <p:cNvGrpSpPr/>
          <p:nvPr/>
        </p:nvGrpSpPr>
        <p:grpSpPr>
          <a:xfrm>
            <a:off x="1446955" y="3373105"/>
            <a:ext cx="17913625" cy="7501499"/>
            <a:chOff x="0" y="0"/>
            <a:chExt cx="4299942" cy="1800641"/>
          </a:xfrm>
        </p:grpSpPr>
        <p:sp>
          <p:nvSpPr>
            <p:cNvPr id="8" name="Freeform 8"/>
            <p:cNvSpPr/>
            <p:nvPr/>
          </p:nvSpPr>
          <p:spPr>
            <a:xfrm>
              <a:off x="0" y="0"/>
              <a:ext cx="4299942" cy="1800641"/>
            </a:xfrm>
            <a:custGeom>
              <a:avLst/>
              <a:gdLst/>
              <a:ahLst/>
              <a:cxnLst/>
              <a:rect l="l" t="t" r="r" b="b"/>
              <a:pathLst>
                <a:path w="4299942" h="1800641">
                  <a:moveTo>
                    <a:pt x="12101" y="0"/>
                  </a:moveTo>
                  <a:lnTo>
                    <a:pt x="4287841" y="0"/>
                  </a:lnTo>
                  <a:cubicBezTo>
                    <a:pt x="4294524" y="0"/>
                    <a:pt x="4299942" y="5418"/>
                    <a:pt x="4299942" y="12101"/>
                  </a:cubicBezTo>
                  <a:lnTo>
                    <a:pt x="4299942" y="1788540"/>
                  </a:lnTo>
                  <a:cubicBezTo>
                    <a:pt x="4299942" y="1791750"/>
                    <a:pt x="4298667" y="1794827"/>
                    <a:pt x="4296397" y="1797097"/>
                  </a:cubicBezTo>
                  <a:cubicBezTo>
                    <a:pt x="4294128" y="1799366"/>
                    <a:pt x="4291050" y="1800641"/>
                    <a:pt x="4287841" y="1800641"/>
                  </a:cubicBezTo>
                  <a:lnTo>
                    <a:pt x="12101" y="1800641"/>
                  </a:lnTo>
                  <a:cubicBezTo>
                    <a:pt x="5418" y="1800641"/>
                    <a:pt x="0" y="1795223"/>
                    <a:pt x="0" y="1788540"/>
                  </a:cubicBezTo>
                  <a:lnTo>
                    <a:pt x="0" y="12101"/>
                  </a:lnTo>
                  <a:cubicBezTo>
                    <a:pt x="0" y="8892"/>
                    <a:pt x="1275" y="5814"/>
                    <a:pt x="3544" y="3544"/>
                  </a:cubicBezTo>
                  <a:cubicBezTo>
                    <a:pt x="5814" y="1275"/>
                    <a:pt x="8892" y="0"/>
                    <a:pt x="12101" y="0"/>
                  </a:cubicBezTo>
                  <a:close/>
                </a:path>
              </a:pathLst>
            </a:custGeom>
            <a:solidFill>
              <a:srgbClr val="08C8A1"/>
            </a:solidFill>
          </p:spPr>
          <p:txBody>
            <a:bodyPr/>
            <a:lstStyle/>
            <a:p>
              <a:pPr marL="400050" indent="-400050">
                <a:lnSpc>
                  <a:spcPct val="200000"/>
                </a:lnSpc>
                <a:buFont typeface="+mj-lt"/>
                <a:buAutoNum type="romanUcPeriod"/>
              </a:pPr>
              <a:r>
                <a:rPr lang="en-GB" sz="2900" b="1" dirty="0">
                  <a:latin typeface="Open Sans" panose="020B0606030504020204" pitchFamily="34" charset="0"/>
                  <a:ea typeface="Open Sans" panose="020B0606030504020204" pitchFamily="34" charset="0"/>
                  <a:cs typeface="Open Sans" panose="020B0606030504020204" pitchFamily="34" charset="0"/>
                </a:rPr>
                <a:t>People</a:t>
              </a:r>
              <a:r>
                <a:rPr lang="en-GB" sz="2900" dirty="0">
                  <a:latin typeface="Open Sans" panose="020B0606030504020204" pitchFamily="34" charset="0"/>
                  <a:ea typeface="Open Sans" panose="020B0606030504020204" pitchFamily="34" charset="0"/>
                  <a:cs typeface="Open Sans" panose="020B0606030504020204" pitchFamily="34" charset="0"/>
                </a:rPr>
                <a:t> – Healthcare workers, Volunteers (mobilizers), Blood Donors.</a:t>
              </a:r>
            </a:p>
            <a:p>
              <a:pPr marL="400050" indent="-400050">
                <a:buFont typeface="+mj-lt"/>
                <a:buAutoNum type="romanUcPeriod"/>
              </a:pPr>
              <a:r>
                <a:rPr lang="en-GB" sz="2900" b="1" dirty="0">
                  <a:latin typeface="Open Sans" panose="020B0606030504020204" pitchFamily="34" charset="0"/>
                  <a:ea typeface="Open Sans" panose="020B0606030504020204" pitchFamily="34" charset="0"/>
                  <a:cs typeface="Open Sans" panose="020B0606030504020204" pitchFamily="34" charset="0"/>
                </a:rPr>
                <a:t>Technology</a:t>
              </a:r>
              <a:r>
                <a:rPr lang="en-GB" sz="2900" dirty="0">
                  <a:latin typeface="Open Sans" panose="020B0606030504020204" pitchFamily="34" charset="0"/>
                  <a:ea typeface="Open Sans" panose="020B0606030504020204" pitchFamily="34" charset="0"/>
                  <a:cs typeface="Open Sans" panose="020B0606030504020204" pitchFamily="34" charset="0"/>
                </a:rPr>
                <a:t> – Predictive Models, Behavioural reward systems, Computers, Internet, Databases.</a:t>
              </a:r>
            </a:p>
            <a:p>
              <a:pPr marL="400050" indent="-400050">
                <a:buFont typeface="+mj-lt"/>
                <a:buAutoNum type="romanUcPeriod"/>
              </a:pPr>
              <a:r>
                <a:rPr lang="en-GB" sz="2900" b="1" dirty="0">
                  <a:latin typeface="Open Sans" panose="020B0606030504020204" pitchFamily="34" charset="0"/>
                  <a:ea typeface="Open Sans" panose="020B0606030504020204" pitchFamily="34" charset="0"/>
                  <a:cs typeface="Open Sans" panose="020B0606030504020204" pitchFamily="34" charset="0"/>
                </a:rPr>
                <a:t>Financing – </a:t>
              </a:r>
              <a:r>
                <a:rPr lang="en-GB" sz="2900" dirty="0">
                  <a:latin typeface="Open Sans" panose="020B0606030504020204" pitchFamily="34" charset="0"/>
                  <a:ea typeface="Open Sans" panose="020B0606030504020204" pitchFamily="34" charset="0"/>
                  <a:cs typeface="Open Sans" panose="020B0606030504020204" pitchFamily="34" charset="0"/>
                </a:rPr>
                <a:t>Grants, Accelerators, Hubs, Equity.</a:t>
              </a:r>
              <a:endParaRPr lang="en-GB" sz="2900" b="1" dirty="0">
                <a:latin typeface="Open Sans" panose="020B0606030504020204" pitchFamily="34" charset="0"/>
                <a:ea typeface="Open Sans" panose="020B0606030504020204" pitchFamily="34" charset="0"/>
                <a:cs typeface="Open Sans" panose="020B0606030504020204" pitchFamily="34" charset="0"/>
              </a:endParaRPr>
            </a:p>
            <a:p>
              <a:pPr marL="400050" indent="-400050">
                <a:lnSpc>
                  <a:spcPct val="200000"/>
                </a:lnSpc>
                <a:buFont typeface="+mj-lt"/>
                <a:buAutoNum type="romanUcPeriod"/>
              </a:pPr>
              <a:r>
                <a:rPr lang="en-GB" sz="2900" b="1" dirty="0">
                  <a:latin typeface="Open Sans" panose="020B0606030504020204" pitchFamily="34" charset="0"/>
                  <a:ea typeface="Open Sans" panose="020B0606030504020204" pitchFamily="34" charset="0"/>
                  <a:cs typeface="Open Sans" panose="020B0606030504020204" pitchFamily="34" charset="0"/>
                </a:rPr>
                <a:t>Partnerships/ Stakeholders:</a:t>
              </a:r>
              <a:r>
                <a:rPr lang="en-GB" sz="2900" dirty="0">
                  <a:latin typeface="Open Sans" panose="020B0606030504020204" pitchFamily="34" charset="0"/>
                  <a:ea typeface="Open Sans" panose="020B0606030504020204" pitchFamily="34" charset="0"/>
                  <a:cs typeface="Open Sans" panose="020B0606030504020204" pitchFamily="34" charset="0"/>
                </a:rPr>
                <a:t> </a:t>
              </a:r>
            </a:p>
            <a:p>
              <a:pPr marL="971550" lvl="1" indent="-514350">
                <a:lnSpc>
                  <a:spcPct val="150000"/>
                </a:lnSpc>
                <a:buFont typeface="+mj-lt"/>
                <a:buAutoNum type="alphaLcPeriod"/>
              </a:pPr>
              <a:r>
                <a:rPr lang="en-US" sz="2900" dirty="0">
                  <a:latin typeface="Open Sans" panose="020B0606030504020204" pitchFamily="34" charset="0"/>
                  <a:ea typeface="Open Sans" panose="020B0606030504020204" pitchFamily="34" charset="0"/>
                  <a:cs typeface="Open Sans" panose="020B0606030504020204" pitchFamily="34" charset="0"/>
                </a:rPr>
                <a:t>The national and County governments</a:t>
              </a:r>
            </a:p>
            <a:p>
              <a:pPr marL="971550" lvl="1" indent="-514350">
                <a:lnSpc>
                  <a:spcPct val="150000"/>
                </a:lnSpc>
                <a:buFont typeface="+mj-lt"/>
                <a:buAutoNum type="alphaLcPeriod"/>
              </a:pPr>
              <a:r>
                <a:rPr lang="en-US" sz="2900" dirty="0">
                  <a:latin typeface="Open Sans" panose="020B0606030504020204" pitchFamily="34" charset="0"/>
                  <a:ea typeface="Open Sans" panose="020B0606030504020204" pitchFamily="34" charset="0"/>
                  <a:cs typeface="Open Sans" panose="020B0606030504020204" pitchFamily="34" charset="0"/>
                </a:rPr>
                <a:t>Kenya Tissue and Transplant Services (Blood Banks)</a:t>
              </a:r>
            </a:p>
            <a:p>
              <a:pPr marL="971550" lvl="1" indent="-514350">
                <a:lnSpc>
                  <a:spcPct val="150000"/>
                </a:lnSpc>
                <a:buFont typeface="+mj-lt"/>
                <a:buAutoNum type="alphaLcPeriod"/>
              </a:pPr>
              <a:r>
                <a:rPr lang="en-US" sz="2900" dirty="0">
                  <a:latin typeface="Open Sans" panose="020B0606030504020204" pitchFamily="34" charset="0"/>
                  <a:ea typeface="Open Sans" panose="020B0606030504020204" pitchFamily="34" charset="0"/>
                  <a:cs typeface="Open Sans" panose="020B0606030504020204" pitchFamily="34" charset="0"/>
                </a:rPr>
                <a:t>Hospitals (public and private) – MTRH, private hospitals in Eldoret</a:t>
              </a:r>
            </a:p>
            <a:p>
              <a:pPr marL="971550" lvl="1" indent="-514350">
                <a:lnSpc>
                  <a:spcPct val="150000"/>
                </a:lnSpc>
                <a:buFont typeface="+mj-lt"/>
                <a:buAutoNum type="alphaLcPeriod"/>
              </a:pPr>
              <a:r>
                <a:rPr lang="en-US" sz="2900" dirty="0">
                  <a:latin typeface="Open Sans" panose="020B0606030504020204" pitchFamily="34" charset="0"/>
                  <a:ea typeface="Open Sans" panose="020B0606030504020204" pitchFamily="34" charset="0"/>
                  <a:cs typeface="Open Sans" panose="020B0606030504020204" pitchFamily="34" charset="0"/>
                </a:rPr>
                <a:t>Training institutions (colleges and universities) </a:t>
              </a:r>
            </a:p>
            <a:p>
              <a:pPr marL="971550" lvl="1" indent="-514350">
                <a:lnSpc>
                  <a:spcPct val="150000"/>
                </a:lnSpc>
                <a:buFont typeface="+mj-lt"/>
                <a:buAutoNum type="alphaLcPeriod"/>
              </a:pPr>
              <a:r>
                <a:rPr lang="en-US" sz="2900" dirty="0">
                  <a:latin typeface="Open Sans" panose="020B0606030504020204" pitchFamily="34" charset="0"/>
                  <a:ea typeface="Open Sans" panose="020B0606030504020204" pitchFamily="34" charset="0"/>
                  <a:cs typeface="Open Sans" panose="020B0606030504020204" pitchFamily="34" charset="0"/>
                </a:rPr>
                <a:t>Research Institutions – AMPATH, Innovative Hematology</a:t>
              </a:r>
            </a:p>
            <a:p>
              <a:pPr marL="971550" lvl="1" indent="-514350">
                <a:lnSpc>
                  <a:spcPct val="150000"/>
                </a:lnSpc>
                <a:buFont typeface="+mj-lt"/>
                <a:buAutoNum type="alphaLcPeriod"/>
              </a:pPr>
              <a:r>
                <a:rPr lang="en-US" sz="2900" dirty="0">
                  <a:latin typeface="Open Sans" panose="020B0606030504020204" pitchFamily="34" charset="0"/>
                  <a:ea typeface="Open Sans" panose="020B0606030504020204" pitchFamily="34" charset="0"/>
                  <a:cs typeface="Open Sans" panose="020B0606030504020204" pitchFamily="34" charset="0"/>
                </a:rPr>
                <a:t>Professional Organizations – Oncology Nurses Chapter</a:t>
              </a:r>
            </a:p>
            <a:p>
              <a:pPr marL="971550" lvl="1" indent="-514350">
                <a:lnSpc>
                  <a:spcPct val="150000"/>
                </a:lnSpc>
                <a:buFont typeface="+mj-lt"/>
                <a:buAutoNum type="alphaLcPeriod"/>
              </a:pPr>
              <a:r>
                <a:rPr lang="en-US" sz="2900" dirty="0">
                  <a:latin typeface="Open Sans" panose="020B0606030504020204" pitchFamily="34" charset="0"/>
                  <a:ea typeface="Open Sans" panose="020B0606030504020204" pitchFamily="34" charset="0"/>
                  <a:cs typeface="Open Sans" panose="020B0606030504020204" pitchFamily="34" charset="0"/>
                </a:rPr>
                <a:t>Business Community –Bakeries, Beverage and Event companies. </a:t>
              </a:r>
              <a:endParaRPr lang="en-GB" sz="2900"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TextBox 9"/>
            <p:cNvSpPr txBox="1"/>
            <p:nvPr/>
          </p:nvSpPr>
          <p:spPr>
            <a:xfrm>
              <a:off x="0" y="-171450"/>
              <a:ext cx="4299942" cy="1972091"/>
            </a:xfrm>
            <a:prstGeom prst="rect">
              <a:avLst/>
            </a:prstGeom>
          </p:spPr>
          <p:txBody>
            <a:bodyPr lIns="50800" tIns="50800" rIns="50800" bIns="50800" rtlCol="0" anchor="ctr"/>
            <a:lstStyle/>
            <a:p>
              <a:pPr algn="ctr">
                <a:lnSpc>
                  <a:spcPts val="5220"/>
                </a:lnSpc>
              </a:pPr>
              <a:endParaRPr/>
            </a:p>
          </p:txBody>
        </p:sp>
      </p:grpSp>
      <p:sp>
        <p:nvSpPr>
          <p:cNvPr id="10" name="TextBox 10"/>
          <p:cNvSpPr txBox="1"/>
          <p:nvPr/>
        </p:nvSpPr>
        <p:spPr>
          <a:xfrm>
            <a:off x="1446955" y="1042987"/>
            <a:ext cx="8784175" cy="688974"/>
          </a:xfrm>
          <a:prstGeom prst="rect">
            <a:avLst/>
          </a:prstGeom>
        </p:spPr>
        <p:txBody>
          <a:bodyPr lIns="0" tIns="0" rIns="0" bIns="0" rtlCol="0" anchor="t">
            <a:spAutoFit/>
          </a:bodyPr>
          <a:lstStyle/>
          <a:p>
            <a:pPr algn="l">
              <a:lnSpc>
                <a:spcPts val="5600"/>
              </a:lnSpc>
            </a:pPr>
            <a:r>
              <a:rPr lang="en-US" sz="4000">
                <a:solidFill>
                  <a:srgbClr val="FFFEFE"/>
                </a:solidFill>
                <a:latin typeface="League Spartan"/>
                <a:ea typeface="League Spartan"/>
                <a:cs typeface="League Spartan"/>
                <a:sym typeface="League Spartan"/>
              </a:rPr>
              <a:t>4. List Your Inpu</a:t>
            </a:r>
            <a:r>
              <a:rPr lang="en-US" sz="4000" b="1">
                <a:solidFill>
                  <a:srgbClr val="FFFEFE"/>
                </a:solidFill>
                <a:latin typeface="League Spartan"/>
                <a:ea typeface="League Spartan"/>
                <a:cs typeface="League Spartan"/>
                <a:sym typeface="League Spartan"/>
              </a:rPr>
              <a:t>ts (Resources)</a:t>
            </a:r>
          </a:p>
        </p:txBody>
      </p:sp>
      <p:sp>
        <p:nvSpPr>
          <p:cNvPr id="11" name="TextBox 11"/>
          <p:cNvSpPr txBox="1"/>
          <p:nvPr/>
        </p:nvSpPr>
        <p:spPr>
          <a:xfrm>
            <a:off x="1446955" y="1720594"/>
            <a:ext cx="16878774" cy="1264920"/>
          </a:xfrm>
          <a:prstGeom prst="rect">
            <a:avLst/>
          </a:prstGeom>
        </p:spPr>
        <p:txBody>
          <a:bodyPr lIns="0" tIns="0" rIns="0" bIns="0" rtlCol="0" anchor="t">
            <a:spAutoFit/>
          </a:bodyPr>
          <a:lstStyle/>
          <a:p>
            <a:pPr algn="l">
              <a:lnSpc>
                <a:spcPts val="5220"/>
              </a:lnSpc>
            </a:pPr>
            <a:r>
              <a:rPr lang="en-US" sz="2900" dirty="0">
                <a:solidFill>
                  <a:srgbClr val="FFFFFF"/>
                </a:solidFill>
                <a:latin typeface="Open Sans"/>
                <a:ea typeface="Open Sans"/>
                <a:cs typeface="Open Sans"/>
                <a:sym typeface="Open Sans"/>
              </a:rPr>
              <a:t>What resources do you need to implement your activities? Financial, human, technological, and material resources. Partnerships or stakeholder involvement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2"/>
            <a:stretch>
              <a:fillRect r="-63" b="-168"/>
            </a:stretch>
          </a:blipFill>
        </p:spPr>
        <p:txBody>
          <a:bodyPr/>
          <a:lstStyle/>
          <a:p>
            <a:endParaRPr lang="en-GB"/>
          </a:p>
        </p:txBody>
      </p:sp>
      <p:sp>
        <p:nvSpPr>
          <p:cNvPr id="3" name="Freeform 3"/>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5"/>
            <a:stretch>
              <a:fillRect t="-84" r="-12821" b="-84"/>
            </a:stretch>
          </a:blipFill>
        </p:spPr>
        <p:txBody>
          <a:bodyPr/>
          <a:lstStyle/>
          <a:p>
            <a:endParaRPr lang="en-GB"/>
          </a:p>
        </p:txBody>
      </p:sp>
      <p:sp>
        <p:nvSpPr>
          <p:cNvPr id="5" name="Freeform 5"/>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6" name="Freeform 6"/>
          <p:cNvSpPr/>
          <p:nvPr/>
        </p:nvSpPr>
        <p:spPr>
          <a:xfrm rot="5400000">
            <a:off x="-5077618" y="5083971"/>
            <a:ext cx="11283953" cy="1128708"/>
          </a:xfrm>
          <a:custGeom>
            <a:avLst/>
            <a:gdLst/>
            <a:ahLst/>
            <a:cxnLst/>
            <a:rect l="l" t="t" r="r" b="b"/>
            <a:pathLst>
              <a:path w="11283953" h="1128708">
                <a:moveTo>
                  <a:pt x="0" y="0"/>
                </a:moveTo>
                <a:lnTo>
                  <a:pt x="11283953" y="0"/>
                </a:lnTo>
                <a:lnTo>
                  <a:pt x="11283953" y="1128708"/>
                </a:lnTo>
                <a:lnTo>
                  <a:pt x="0" y="1128708"/>
                </a:lnTo>
                <a:lnTo>
                  <a:pt x="0" y="0"/>
                </a:lnTo>
                <a:close/>
              </a:path>
            </a:pathLst>
          </a:custGeom>
          <a:blipFill>
            <a:blip r:embed="rId6"/>
            <a:stretch>
              <a:fillRect t="-447163" r="-112" b="-453684"/>
            </a:stretch>
          </a:blipFill>
        </p:spPr>
        <p:txBody>
          <a:bodyPr/>
          <a:lstStyle/>
          <a:p>
            <a:endParaRPr lang="en-GB"/>
          </a:p>
        </p:txBody>
      </p:sp>
      <p:grpSp>
        <p:nvGrpSpPr>
          <p:cNvPr id="7" name="Group 7"/>
          <p:cNvGrpSpPr/>
          <p:nvPr/>
        </p:nvGrpSpPr>
        <p:grpSpPr>
          <a:xfrm>
            <a:off x="1446955" y="3373105"/>
            <a:ext cx="17913625" cy="7501499"/>
            <a:chOff x="0" y="0"/>
            <a:chExt cx="4299942" cy="1800641"/>
          </a:xfrm>
        </p:grpSpPr>
        <p:sp>
          <p:nvSpPr>
            <p:cNvPr id="8" name="Freeform 8"/>
            <p:cNvSpPr/>
            <p:nvPr/>
          </p:nvSpPr>
          <p:spPr>
            <a:xfrm>
              <a:off x="0" y="0"/>
              <a:ext cx="4299942" cy="1800641"/>
            </a:xfrm>
            <a:custGeom>
              <a:avLst/>
              <a:gdLst/>
              <a:ahLst/>
              <a:cxnLst/>
              <a:rect l="l" t="t" r="r" b="b"/>
              <a:pathLst>
                <a:path w="4299942" h="1800641">
                  <a:moveTo>
                    <a:pt x="12101" y="0"/>
                  </a:moveTo>
                  <a:lnTo>
                    <a:pt x="4287841" y="0"/>
                  </a:lnTo>
                  <a:cubicBezTo>
                    <a:pt x="4294524" y="0"/>
                    <a:pt x="4299942" y="5418"/>
                    <a:pt x="4299942" y="12101"/>
                  </a:cubicBezTo>
                  <a:lnTo>
                    <a:pt x="4299942" y="1788540"/>
                  </a:lnTo>
                  <a:cubicBezTo>
                    <a:pt x="4299942" y="1791750"/>
                    <a:pt x="4298667" y="1794827"/>
                    <a:pt x="4296397" y="1797097"/>
                  </a:cubicBezTo>
                  <a:cubicBezTo>
                    <a:pt x="4294128" y="1799366"/>
                    <a:pt x="4291050" y="1800641"/>
                    <a:pt x="4287841" y="1800641"/>
                  </a:cubicBezTo>
                  <a:lnTo>
                    <a:pt x="12101" y="1800641"/>
                  </a:lnTo>
                  <a:cubicBezTo>
                    <a:pt x="5418" y="1800641"/>
                    <a:pt x="0" y="1795223"/>
                    <a:pt x="0" y="1788540"/>
                  </a:cubicBezTo>
                  <a:lnTo>
                    <a:pt x="0" y="12101"/>
                  </a:lnTo>
                  <a:cubicBezTo>
                    <a:pt x="0" y="8892"/>
                    <a:pt x="1275" y="5814"/>
                    <a:pt x="3544" y="3544"/>
                  </a:cubicBezTo>
                  <a:cubicBezTo>
                    <a:pt x="5814" y="1275"/>
                    <a:pt x="8892" y="0"/>
                    <a:pt x="12101" y="0"/>
                  </a:cubicBezTo>
                  <a:close/>
                </a:path>
              </a:pathLst>
            </a:custGeom>
            <a:solidFill>
              <a:srgbClr val="08C8A1"/>
            </a:solidFill>
          </p:spPr>
          <p:txBody>
            <a:bodyPr/>
            <a:lstStyle/>
            <a:p>
              <a:pPr>
                <a:lnSpc>
                  <a:spcPct val="200000"/>
                </a:lnSpc>
              </a:pPr>
              <a:r>
                <a:rPr lang="en-GB" sz="2900" b="1" dirty="0">
                  <a:latin typeface="Open Sans" panose="020B0606030504020204" pitchFamily="34" charset="0"/>
                  <a:ea typeface="Open Sans" panose="020B0606030504020204" pitchFamily="34" charset="0"/>
                  <a:cs typeface="Open Sans" panose="020B0606030504020204" pitchFamily="34" charset="0"/>
                </a:rPr>
                <a:t>ACCESS:</a:t>
              </a:r>
            </a:p>
            <a:p>
              <a:pPr marL="857250" marR="1270" lvl="1" indent="-400050" algn="just">
                <a:lnSpc>
                  <a:spcPct val="200000"/>
                </a:lnSpc>
                <a:buFont typeface="+mj-lt"/>
                <a:buAutoNum type="romanLcPeriod"/>
              </a:pPr>
              <a:r>
                <a:rPr lang="en-US" sz="2900" dirty="0">
                  <a:solidFill>
                    <a:srgbClr val="000000"/>
                  </a:solidFill>
                  <a:latin typeface="Open Sans" panose="020B0606030504020204" pitchFamily="34" charset="0"/>
                  <a:ea typeface="Open Sans" panose="020B0606030504020204" pitchFamily="34" charset="0"/>
                  <a:cs typeface="Open Sans" panose="020B0606030504020204" pitchFamily="34" charset="0"/>
                </a:rPr>
                <a:t>Predictive modeling for blood volumes donated. </a:t>
              </a:r>
              <a:endParaRPr lang="en-KE" sz="29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857250" marR="1270" lvl="1" indent="-400050" algn="just">
                <a:lnSpc>
                  <a:spcPct val="200000"/>
                </a:lnSpc>
                <a:buFont typeface="+mj-lt"/>
                <a:buAutoNum type="romanLcPeriod"/>
              </a:pPr>
              <a:r>
                <a:rPr lang="en-US" sz="2900" dirty="0">
                  <a:solidFill>
                    <a:srgbClr val="000000"/>
                  </a:solidFill>
                  <a:latin typeface="Open Sans" panose="020B0606030504020204" pitchFamily="34" charset="0"/>
                  <a:ea typeface="Open Sans" panose="020B0606030504020204" pitchFamily="34" charset="0"/>
                  <a:cs typeface="Open Sans" panose="020B0606030504020204" pitchFamily="34" charset="0"/>
                </a:rPr>
                <a:t>Sending targeted messages to previous blood donors on upcoming blood drives. </a:t>
              </a:r>
            </a:p>
            <a:p>
              <a:pPr marL="857250" marR="1270" lvl="1" indent="-400050" algn="just">
                <a:lnSpc>
                  <a:spcPct val="200000"/>
                </a:lnSpc>
                <a:buFont typeface="+mj-lt"/>
                <a:buAutoNum type="romanLcPeriod"/>
              </a:pPr>
              <a:r>
                <a:rPr lang="en-US" sz="2900" dirty="0">
                  <a:solidFill>
                    <a:srgbClr val="000000"/>
                  </a:solidFill>
                  <a:latin typeface="Open Sans" panose="020B0606030504020204" pitchFamily="34" charset="0"/>
                  <a:ea typeface="Open Sans" panose="020B0606030504020204" pitchFamily="34" charset="0"/>
                  <a:cs typeface="Open Sans" panose="020B0606030504020204" pitchFamily="34" charset="0"/>
                </a:rPr>
                <a:t>Creating a behavioral reward system using digital medals.</a:t>
              </a:r>
            </a:p>
            <a:p>
              <a:pPr marR="1270" algn="just">
                <a:lnSpc>
                  <a:spcPct val="200000"/>
                </a:lnSpc>
              </a:pPr>
              <a:r>
                <a:rPr lang="en-US" sz="29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PROCESSING:</a:t>
              </a:r>
            </a:p>
            <a:p>
              <a:pPr marL="857250" marR="1270" lvl="1" indent="-400050" algn="just">
                <a:lnSpc>
                  <a:spcPct val="200000"/>
                </a:lnSpc>
                <a:buFont typeface="+mj-lt"/>
                <a:buAutoNum type="romanLcPeriod"/>
              </a:pPr>
              <a:r>
                <a:rPr lang="en-US" sz="2900" dirty="0">
                  <a:solidFill>
                    <a:srgbClr val="000000"/>
                  </a:solidFill>
                  <a:latin typeface="Open Sans" panose="020B0606030504020204" pitchFamily="34" charset="0"/>
                  <a:ea typeface="Open Sans" panose="020B0606030504020204" pitchFamily="34" charset="0"/>
                  <a:cs typeface="Open Sans" panose="020B0606030504020204" pitchFamily="34" charset="0"/>
                </a:rPr>
                <a:t>Linking the </a:t>
              </a:r>
              <a:r>
                <a:rPr lang="en-US" sz="2900" i="1"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Uhai</a:t>
              </a:r>
              <a:r>
                <a:rPr lang="en-US" sz="2900" dirty="0">
                  <a:solidFill>
                    <a:srgbClr val="000000"/>
                  </a:solidFill>
                  <a:latin typeface="Open Sans" panose="020B0606030504020204" pitchFamily="34" charset="0"/>
                  <a:ea typeface="Open Sans" panose="020B0606030504020204" pitchFamily="34" charset="0"/>
                  <a:cs typeface="Open Sans" panose="020B0606030504020204" pitchFamily="34" charset="0"/>
                </a:rPr>
                <a:t> portal to a temperature monitoring system to assess temperature fluctuation during long-term storage and transportation. </a:t>
              </a:r>
            </a:p>
            <a:p>
              <a:pPr marR="1270" algn="just">
                <a:lnSpc>
                  <a:spcPct val="200000"/>
                </a:lnSpc>
              </a:pPr>
              <a:r>
                <a:rPr lang="en-US" sz="29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DISTRIBUTION: </a:t>
              </a:r>
              <a:r>
                <a:rPr lang="en-US" sz="2900" dirty="0">
                  <a:solidFill>
                    <a:srgbClr val="000000"/>
                  </a:solidFill>
                  <a:latin typeface="Open Sans" panose="020B0606030504020204" pitchFamily="34" charset="0"/>
                  <a:ea typeface="Open Sans" panose="020B0606030504020204" pitchFamily="34" charset="0"/>
                  <a:cs typeface="Open Sans" panose="020B0606030504020204" pitchFamily="34" charset="0"/>
                </a:rPr>
                <a:t>Creating a consolidated database of available quantities of blood.</a:t>
              </a:r>
              <a:endParaRPr lang="en-KE" sz="2900"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endParaRPr lang="en-GB" sz="2900"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TextBox 9"/>
            <p:cNvSpPr txBox="1"/>
            <p:nvPr/>
          </p:nvSpPr>
          <p:spPr>
            <a:xfrm>
              <a:off x="0" y="-171450"/>
              <a:ext cx="4299942" cy="1972091"/>
            </a:xfrm>
            <a:prstGeom prst="rect">
              <a:avLst/>
            </a:prstGeom>
          </p:spPr>
          <p:txBody>
            <a:bodyPr lIns="50800" tIns="50800" rIns="50800" bIns="50800" rtlCol="0" anchor="ctr"/>
            <a:lstStyle/>
            <a:p>
              <a:pPr algn="ctr">
                <a:lnSpc>
                  <a:spcPts val="5220"/>
                </a:lnSpc>
              </a:pPr>
              <a:endParaRPr/>
            </a:p>
          </p:txBody>
        </p:sp>
      </p:grpSp>
      <p:sp>
        <p:nvSpPr>
          <p:cNvPr id="10" name="TextBox 10"/>
          <p:cNvSpPr txBox="1"/>
          <p:nvPr/>
        </p:nvSpPr>
        <p:spPr>
          <a:xfrm>
            <a:off x="1446955" y="1042987"/>
            <a:ext cx="8784175" cy="688974"/>
          </a:xfrm>
          <a:prstGeom prst="rect">
            <a:avLst/>
          </a:prstGeom>
        </p:spPr>
        <p:txBody>
          <a:bodyPr lIns="0" tIns="0" rIns="0" bIns="0" rtlCol="0" anchor="t">
            <a:spAutoFit/>
          </a:bodyPr>
          <a:lstStyle/>
          <a:p>
            <a:pPr algn="l">
              <a:lnSpc>
                <a:spcPts val="5600"/>
              </a:lnSpc>
            </a:pPr>
            <a:r>
              <a:rPr lang="en-US" sz="4000">
                <a:solidFill>
                  <a:srgbClr val="FFFEFE"/>
                </a:solidFill>
                <a:latin typeface="League Spartan"/>
                <a:ea typeface="League Spartan"/>
                <a:cs typeface="League Spartan"/>
                <a:sym typeface="League Spartan"/>
              </a:rPr>
              <a:t>5. Outline Your A</a:t>
            </a:r>
            <a:r>
              <a:rPr lang="en-US" sz="4000" b="1">
                <a:solidFill>
                  <a:srgbClr val="FFFEFE"/>
                </a:solidFill>
                <a:latin typeface="League Spartan"/>
                <a:ea typeface="League Spartan"/>
                <a:cs typeface="League Spartan"/>
                <a:sym typeface="League Spartan"/>
              </a:rPr>
              <a:t>ctivities</a:t>
            </a:r>
          </a:p>
        </p:txBody>
      </p:sp>
      <p:sp>
        <p:nvSpPr>
          <p:cNvPr id="11" name="TextBox 11"/>
          <p:cNvSpPr txBox="1"/>
          <p:nvPr/>
        </p:nvSpPr>
        <p:spPr>
          <a:xfrm>
            <a:off x="1446955" y="1720594"/>
            <a:ext cx="16878774" cy="1264920"/>
          </a:xfrm>
          <a:prstGeom prst="rect">
            <a:avLst/>
          </a:prstGeom>
        </p:spPr>
        <p:txBody>
          <a:bodyPr lIns="0" tIns="0" rIns="0" bIns="0" rtlCol="0" anchor="t">
            <a:spAutoFit/>
          </a:bodyPr>
          <a:lstStyle/>
          <a:p>
            <a:pPr algn="l">
              <a:lnSpc>
                <a:spcPts val="5220"/>
              </a:lnSpc>
            </a:pPr>
            <a:r>
              <a:rPr lang="en-US" sz="2900" dirty="0">
                <a:solidFill>
                  <a:srgbClr val="FFFFFF"/>
                </a:solidFill>
                <a:latin typeface="Open Sans"/>
                <a:ea typeface="Open Sans"/>
                <a:cs typeface="Open Sans"/>
                <a:sym typeface="Open Sans"/>
              </a:rPr>
              <a:t>What specific actions will you take to address the problem? What are the key programs, services, or operations you will carry out? How are these activities linked to your goals?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2"/>
            <a:stretch>
              <a:fillRect r="-63" b="-168"/>
            </a:stretch>
          </a:blipFill>
        </p:spPr>
        <p:txBody>
          <a:bodyPr/>
          <a:lstStyle/>
          <a:p>
            <a:endParaRPr lang="en-GB"/>
          </a:p>
        </p:txBody>
      </p:sp>
      <p:sp>
        <p:nvSpPr>
          <p:cNvPr id="3" name="Freeform 3"/>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5"/>
            <a:stretch>
              <a:fillRect t="-84" r="-12821" b="-84"/>
            </a:stretch>
          </a:blipFill>
        </p:spPr>
        <p:txBody>
          <a:bodyPr/>
          <a:lstStyle/>
          <a:p>
            <a:endParaRPr lang="en-GB"/>
          </a:p>
        </p:txBody>
      </p:sp>
      <p:sp>
        <p:nvSpPr>
          <p:cNvPr id="5" name="Freeform 5"/>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6" name="Freeform 6"/>
          <p:cNvSpPr/>
          <p:nvPr/>
        </p:nvSpPr>
        <p:spPr>
          <a:xfrm rot="5400000">
            <a:off x="-5077618" y="5083971"/>
            <a:ext cx="11283953" cy="1128708"/>
          </a:xfrm>
          <a:custGeom>
            <a:avLst/>
            <a:gdLst/>
            <a:ahLst/>
            <a:cxnLst/>
            <a:rect l="l" t="t" r="r" b="b"/>
            <a:pathLst>
              <a:path w="11283953" h="1128708">
                <a:moveTo>
                  <a:pt x="0" y="0"/>
                </a:moveTo>
                <a:lnTo>
                  <a:pt x="11283953" y="0"/>
                </a:lnTo>
                <a:lnTo>
                  <a:pt x="11283953" y="1128708"/>
                </a:lnTo>
                <a:lnTo>
                  <a:pt x="0" y="1128708"/>
                </a:lnTo>
                <a:lnTo>
                  <a:pt x="0" y="0"/>
                </a:lnTo>
                <a:close/>
              </a:path>
            </a:pathLst>
          </a:custGeom>
          <a:blipFill>
            <a:blip r:embed="rId6"/>
            <a:stretch>
              <a:fillRect t="-447163" r="-112" b="-453684"/>
            </a:stretch>
          </a:blipFill>
        </p:spPr>
        <p:txBody>
          <a:bodyPr/>
          <a:lstStyle/>
          <a:p>
            <a:endParaRPr lang="en-GB"/>
          </a:p>
        </p:txBody>
      </p:sp>
      <p:grpSp>
        <p:nvGrpSpPr>
          <p:cNvPr id="7" name="Group 7"/>
          <p:cNvGrpSpPr/>
          <p:nvPr/>
        </p:nvGrpSpPr>
        <p:grpSpPr>
          <a:xfrm>
            <a:off x="1446955" y="3373105"/>
            <a:ext cx="17913625" cy="7501499"/>
            <a:chOff x="0" y="0"/>
            <a:chExt cx="4299942" cy="1800641"/>
          </a:xfrm>
        </p:grpSpPr>
        <p:sp>
          <p:nvSpPr>
            <p:cNvPr id="8" name="Freeform 8"/>
            <p:cNvSpPr/>
            <p:nvPr/>
          </p:nvSpPr>
          <p:spPr>
            <a:xfrm>
              <a:off x="0" y="0"/>
              <a:ext cx="4299942" cy="1800641"/>
            </a:xfrm>
            <a:custGeom>
              <a:avLst/>
              <a:gdLst/>
              <a:ahLst/>
              <a:cxnLst/>
              <a:rect l="l" t="t" r="r" b="b"/>
              <a:pathLst>
                <a:path w="4299942" h="1800641">
                  <a:moveTo>
                    <a:pt x="12101" y="0"/>
                  </a:moveTo>
                  <a:lnTo>
                    <a:pt x="4287841" y="0"/>
                  </a:lnTo>
                  <a:cubicBezTo>
                    <a:pt x="4294524" y="0"/>
                    <a:pt x="4299942" y="5418"/>
                    <a:pt x="4299942" y="12101"/>
                  </a:cubicBezTo>
                  <a:lnTo>
                    <a:pt x="4299942" y="1788540"/>
                  </a:lnTo>
                  <a:cubicBezTo>
                    <a:pt x="4299942" y="1791750"/>
                    <a:pt x="4298667" y="1794827"/>
                    <a:pt x="4296397" y="1797097"/>
                  </a:cubicBezTo>
                  <a:cubicBezTo>
                    <a:pt x="4294128" y="1799366"/>
                    <a:pt x="4291050" y="1800641"/>
                    <a:pt x="4287841" y="1800641"/>
                  </a:cubicBezTo>
                  <a:lnTo>
                    <a:pt x="12101" y="1800641"/>
                  </a:lnTo>
                  <a:cubicBezTo>
                    <a:pt x="5418" y="1800641"/>
                    <a:pt x="0" y="1795223"/>
                    <a:pt x="0" y="1788540"/>
                  </a:cubicBezTo>
                  <a:lnTo>
                    <a:pt x="0" y="12101"/>
                  </a:lnTo>
                  <a:cubicBezTo>
                    <a:pt x="0" y="8892"/>
                    <a:pt x="1275" y="5814"/>
                    <a:pt x="3544" y="3544"/>
                  </a:cubicBezTo>
                  <a:cubicBezTo>
                    <a:pt x="5814" y="1275"/>
                    <a:pt x="8892" y="0"/>
                    <a:pt x="12101" y="0"/>
                  </a:cubicBezTo>
                  <a:close/>
                </a:path>
              </a:pathLst>
            </a:custGeom>
            <a:solidFill>
              <a:srgbClr val="08C8A1"/>
            </a:solidFill>
          </p:spPr>
          <p:txBody>
            <a:bodyPr/>
            <a:lstStyle/>
            <a:p>
              <a:pPr marR="1270" algn="just">
                <a:lnSpc>
                  <a:spcPct val="200000"/>
                </a:lnSpc>
                <a:spcAft>
                  <a:spcPts val="1000"/>
                </a:spcAft>
                <a:tabLst>
                  <a:tab pos="251460" algn="l"/>
                </a:tabLst>
              </a:pPr>
              <a:r>
                <a:rPr lang="en-GB" sz="2900" b="1" dirty="0">
                  <a:latin typeface="Open Sans" panose="020B0606030504020204" pitchFamily="34" charset="0"/>
                  <a:ea typeface="Open Sans" panose="020B0606030504020204" pitchFamily="34" charset="0"/>
                  <a:cs typeface="Open Sans" panose="020B0606030504020204" pitchFamily="34" charset="0"/>
                </a:rPr>
                <a:t>ACCESS:</a:t>
              </a:r>
            </a:p>
            <a:p>
              <a:pPr marL="857250" marR="1270" lvl="1" indent="-400050" algn="just">
                <a:lnSpc>
                  <a:spcPct val="200000"/>
                </a:lnSpc>
                <a:spcAft>
                  <a:spcPts val="1000"/>
                </a:spcAft>
                <a:buFont typeface="+mj-lt"/>
                <a:buAutoNum type="romanUcPeriod"/>
                <a:tabLst>
                  <a:tab pos="251460" algn="l"/>
                </a:tabLst>
              </a:pPr>
              <a:r>
                <a:rPr lang="en-US" sz="2900" dirty="0">
                  <a:solidFill>
                    <a:srgbClr val="000000"/>
                  </a:solidFill>
                  <a:latin typeface="Open Sans" panose="020B0606030504020204" pitchFamily="34" charset="0"/>
                  <a:ea typeface="Open Sans" panose="020B0606030504020204" pitchFamily="34" charset="0"/>
                  <a:cs typeface="Open Sans" panose="020B0606030504020204" pitchFamily="34" charset="0"/>
                </a:rPr>
                <a:t>Predictive model for blood donation drives.</a:t>
              </a:r>
              <a:endParaRPr lang="en-KE" sz="29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857250" marR="1270" lvl="1" indent="-400050" algn="just">
                <a:lnSpc>
                  <a:spcPct val="200000"/>
                </a:lnSpc>
                <a:spcAft>
                  <a:spcPts val="1000"/>
                </a:spcAft>
                <a:buFont typeface="+mj-lt"/>
                <a:buAutoNum type="romanUcPeriod"/>
                <a:tabLst>
                  <a:tab pos="200660" algn="l"/>
                </a:tabLst>
              </a:pPr>
              <a:r>
                <a:rPr lang="en-US" sz="2900" dirty="0">
                  <a:solidFill>
                    <a:srgbClr val="000000"/>
                  </a:solidFill>
                  <a:latin typeface="Open Sans" panose="020B0606030504020204" pitchFamily="34" charset="0"/>
                  <a:ea typeface="Open Sans" panose="020B0606030504020204" pitchFamily="34" charset="0"/>
                  <a:cs typeface="Open Sans" panose="020B0606030504020204" pitchFamily="34" charset="0"/>
                </a:rPr>
                <a:t>Targeted messages sent and feedback.</a:t>
              </a:r>
              <a:endParaRPr lang="en-KE" sz="29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857250" marR="1270" lvl="1" indent="-400050" algn="just">
                <a:lnSpc>
                  <a:spcPct val="200000"/>
                </a:lnSpc>
                <a:spcAft>
                  <a:spcPts val="1000"/>
                </a:spcAft>
                <a:buFont typeface="+mj-lt"/>
                <a:buAutoNum type="romanUcPeriod"/>
                <a:tabLst>
                  <a:tab pos="200660" algn="l"/>
                </a:tabLst>
              </a:pPr>
              <a:r>
                <a:rPr lang="en-US" sz="2900" dirty="0">
                  <a:solidFill>
                    <a:srgbClr val="000000"/>
                  </a:solidFill>
                  <a:latin typeface="Open Sans" panose="020B0606030504020204" pitchFamily="34" charset="0"/>
                  <a:ea typeface="Open Sans" panose="020B0606030504020204" pitchFamily="34" charset="0"/>
                  <a:cs typeface="Open Sans" panose="020B0606030504020204" pitchFamily="34" charset="0"/>
                </a:rPr>
                <a:t>Recurrent blood donors.</a:t>
              </a:r>
            </a:p>
            <a:p>
              <a:pPr marR="1270" algn="just">
                <a:lnSpc>
                  <a:spcPct val="200000"/>
                </a:lnSpc>
                <a:spcAft>
                  <a:spcPts val="1000"/>
                </a:spcAft>
                <a:tabLst>
                  <a:tab pos="200660" algn="l"/>
                </a:tabLst>
              </a:pPr>
              <a:r>
                <a:rPr lang="en-US" sz="29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PROCESSING:</a:t>
              </a:r>
            </a:p>
            <a:p>
              <a:pPr marL="857250" marR="1270" lvl="1" indent="-400050" algn="just">
                <a:lnSpc>
                  <a:spcPct val="200000"/>
                </a:lnSpc>
                <a:spcAft>
                  <a:spcPts val="1000"/>
                </a:spcAft>
                <a:buFont typeface="+mj-lt"/>
                <a:buAutoNum type="romanUcPeriod"/>
                <a:tabLst>
                  <a:tab pos="200660" algn="l"/>
                </a:tabLst>
              </a:pPr>
              <a:r>
                <a:rPr lang="en-US" sz="2900" dirty="0">
                  <a:solidFill>
                    <a:srgbClr val="000000"/>
                  </a:solidFill>
                  <a:latin typeface="Open Sans" panose="020B0606030504020204" pitchFamily="34" charset="0"/>
                  <a:ea typeface="Open Sans" panose="020B0606030504020204" pitchFamily="34" charset="0"/>
                  <a:cs typeface="Open Sans" panose="020B0606030504020204" pitchFamily="34" charset="0"/>
                </a:rPr>
                <a:t>Reduced temperature fluctuation of blood refrigerators.</a:t>
              </a:r>
              <a:endParaRPr lang="en-KE" sz="29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R="1270" lvl="0" algn="just">
                <a:lnSpc>
                  <a:spcPct val="200000"/>
                </a:lnSpc>
                <a:spcAft>
                  <a:spcPts val="1000"/>
                </a:spcAft>
                <a:tabLst>
                  <a:tab pos="200660" algn="l"/>
                </a:tabLst>
              </a:pPr>
              <a:r>
                <a:rPr lang="en-US" sz="29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DISTRIBUTION: </a:t>
              </a:r>
              <a:r>
                <a:rPr lang="en-US" sz="2900" dirty="0">
                  <a:solidFill>
                    <a:srgbClr val="000000"/>
                  </a:solidFill>
                  <a:latin typeface="Open Sans" panose="020B0606030504020204" pitchFamily="34" charset="0"/>
                  <a:ea typeface="Open Sans" panose="020B0606030504020204" pitchFamily="34" charset="0"/>
                  <a:cs typeface="Open Sans" panose="020B0606030504020204" pitchFamily="34" charset="0"/>
                </a:rPr>
                <a:t>Standard inventory of blood products.</a:t>
              </a:r>
              <a:endParaRPr lang="en-KE" sz="29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a:lnSpc>
                  <a:spcPct val="200000"/>
                </a:lnSpc>
              </a:pPr>
              <a:endParaRPr lang="en-GB" sz="2900"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TextBox 9"/>
            <p:cNvSpPr txBox="1"/>
            <p:nvPr/>
          </p:nvSpPr>
          <p:spPr>
            <a:xfrm>
              <a:off x="0" y="-171450"/>
              <a:ext cx="4299942" cy="1972091"/>
            </a:xfrm>
            <a:prstGeom prst="rect">
              <a:avLst/>
            </a:prstGeom>
          </p:spPr>
          <p:txBody>
            <a:bodyPr lIns="50800" tIns="50800" rIns="50800" bIns="50800" rtlCol="0" anchor="ctr"/>
            <a:lstStyle/>
            <a:p>
              <a:pPr algn="ctr">
                <a:lnSpc>
                  <a:spcPts val="5220"/>
                </a:lnSpc>
              </a:pPr>
              <a:endParaRPr/>
            </a:p>
          </p:txBody>
        </p:sp>
      </p:grpSp>
      <p:sp>
        <p:nvSpPr>
          <p:cNvPr id="10" name="TextBox 10"/>
          <p:cNvSpPr txBox="1"/>
          <p:nvPr/>
        </p:nvSpPr>
        <p:spPr>
          <a:xfrm>
            <a:off x="1446955" y="1042987"/>
            <a:ext cx="8784175" cy="688974"/>
          </a:xfrm>
          <a:prstGeom prst="rect">
            <a:avLst/>
          </a:prstGeom>
        </p:spPr>
        <p:txBody>
          <a:bodyPr lIns="0" tIns="0" rIns="0" bIns="0" rtlCol="0" anchor="t">
            <a:spAutoFit/>
          </a:bodyPr>
          <a:lstStyle/>
          <a:p>
            <a:pPr algn="l">
              <a:lnSpc>
                <a:spcPts val="5600"/>
              </a:lnSpc>
            </a:pPr>
            <a:r>
              <a:rPr lang="en-US" sz="4000">
                <a:solidFill>
                  <a:srgbClr val="FFFEFE"/>
                </a:solidFill>
                <a:latin typeface="League Spartan"/>
                <a:ea typeface="League Spartan"/>
                <a:cs typeface="League Spartan"/>
                <a:sym typeface="League Spartan"/>
              </a:rPr>
              <a:t>6. Describe Your Ou</a:t>
            </a:r>
            <a:r>
              <a:rPr lang="en-US" sz="4000" b="1">
                <a:solidFill>
                  <a:srgbClr val="FFFEFE"/>
                </a:solidFill>
                <a:latin typeface="League Spartan"/>
                <a:ea typeface="League Spartan"/>
                <a:cs typeface="League Spartan"/>
                <a:sym typeface="League Spartan"/>
              </a:rPr>
              <a:t>tputs</a:t>
            </a:r>
          </a:p>
        </p:txBody>
      </p:sp>
      <p:sp>
        <p:nvSpPr>
          <p:cNvPr id="11" name="TextBox 11"/>
          <p:cNvSpPr txBox="1"/>
          <p:nvPr/>
        </p:nvSpPr>
        <p:spPr>
          <a:xfrm>
            <a:off x="1446955" y="1720594"/>
            <a:ext cx="16878774" cy="1264920"/>
          </a:xfrm>
          <a:prstGeom prst="rect">
            <a:avLst/>
          </a:prstGeom>
        </p:spPr>
        <p:txBody>
          <a:bodyPr lIns="0" tIns="0" rIns="0" bIns="0" rtlCol="0" anchor="t">
            <a:spAutoFit/>
          </a:bodyPr>
          <a:lstStyle/>
          <a:p>
            <a:pPr algn="l">
              <a:lnSpc>
                <a:spcPts val="5220"/>
              </a:lnSpc>
            </a:pPr>
            <a:r>
              <a:rPr lang="en-US" sz="2900" dirty="0">
                <a:solidFill>
                  <a:srgbClr val="FFFFFF"/>
                </a:solidFill>
                <a:latin typeface="Open Sans"/>
                <a:ea typeface="Open Sans"/>
                <a:cs typeface="Open Sans"/>
                <a:sym typeface="Open Sans"/>
              </a:rPr>
              <a:t>What are the immediate, tangible results of your </a:t>
            </a:r>
            <a:r>
              <a:rPr lang="en-US" sz="2900" dirty="0" err="1">
                <a:solidFill>
                  <a:srgbClr val="FFFFFF"/>
                </a:solidFill>
                <a:latin typeface="Open Sans"/>
                <a:ea typeface="Open Sans"/>
                <a:cs typeface="Open Sans"/>
                <a:sym typeface="Open Sans"/>
              </a:rPr>
              <a:t>activities?What</a:t>
            </a:r>
            <a:r>
              <a:rPr lang="en-US" sz="2900" dirty="0">
                <a:solidFill>
                  <a:srgbClr val="FFFFFF"/>
                </a:solidFill>
                <a:latin typeface="Open Sans"/>
                <a:ea typeface="Open Sans"/>
                <a:cs typeface="Open Sans"/>
                <a:sym typeface="Open Sans"/>
              </a:rPr>
              <a:t> will be produced or delivered (e.g., workshops held, products distributed, clients served)? How will you measure them?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2"/>
            <a:stretch>
              <a:fillRect r="-63" b="-168"/>
            </a:stretch>
          </a:blipFill>
        </p:spPr>
        <p:txBody>
          <a:bodyPr/>
          <a:lstStyle/>
          <a:p>
            <a:endParaRPr lang="en-GB"/>
          </a:p>
        </p:txBody>
      </p:sp>
      <p:sp>
        <p:nvSpPr>
          <p:cNvPr id="3" name="Freeform 3"/>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5"/>
            <a:stretch>
              <a:fillRect t="-84" r="-12821" b="-84"/>
            </a:stretch>
          </a:blipFill>
        </p:spPr>
        <p:txBody>
          <a:bodyPr/>
          <a:lstStyle/>
          <a:p>
            <a:endParaRPr lang="en-GB"/>
          </a:p>
        </p:txBody>
      </p:sp>
      <p:sp>
        <p:nvSpPr>
          <p:cNvPr id="5" name="Freeform 5"/>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6" name="Freeform 6"/>
          <p:cNvSpPr/>
          <p:nvPr/>
        </p:nvSpPr>
        <p:spPr>
          <a:xfrm rot="5400000">
            <a:off x="-5077618" y="5083971"/>
            <a:ext cx="11283953" cy="1128708"/>
          </a:xfrm>
          <a:custGeom>
            <a:avLst/>
            <a:gdLst/>
            <a:ahLst/>
            <a:cxnLst/>
            <a:rect l="l" t="t" r="r" b="b"/>
            <a:pathLst>
              <a:path w="11283953" h="1128708">
                <a:moveTo>
                  <a:pt x="0" y="0"/>
                </a:moveTo>
                <a:lnTo>
                  <a:pt x="11283953" y="0"/>
                </a:lnTo>
                <a:lnTo>
                  <a:pt x="11283953" y="1128708"/>
                </a:lnTo>
                <a:lnTo>
                  <a:pt x="0" y="1128708"/>
                </a:lnTo>
                <a:lnTo>
                  <a:pt x="0" y="0"/>
                </a:lnTo>
                <a:close/>
              </a:path>
            </a:pathLst>
          </a:custGeom>
          <a:blipFill>
            <a:blip r:embed="rId6"/>
            <a:stretch>
              <a:fillRect t="-447163" r="-112" b="-453684"/>
            </a:stretch>
          </a:blipFill>
        </p:spPr>
        <p:txBody>
          <a:bodyPr/>
          <a:lstStyle/>
          <a:p>
            <a:endParaRPr lang="en-GB"/>
          </a:p>
        </p:txBody>
      </p:sp>
      <p:grpSp>
        <p:nvGrpSpPr>
          <p:cNvPr id="7" name="Group 7"/>
          <p:cNvGrpSpPr/>
          <p:nvPr/>
        </p:nvGrpSpPr>
        <p:grpSpPr>
          <a:xfrm>
            <a:off x="1446955" y="3147438"/>
            <a:ext cx="17913625" cy="7727166"/>
            <a:chOff x="0" y="0"/>
            <a:chExt cx="4299942" cy="1854810"/>
          </a:xfrm>
        </p:grpSpPr>
        <p:sp>
          <p:nvSpPr>
            <p:cNvPr id="8" name="Freeform 8"/>
            <p:cNvSpPr/>
            <p:nvPr/>
          </p:nvSpPr>
          <p:spPr>
            <a:xfrm>
              <a:off x="0" y="0"/>
              <a:ext cx="4299942" cy="1854810"/>
            </a:xfrm>
            <a:custGeom>
              <a:avLst/>
              <a:gdLst/>
              <a:ahLst/>
              <a:cxnLst/>
              <a:rect l="l" t="t" r="r" b="b"/>
              <a:pathLst>
                <a:path w="4299942" h="1854810">
                  <a:moveTo>
                    <a:pt x="12101" y="0"/>
                  </a:moveTo>
                  <a:lnTo>
                    <a:pt x="4287841" y="0"/>
                  </a:lnTo>
                  <a:cubicBezTo>
                    <a:pt x="4294524" y="0"/>
                    <a:pt x="4299942" y="5418"/>
                    <a:pt x="4299942" y="12101"/>
                  </a:cubicBezTo>
                  <a:lnTo>
                    <a:pt x="4299942" y="1842709"/>
                  </a:lnTo>
                  <a:cubicBezTo>
                    <a:pt x="4299942" y="1845918"/>
                    <a:pt x="4298667" y="1848996"/>
                    <a:pt x="4296397" y="1851265"/>
                  </a:cubicBezTo>
                  <a:cubicBezTo>
                    <a:pt x="4294128" y="1853535"/>
                    <a:pt x="4291050" y="1854810"/>
                    <a:pt x="4287841" y="1854810"/>
                  </a:cubicBezTo>
                  <a:lnTo>
                    <a:pt x="12101" y="1854810"/>
                  </a:lnTo>
                  <a:cubicBezTo>
                    <a:pt x="8892" y="1854810"/>
                    <a:pt x="5814" y="1853535"/>
                    <a:pt x="3544" y="1851265"/>
                  </a:cubicBezTo>
                  <a:cubicBezTo>
                    <a:pt x="1275" y="1848996"/>
                    <a:pt x="0" y="1845918"/>
                    <a:pt x="0" y="1842709"/>
                  </a:cubicBezTo>
                  <a:lnTo>
                    <a:pt x="0" y="12101"/>
                  </a:lnTo>
                  <a:cubicBezTo>
                    <a:pt x="0" y="8892"/>
                    <a:pt x="1275" y="5814"/>
                    <a:pt x="3544" y="3544"/>
                  </a:cubicBezTo>
                  <a:cubicBezTo>
                    <a:pt x="5814" y="1275"/>
                    <a:pt x="8892" y="0"/>
                    <a:pt x="12101" y="0"/>
                  </a:cubicBezTo>
                  <a:close/>
                </a:path>
              </a:pathLst>
            </a:custGeom>
            <a:solidFill>
              <a:srgbClr val="08C8A1"/>
            </a:solidFill>
          </p:spPr>
          <p:txBody>
            <a:bodyPr/>
            <a:lstStyle/>
            <a:p>
              <a:pPr marR="1270" algn="just">
                <a:spcAft>
                  <a:spcPts val="1000"/>
                </a:spcAft>
                <a:tabLst>
                  <a:tab pos="251460" algn="l"/>
                </a:tabLst>
              </a:pPr>
              <a:r>
                <a:rPr lang="en-GB" sz="2900" b="1" dirty="0">
                  <a:latin typeface="Open Sans" panose="020B0606030504020204" pitchFamily="34" charset="0"/>
                  <a:ea typeface="Open Sans" panose="020B0606030504020204" pitchFamily="34" charset="0"/>
                  <a:cs typeface="Open Sans" panose="020B0606030504020204" pitchFamily="34" charset="0"/>
                </a:rPr>
                <a:t>ACCESS:</a:t>
              </a:r>
            </a:p>
            <a:p>
              <a:pPr marL="1028700" marR="1270" lvl="1" indent="-571500" algn="just">
                <a:lnSpc>
                  <a:spcPct val="200000"/>
                </a:lnSpc>
                <a:spcAft>
                  <a:spcPts val="1000"/>
                </a:spcAft>
                <a:buFont typeface="+mj-lt"/>
                <a:buAutoNum type="romanUcPeriod"/>
              </a:pPr>
              <a:r>
                <a:rPr lang="en-US" sz="2900" dirty="0">
                  <a:solidFill>
                    <a:srgbClr val="000000"/>
                  </a:solidFill>
                  <a:latin typeface="Open Sans" panose="020B0606030504020204" pitchFamily="34" charset="0"/>
                  <a:ea typeface="Open Sans" panose="020B0606030504020204" pitchFamily="34" charset="0"/>
                  <a:cs typeface="Open Sans" panose="020B0606030504020204" pitchFamily="34" charset="0"/>
                </a:rPr>
                <a:t>Adequate donations during blood drives.</a:t>
              </a:r>
              <a:endParaRPr lang="en-KE" sz="29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1028700" marR="1270" lvl="1" indent="-571500" algn="just">
                <a:lnSpc>
                  <a:spcPct val="200000"/>
                </a:lnSpc>
                <a:spcAft>
                  <a:spcPts val="1000"/>
                </a:spcAft>
                <a:buFont typeface="+mj-lt"/>
                <a:buAutoNum type="romanUcPeriod"/>
              </a:pPr>
              <a:r>
                <a:rPr lang="en-US" sz="2900" dirty="0">
                  <a:solidFill>
                    <a:srgbClr val="000000"/>
                  </a:solidFill>
                  <a:latin typeface="Open Sans" panose="020B0606030504020204" pitchFamily="34" charset="0"/>
                  <a:ea typeface="Open Sans" panose="020B0606030504020204" pitchFamily="34" charset="0"/>
                  <a:cs typeface="Open Sans" panose="020B0606030504020204" pitchFamily="34" charset="0"/>
                </a:rPr>
                <a:t>A recurrent pool of donors built. </a:t>
              </a:r>
              <a:endParaRPr lang="en-KE" sz="29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1028700" marR="1270" lvl="1" indent="-571500" algn="just">
                <a:lnSpc>
                  <a:spcPct val="200000"/>
                </a:lnSpc>
                <a:spcAft>
                  <a:spcPts val="1000"/>
                </a:spcAft>
                <a:buFont typeface="+mj-lt"/>
                <a:buAutoNum type="romanUcPeriod"/>
              </a:pPr>
              <a:r>
                <a:rPr lang="en-US" sz="2900" dirty="0">
                  <a:solidFill>
                    <a:srgbClr val="000000"/>
                  </a:solidFill>
                  <a:latin typeface="Open Sans" panose="020B0606030504020204" pitchFamily="34" charset="0"/>
                  <a:ea typeface="Open Sans" panose="020B0606030504020204" pitchFamily="34" charset="0"/>
                  <a:cs typeface="Open Sans" panose="020B0606030504020204" pitchFamily="34" charset="0"/>
                </a:rPr>
                <a:t>Sustainable and adequate quantities of blood.</a:t>
              </a:r>
              <a:endParaRPr lang="en-KE" sz="29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R="1270" algn="just">
                <a:lnSpc>
                  <a:spcPct val="200000"/>
                </a:lnSpc>
                <a:spcAft>
                  <a:spcPts val="1000"/>
                </a:spcAft>
                <a:tabLst>
                  <a:tab pos="200660" algn="l"/>
                </a:tabLst>
              </a:pPr>
              <a:r>
                <a:rPr lang="en-US" sz="29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PROCESSING: </a:t>
              </a:r>
              <a:r>
                <a:rPr lang="en-US" sz="2900" dirty="0">
                  <a:solidFill>
                    <a:srgbClr val="000000"/>
                  </a:solidFill>
                  <a:latin typeface="Open Sans" panose="020B0606030504020204" pitchFamily="34" charset="0"/>
                  <a:ea typeface="Open Sans" panose="020B0606030504020204" pitchFamily="34" charset="0"/>
                  <a:cs typeface="Open Sans" panose="020B0606030504020204" pitchFamily="34" charset="0"/>
                </a:rPr>
                <a:t>Stability of blood and blood products.</a:t>
              </a:r>
              <a:endParaRPr lang="en-US" sz="2900"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R="1270" lvl="0" algn="just">
                <a:lnSpc>
                  <a:spcPct val="200000"/>
                </a:lnSpc>
                <a:spcAft>
                  <a:spcPts val="1000"/>
                </a:spcAft>
                <a:tabLst>
                  <a:tab pos="200660" algn="l"/>
                </a:tabLst>
              </a:pPr>
              <a:r>
                <a:rPr lang="en-US" sz="29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DISTRIBUTION:</a:t>
              </a:r>
            </a:p>
            <a:p>
              <a:pPr marL="571500" marR="1270" indent="-571500" algn="just">
                <a:lnSpc>
                  <a:spcPct val="200000"/>
                </a:lnSpc>
                <a:spcAft>
                  <a:spcPts val="50"/>
                </a:spcAft>
                <a:buFont typeface="+mj-lt"/>
                <a:buAutoNum type="romanUcPeriod"/>
              </a:pPr>
              <a:r>
                <a:rPr lang="en-US" sz="2900" dirty="0">
                  <a:solidFill>
                    <a:srgbClr val="000000"/>
                  </a:solidFill>
                  <a:latin typeface="Open Sans" panose="020B0606030504020204" pitchFamily="34" charset="0"/>
                  <a:ea typeface="Open Sans" panose="020B0606030504020204" pitchFamily="34" charset="0"/>
                  <a:cs typeface="Open Sans" panose="020B0606030504020204" pitchFamily="34" charset="0"/>
                </a:rPr>
                <a:t>Knowledge of available quantities for better planning.</a:t>
              </a:r>
              <a:endParaRPr lang="en-KE" sz="29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571500" marR="1270" indent="-571500" algn="just">
                <a:lnSpc>
                  <a:spcPct val="200000"/>
                </a:lnSpc>
                <a:spcAft>
                  <a:spcPts val="50"/>
                </a:spcAft>
                <a:buFont typeface="+mj-lt"/>
                <a:buAutoNum type="romanUcPeriod"/>
              </a:pPr>
              <a:r>
                <a:rPr lang="en-US" sz="2900" dirty="0">
                  <a:solidFill>
                    <a:srgbClr val="000000"/>
                  </a:solidFill>
                  <a:latin typeface="Open Sans" panose="020B0606030504020204" pitchFamily="34" charset="0"/>
                  <a:ea typeface="Open Sans" panose="020B0606030504020204" pitchFamily="34" charset="0"/>
                  <a:cs typeface="Open Sans" panose="020B0606030504020204" pitchFamily="34" charset="0"/>
                </a:rPr>
                <a:t>Reduced human interference and bias in the blood product consumption supply chain</a:t>
              </a:r>
              <a:r>
                <a:rPr lang="en-US" sz="2900" dirty="0">
                  <a:solidFill>
                    <a:srgbClr val="000000"/>
                  </a:solidFill>
                  <a:ea typeface="Times New Roman" panose="02020603050405020304" pitchFamily="18" charset="0"/>
                </a:rPr>
                <a:t>.</a:t>
              </a:r>
              <a:endParaRPr lang="en-KE" sz="2900" dirty="0">
                <a:solidFill>
                  <a:srgbClr val="000000"/>
                </a:solidFill>
                <a:ea typeface="Times New Roman" panose="02020603050405020304" pitchFamily="18" charset="0"/>
              </a:endParaRPr>
            </a:p>
            <a:p>
              <a:pPr marR="1270" lvl="0" algn="just">
                <a:lnSpc>
                  <a:spcPct val="200000"/>
                </a:lnSpc>
                <a:spcAft>
                  <a:spcPts val="1000"/>
                </a:spcAft>
                <a:tabLst>
                  <a:tab pos="200660" algn="l"/>
                </a:tabLst>
              </a:pPr>
              <a:endParaRPr lang="en-GB" sz="2900" dirty="0">
                <a:latin typeface="Open Sans" panose="020B0606030504020204" pitchFamily="34" charset="0"/>
                <a:ea typeface="Open Sans" panose="020B0606030504020204" pitchFamily="34" charset="0"/>
                <a:cs typeface="Open Sans" panose="020B0606030504020204" pitchFamily="34" charset="0"/>
              </a:endParaRPr>
            </a:p>
            <a:p>
              <a:endParaRPr lang="en-GB" dirty="0"/>
            </a:p>
          </p:txBody>
        </p:sp>
        <p:sp>
          <p:nvSpPr>
            <p:cNvPr id="9" name="TextBox 9"/>
            <p:cNvSpPr txBox="1"/>
            <p:nvPr/>
          </p:nvSpPr>
          <p:spPr>
            <a:xfrm>
              <a:off x="0" y="-171450"/>
              <a:ext cx="4299942" cy="2026260"/>
            </a:xfrm>
            <a:prstGeom prst="rect">
              <a:avLst/>
            </a:prstGeom>
          </p:spPr>
          <p:txBody>
            <a:bodyPr lIns="50800" tIns="50800" rIns="50800" bIns="50800" rtlCol="0" anchor="ctr"/>
            <a:lstStyle/>
            <a:p>
              <a:pPr algn="ctr">
                <a:lnSpc>
                  <a:spcPts val="5220"/>
                </a:lnSpc>
              </a:pPr>
              <a:endParaRPr/>
            </a:p>
          </p:txBody>
        </p:sp>
      </p:grpSp>
      <p:sp>
        <p:nvSpPr>
          <p:cNvPr id="10" name="TextBox 10"/>
          <p:cNvSpPr txBox="1"/>
          <p:nvPr/>
        </p:nvSpPr>
        <p:spPr>
          <a:xfrm>
            <a:off x="1446955" y="1042987"/>
            <a:ext cx="8784175" cy="688974"/>
          </a:xfrm>
          <a:prstGeom prst="rect">
            <a:avLst/>
          </a:prstGeom>
        </p:spPr>
        <p:txBody>
          <a:bodyPr lIns="0" tIns="0" rIns="0" bIns="0" rtlCol="0" anchor="t">
            <a:spAutoFit/>
          </a:bodyPr>
          <a:lstStyle/>
          <a:p>
            <a:pPr algn="l">
              <a:lnSpc>
                <a:spcPts val="5600"/>
              </a:lnSpc>
            </a:pPr>
            <a:r>
              <a:rPr lang="en-US" sz="4000">
                <a:solidFill>
                  <a:srgbClr val="FFFEFE"/>
                </a:solidFill>
                <a:latin typeface="League Spartan"/>
                <a:ea typeface="League Spartan"/>
                <a:cs typeface="League Spartan"/>
                <a:sym typeface="League Spartan"/>
              </a:rPr>
              <a:t>7. Define Your Ou</a:t>
            </a:r>
            <a:r>
              <a:rPr lang="en-US" sz="4000" b="1">
                <a:solidFill>
                  <a:srgbClr val="FFFEFE"/>
                </a:solidFill>
                <a:latin typeface="League Spartan"/>
                <a:ea typeface="League Spartan"/>
                <a:cs typeface="League Spartan"/>
                <a:sym typeface="League Spartan"/>
              </a:rPr>
              <a:t>tcomes</a:t>
            </a:r>
          </a:p>
        </p:txBody>
      </p:sp>
      <p:sp>
        <p:nvSpPr>
          <p:cNvPr id="11" name="TextBox 11"/>
          <p:cNvSpPr txBox="1"/>
          <p:nvPr/>
        </p:nvSpPr>
        <p:spPr>
          <a:xfrm>
            <a:off x="1446955" y="1720594"/>
            <a:ext cx="17512558" cy="1264920"/>
          </a:xfrm>
          <a:prstGeom prst="rect">
            <a:avLst/>
          </a:prstGeom>
        </p:spPr>
        <p:txBody>
          <a:bodyPr lIns="0" tIns="0" rIns="0" bIns="0" rtlCol="0" anchor="t">
            <a:spAutoFit/>
          </a:bodyPr>
          <a:lstStyle/>
          <a:p>
            <a:pPr algn="l">
              <a:lnSpc>
                <a:spcPts val="5220"/>
              </a:lnSpc>
            </a:pPr>
            <a:r>
              <a:rPr lang="en-US" sz="2900" dirty="0">
                <a:solidFill>
                  <a:srgbClr val="FFFFFF"/>
                </a:solidFill>
                <a:latin typeface="Open Sans"/>
                <a:ea typeface="Open Sans"/>
                <a:cs typeface="Open Sans"/>
                <a:sym typeface="Open Sans"/>
              </a:rPr>
              <a:t>What short- to medium-term changes do you expect to see? How will behavior, skills, or conditions change for your beneficiaries? What are realistic and measurable changes expected within 1–3 years?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2"/>
            <a:stretch>
              <a:fillRect r="-63" b="-168"/>
            </a:stretch>
          </a:blipFill>
        </p:spPr>
        <p:txBody>
          <a:bodyPr/>
          <a:lstStyle/>
          <a:p>
            <a:endParaRPr lang="en-GB"/>
          </a:p>
        </p:txBody>
      </p:sp>
      <p:sp>
        <p:nvSpPr>
          <p:cNvPr id="3" name="Freeform 3"/>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5"/>
            <a:stretch>
              <a:fillRect t="-84" r="-12821" b="-84"/>
            </a:stretch>
          </a:blipFill>
        </p:spPr>
        <p:txBody>
          <a:bodyPr/>
          <a:lstStyle/>
          <a:p>
            <a:endParaRPr lang="en-GB"/>
          </a:p>
        </p:txBody>
      </p:sp>
      <p:sp>
        <p:nvSpPr>
          <p:cNvPr id="5" name="Freeform 5"/>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6" name="Freeform 6"/>
          <p:cNvSpPr/>
          <p:nvPr/>
        </p:nvSpPr>
        <p:spPr>
          <a:xfrm rot="5400000">
            <a:off x="-5077618" y="5083971"/>
            <a:ext cx="11283953" cy="1128708"/>
          </a:xfrm>
          <a:custGeom>
            <a:avLst/>
            <a:gdLst/>
            <a:ahLst/>
            <a:cxnLst/>
            <a:rect l="l" t="t" r="r" b="b"/>
            <a:pathLst>
              <a:path w="11283953" h="1128708">
                <a:moveTo>
                  <a:pt x="0" y="0"/>
                </a:moveTo>
                <a:lnTo>
                  <a:pt x="11283953" y="0"/>
                </a:lnTo>
                <a:lnTo>
                  <a:pt x="11283953" y="1128708"/>
                </a:lnTo>
                <a:lnTo>
                  <a:pt x="0" y="1128708"/>
                </a:lnTo>
                <a:lnTo>
                  <a:pt x="0" y="0"/>
                </a:lnTo>
                <a:close/>
              </a:path>
            </a:pathLst>
          </a:custGeom>
          <a:blipFill>
            <a:blip r:embed="rId6"/>
            <a:stretch>
              <a:fillRect t="-447163" r="-112" b="-453684"/>
            </a:stretch>
          </a:blipFill>
        </p:spPr>
        <p:txBody>
          <a:bodyPr/>
          <a:lstStyle/>
          <a:p>
            <a:endParaRPr lang="en-GB"/>
          </a:p>
        </p:txBody>
      </p:sp>
      <p:grpSp>
        <p:nvGrpSpPr>
          <p:cNvPr id="7" name="Group 7"/>
          <p:cNvGrpSpPr/>
          <p:nvPr/>
        </p:nvGrpSpPr>
        <p:grpSpPr>
          <a:xfrm>
            <a:off x="1446955" y="3147438"/>
            <a:ext cx="17913625" cy="7727166"/>
            <a:chOff x="0" y="0"/>
            <a:chExt cx="4299942" cy="1854810"/>
          </a:xfrm>
        </p:grpSpPr>
        <p:sp>
          <p:nvSpPr>
            <p:cNvPr id="8" name="Freeform 8"/>
            <p:cNvSpPr/>
            <p:nvPr/>
          </p:nvSpPr>
          <p:spPr>
            <a:xfrm>
              <a:off x="0" y="0"/>
              <a:ext cx="4299942" cy="1854810"/>
            </a:xfrm>
            <a:custGeom>
              <a:avLst/>
              <a:gdLst/>
              <a:ahLst/>
              <a:cxnLst/>
              <a:rect l="l" t="t" r="r" b="b"/>
              <a:pathLst>
                <a:path w="4299942" h="1854810">
                  <a:moveTo>
                    <a:pt x="12101" y="0"/>
                  </a:moveTo>
                  <a:lnTo>
                    <a:pt x="4287841" y="0"/>
                  </a:lnTo>
                  <a:cubicBezTo>
                    <a:pt x="4294524" y="0"/>
                    <a:pt x="4299942" y="5418"/>
                    <a:pt x="4299942" y="12101"/>
                  </a:cubicBezTo>
                  <a:lnTo>
                    <a:pt x="4299942" y="1842709"/>
                  </a:lnTo>
                  <a:cubicBezTo>
                    <a:pt x="4299942" y="1845918"/>
                    <a:pt x="4298667" y="1848996"/>
                    <a:pt x="4296397" y="1851265"/>
                  </a:cubicBezTo>
                  <a:cubicBezTo>
                    <a:pt x="4294128" y="1853535"/>
                    <a:pt x="4291050" y="1854810"/>
                    <a:pt x="4287841" y="1854810"/>
                  </a:cubicBezTo>
                  <a:lnTo>
                    <a:pt x="12101" y="1854810"/>
                  </a:lnTo>
                  <a:cubicBezTo>
                    <a:pt x="8892" y="1854810"/>
                    <a:pt x="5814" y="1853535"/>
                    <a:pt x="3544" y="1851265"/>
                  </a:cubicBezTo>
                  <a:cubicBezTo>
                    <a:pt x="1275" y="1848996"/>
                    <a:pt x="0" y="1845918"/>
                    <a:pt x="0" y="1842709"/>
                  </a:cubicBezTo>
                  <a:lnTo>
                    <a:pt x="0" y="12101"/>
                  </a:lnTo>
                  <a:cubicBezTo>
                    <a:pt x="0" y="8892"/>
                    <a:pt x="1275" y="5814"/>
                    <a:pt x="3544" y="3544"/>
                  </a:cubicBezTo>
                  <a:cubicBezTo>
                    <a:pt x="5814" y="1275"/>
                    <a:pt x="8892" y="0"/>
                    <a:pt x="12101" y="0"/>
                  </a:cubicBezTo>
                  <a:close/>
                </a:path>
              </a:pathLst>
            </a:custGeom>
            <a:solidFill>
              <a:srgbClr val="08C8A1"/>
            </a:solidFill>
          </p:spPr>
          <p:txBody>
            <a:bodyPr/>
            <a:lstStyle/>
            <a:p>
              <a:pPr marL="571500" indent="-571500">
                <a:lnSpc>
                  <a:spcPct val="200000"/>
                </a:lnSpc>
                <a:buFont typeface="+mj-lt"/>
                <a:buAutoNum type="romanUcPeriod"/>
              </a:pPr>
              <a:r>
                <a:rPr lang="en-GB" sz="2900" dirty="0">
                  <a:latin typeface="Open Sans" panose="020B0606030504020204" pitchFamily="34" charset="0"/>
                  <a:ea typeface="Open Sans" panose="020B0606030504020204" pitchFamily="34" charset="0"/>
                  <a:cs typeface="Open Sans" panose="020B0606030504020204" pitchFamily="34" charset="0"/>
                </a:rPr>
                <a:t>Interest in voluntary blood donations.</a:t>
              </a:r>
            </a:p>
            <a:p>
              <a:pPr marL="571500" indent="-571500">
                <a:lnSpc>
                  <a:spcPct val="200000"/>
                </a:lnSpc>
                <a:buFont typeface="+mj-lt"/>
                <a:buAutoNum type="romanUcPeriod"/>
              </a:pPr>
              <a:r>
                <a:rPr lang="en-GB" sz="2900" dirty="0">
                  <a:latin typeface="Open Sans" panose="020B0606030504020204" pitchFamily="34" charset="0"/>
                  <a:ea typeface="Open Sans" panose="020B0606030504020204" pitchFamily="34" charset="0"/>
                  <a:cs typeface="Open Sans" panose="020B0606030504020204" pitchFamily="34" charset="0"/>
                </a:rPr>
                <a:t>Stakeholder buy-in.</a:t>
              </a:r>
            </a:p>
            <a:p>
              <a:pPr marL="571500" indent="-571500">
                <a:lnSpc>
                  <a:spcPct val="200000"/>
                </a:lnSpc>
                <a:buFont typeface="+mj-lt"/>
                <a:buAutoNum type="romanUcPeriod"/>
              </a:pPr>
              <a:r>
                <a:rPr lang="en-GB" sz="2900" dirty="0">
                  <a:latin typeface="Open Sans" panose="020B0606030504020204" pitchFamily="34" charset="0"/>
                  <a:ea typeface="Open Sans" panose="020B0606030504020204" pitchFamily="34" charset="0"/>
                  <a:cs typeface="Open Sans" panose="020B0606030504020204" pitchFamily="34" charset="0"/>
                </a:rPr>
                <a:t>Regular stability on digital technologies.</a:t>
              </a:r>
            </a:p>
          </p:txBody>
        </p:sp>
        <p:sp>
          <p:nvSpPr>
            <p:cNvPr id="9" name="TextBox 9"/>
            <p:cNvSpPr txBox="1"/>
            <p:nvPr/>
          </p:nvSpPr>
          <p:spPr>
            <a:xfrm>
              <a:off x="0" y="-171450"/>
              <a:ext cx="4299942" cy="2026260"/>
            </a:xfrm>
            <a:prstGeom prst="rect">
              <a:avLst/>
            </a:prstGeom>
          </p:spPr>
          <p:txBody>
            <a:bodyPr lIns="50800" tIns="50800" rIns="50800" bIns="50800" rtlCol="0" anchor="ctr"/>
            <a:lstStyle/>
            <a:p>
              <a:pPr algn="ctr">
                <a:lnSpc>
                  <a:spcPts val="5220"/>
                </a:lnSpc>
              </a:pPr>
              <a:endParaRPr/>
            </a:p>
          </p:txBody>
        </p:sp>
      </p:grpSp>
      <p:sp>
        <p:nvSpPr>
          <p:cNvPr id="10" name="TextBox 10"/>
          <p:cNvSpPr txBox="1"/>
          <p:nvPr/>
        </p:nvSpPr>
        <p:spPr>
          <a:xfrm>
            <a:off x="1446955" y="1042987"/>
            <a:ext cx="8784175" cy="688974"/>
          </a:xfrm>
          <a:prstGeom prst="rect">
            <a:avLst/>
          </a:prstGeom>
        </p:spPr>
        <p:txBody>
          <a:bodyPr lIns="0" tIns="0" rIns="0" bIns="0" rtlCol="0" anchor="t">
            <a:spAutoFit/>
          </a:bodyPr>
          <a:lstStyle/>
          <a:p>
            <a:pPr algn="l">
              <a:lnSpc>
                <a:spcPts val="5600"/>
              </a:lnSpc>
            </a:pPr>
            <a:r>
              <a:rPr lang="en-US" sz="4000">
                <a:solidFill>
                  <a:srgbClr val="FFFEFE"/>
                </a:solidFill>
                <a:latin typeface="League Spartan"/>
                <a:ea typeface="League Spartan"/>
                <a:cs typeface="League Spartan"/>
                <a:sym typeface="League Spartan"/>
              </a:rPr>
              <a:t>8. Map the Assump</a:t>
            </a:r>
            <a:r>
              <a:rPr lang="en-US" sz="4000" b="1">
                <a:solidFill>
                  <a:srgbClr val="FFFEFE"/>
                </a:solidFill>
                <a:latin typeface="League Spartan"/>
                <a:ea typeface="League Spartan"/>
                <a:cs typeface="League Spartan"/>
                <a:sym typeface="League Spartan"/>
              </a:rPr>
              <a:t>tions</a:t>
            </a:r>
          </a:p>
        </p:txBody>
      </p:sp>
      <p:sp>
        <p:nvSpPr>
          <p:cNvPr id="11" name="TextBox 11"/>
          <p:cNvSpPr txBox="1"/>
          <p:nvPr/>
        </p:nvSpPr>
        <p:spPr>
          <a:xfrm>
            <a:off x="1446955" y="1720594"/>
            <a:ext cx="17512558" cy="1264920"/>
          </a:xfrm>
          <a:prstGeom prst="rect">
            <a:avLst/>
          </a:prstGeom>
        </p:spPr>
        <p:txBody>
          <a:bodyPr lIns="0" tIns="0" rIns="0" bIns="0" rtlCol="0" anchor="t">
            <a:spAutoFit/>
          </a:bodyPr>
          <a:lstStyle/>
          <a:p>
            <a:pPr algn="l">
              <a:lnSpc>
                <a:spcPts val="5220"/>
              </a:lnSpc>
            </a:pPr>
            <a:r>
              <a:rPr lang="en-US" sz="2900">
                <a:solidFill>
                  <a:srgbClr val="FFFFFF"/>
                </a:solidFill>
                <a:latin typeface="Open Sans"/>
                <a:ea typeface="Open Sans"/>
                <a:cs typeface="Open Sans"/>
                <a:sym typeface="Open Sans"/>
              </a:rPr>
              <a:t>What conditions must hold true for your ToC to succeed? What assumptions are you making about how change happens? Are there external factors or risks that could affect your outcomes?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2"/>
            <a:stretch>
              <a:fillRect r="-63" b="-168"/>
            </a:stretch>
          </a:blipFill>
        </p:spPr>
        <p:txBody>
          <a:bodyPr/>
          <a:lstStyle/>
          <a:p>
            <a:endParaRPr lang="en-GB"/>
          </a:p>
        </p:txBody>
      </p:sp>
      <p:sp>
        <p:nvSpPr>
          <p:cNvPr id="3" name="Freeform 3"/>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5"/>
            <a:stretch>
              <a:fillRect t="-84" r="-12821" b="-84"/>
            </a:stretch>
          </a:blipFill>
        </p:spPr>
        <p:txBody>
          <a:bodyPr/>
          <a:lstStyle/>
          <a:p>
            <a:endParaRPr lang="en-GB"/>
          </a:p>
        </p:txBody>
      </p:sp>
      <p:sp>
        <p:nvSpPr>
          <p:cNvPr id="5" name="Freeform 5"/>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6" name="Freeform 6"/>
          <p:cNvSpPr/>
          <p:nvPr/>
        </p:nvSpPr>
        <p:spPr>
          <a:xfrm rot="5400000">
            <a:off x="-5077618" y="5083971"/>
            <a:ext cx="11283953" cy="1128708"/>
          </a:xfrm>
          <a:custGeom>
            <a:avLst/>
            <a:gdLst/>
            <a:ahLst/>
            <a:cxnLst/>
            <a:rect l="l" t="t" r="r" b="b"/>
            <a:pathLst>
              <a:path w="11283953" h="1128708">
                <a:moveTo>
                  <a:pt x="0" y="0"/>
                </a:moveTo>
                <a:lnTo>
                  <a:pt x="11283953" y="0"/>
                </a:lnTo>
                <a:lnTo>
                  <a:pt x="11283953" y="1128708"/>
                </a:lnTo>
                <a:lnTo>
                  <a:pt x="0" y="1128708"/>
                </a:lnTo>
                <a:lnTo>
                  <a:pt x="0" y="0"/>
                </a:lnTo>
                <a:close/>
              </a:path>
            </a:pathLst>
          </a:custGeom>
          <a:blipFill>
            <a:blip r:embed="rId6"/>
            <a:stretch>
              <a:fillRect t="-447163" r="-112" b="-453684"/>
            </a:stretch>
          </a:blipFill>
        </p:spPr>
        <p:txBody>
          <a:bodyPr/>
          <a:lstStyle/>
          <a:p>
            <a:endParaRPr lang="en-GB"/>
          </a:p>
        </p:txBody>
      </p:sp>
      <p:grpSp>
        <p:nvGrpSpPr>
          <p:cNvPr id="7" name="Group 7"/>
          <p:cNvGrpSpPr/>
          <p:nvPr/>
        </p:nvGrpSpPr>
        <p:grpSpPr>
          <a:xfrm>
            <a:off x="1446955" y="3147438"/>
            <a:ext cx="17913625" cy="7526632"/>
            <a:chOff x="0" y="0"/>
            <a:chExt cx="4299942" cy="1806674"/>
          </a:xfrm>
        </p:grpSpPr>
        <p:sp>
          <p:nvSpPr>
            <p:cNvPr id="8" name="Freeform 8"/>
            <p:cNvSpPr/>
            <p:nvPr/>
          </p:nvSpPr>
          <p:spPr>
            <a:xfrm>
              <a:off x="0" y="0"/>
              <a:ext cx="4299942" cy="1806674"/>
            </a:xfrm>
            <a:custGeom>
              <a:avLst/>
              <a:gdLst/>
              <a:ahLst/>
              <a:cxnLst/>
              <a:rect l="l" t="t" r="r" b="b"/>
              <a:pathLst>
                <a:path w="4299942" h="1806674">
                  <a:moveTo>
                    <a:pt x="12101" y="0"/>
                  </a:moveTo>
                  <a:lnTo>
                    <a:pt x="4287841" y="0"/>
                  </a:lnTo>
                  <a:cubicBezTo>
                    <a:pt x="4294524" y="0"/>
                    <a:pt x="4299942" y="5418"/>
                    <a:pt x="4299942" y="12101"/>
                  </a:cubicBezTo>
                  <a:lnTo>
                    <a:pt x="4299942" y="1794573"/>
                  </a:lnTo>
                  <a:cubicBezTo>
                    <a:pt x="4299942" y="1797782"/>
                    <a:pt x="4298667" y="1800860"/>
                    <a:pt x="4296397" y="1803130"/>
                  </a:cubicBezTo>
                  <a:cubicBezTo>
                    <a:pt x="4294128" y="1805399"/>
                    <a:pt x="4291050" y="1806674"/>
                    <a:pt x="4287841" y="1806674"/>
                  </a:cubicBezTo>
                  <a:lnTo>
                    <a:pt x="12101" y="1806674"/>
                  </a:lnTo>
                  <a:cubicBezTo>
                    <a:pt x="8892" y="1806674"/>
                    <a:pt x="5814" y="1805399"/>
                    <a:pt x="3544" y="1803130"/>
                  </a:cubicBezTo>
                  <a:cubicBezTo>
                    <a:pt x="1275" y="1800860"/>
                    <a:pt x="0" y="1797782"/>
                    <a:pt x="0" y="1794573"/>
                  </a:cubicBezTo>
                  <a:lnTo>
                    <a:pt x="0" y="12101"/>
                  </a:lnTo>
                  <a:cubicBezTo>
                    <a:pt x="0" y="8892"/>
                    <a:pt x="1275" y="5814"/>
                    <a:pt x="3544" y="3544"/>
                  </a:cubicBezTo>
                  <a:cubicBezTo>
                    <a:pt x="5814" y="1275"/>
                    <a:pt x="8892" y="0"/>
                    <a:pt x="12101" y="0"/>
                  </a:cubicBezTo>
                  <a:close/>
                </a:path>
              </a:pathLst>
            </a:custGeom>
            <a:solidFill>
              <a:srgbClr val="08C8A1"/>
            </a:solidFill>
          </p:spPr>
          <p:txBody>
            <a:bodyPr/>
            <a:lstStyle/>
            <a:p>
              <a:pPr>
                <a:lnSpc>
                  <a:spcPct val="150000"/>
                </a:lnSpc>
              </a:pPr>
              <a:r>
                <a:rPr lang="en-GB" sz="2900" dirty="0"/>
                <a:t>Our success is measured by key indicators:  30% increase in recurring blood donors and a 20% reduction in blood wastage. Our platform's predictive algorithms ensure that blood is delivered to the right patients at the right time, based on real-time demand. </a:t>
              </a:r>
              <a:endParaRPr lang="en-KE" sz="2900" dirty="0"/>
            </a:p>
            <a:p>
              <a:pPr marR="1270" algn="just">
                <a:lnSpc>
                  <a:spcPct val="150000"/>
                </a:lnSpc>
                <a:spcAft>
                  <a:spcPts val="1000"/>
                </a:spcAft>
                <a:tabLst>
                  <a:tab pos="251460" algn="l"/>
                </a:tabLst>
              </a:pPr>
              <a:r>
                <a:rPr lang="en-GB" sz="2900" b="1" dirty="0">
                  <a:latin typeface="Open Sans" panose="020B0606030504020204" pitchFamily="34" charset="0"/>
                  <a:ea typeface="Open Sans" panose="020B0606030504020204" pitchFamily="34" charset="0"/>
                  <a:cs typeface="Open Sans" panose="020B0606030504020204" pitchFamily="34" charset="0"/>
                </a:rPr>
                <a:t>ACCESS:</a:t>
              </a:r>
            </a:p>
            <a:p>
              <a:pPr marL="1028700" marR="1270" lvl="1" indent="-571500" algn="just">
                <a:lnSpc>
                  <a:spcPct val="150000"/>
                </a:lnSpc>
                <a:spcAft>
                  <a:spcPts val="1000"/>
                </a:spcAft>
                <a:buFont typeface="+mj-lt"/>
                <a:buAutoNum type="romanUcPeriod"/>
              </a:pPr>
              <a:r>
                <a:rPr lang="en-US" sz="2900" dirty="0">
                  <a:solidFill>
                    <a:srgbClr val="000000"/>
                  </a:solidFill>
                  <a:latin typeface="Open Sans" panose="020B0606030504020204" pitchFamily="34" charset="0"/>
                  <a:ea typeface="Open Sans" panose="020B0606030504020204" pitchFamily="34" charset="0"/>
                  <a:cs typeface="Open Sans" panose="020B0606030504020204" pitchFamily="34" charset="0"/>
                </a:rPr>
                <a:t>A working Predictive Model algorithm.</a:t>
              </a:r>
            </a:p>
            <a:p>
              <a:pPr marL="1028700" marR="1270" lvl="1" indent="-571500" algn="just">
                <a:lnSpc>
                  <a:spcPct val="150000"/>
                </a:lnSpc>
                <a:spcAft>
                  <a:spcPts val="1000"/>
                </a:spcAft>
                <a:buFont typeface="+mj-lt"/>
                <a:buAutoNum type="romanUcPeriod"/>
              </a:pPr>
              <a:r>
                <a:rPr lang="en-US" sz="2900" dirty="0">
                  <a:solidFill>
                    <a:srgbClr val="000000"/>
                  </a:solidFill>
                  <a:latin typeface="Open Sans" panose="020B0606030504020204" pitchFamily="34" charset="0"/>
                  <a:ea typeface="Open Sans" panose="020B0606030504020204" pitchFamily="34" charset="0"/>
                  <a:cs typeface="Open Sans" panose="020B0606030504020204" pitchFamily="34" charset="0"/>
                </a:rPr>
                <a:t>Number of target blood drive sites.</a:t>
              </a:r>
            </a:p>
            <a:p>
              <a:pPr marL="1028700" marR="1270" lvl="1" indent="-571500" algn="just">
                <a:lnSpc>
                  <a:spcPct val="150000"/>
                </a:lnSpc>
                <a:spcAft>
                  <a:spcPts val="1000"/>
                </a:spcAft>
                <a:buFont typeface="+mj-lt"/>
                <a:buAutoNum type="romanUcPeriod"/>
              </a:pPr>
              <a:r>
                <a:rPr lang="en-US" sz="2900">
                  <a:solidFill>
                    <a:srgbClr val="000000"/>
                  </a:solidFill>
                  <a:latin typeface="Open Sans" panose="020B0606030504020204" pitchFamily="34" charset="0"/>
                  <a:ea typeface="Open Sans" panose="020B0606030504020204" pitchFamily="34" charset="0"/>
                  <a:cs typeface="Open Sans" panose="020B0606030504020204" pitchFamily="34" charset="0"/>
                </a:rPr>
                <a:t>Number </a:t>
              </a:r>
              <a:r>
                <a:rPr lang="en-US" sz="2900" dirty="0">
                  <a:solidFill>
                    <a:srgbClr val="000000"/>
                  </a:solidFill>
                  <a:latin typeface="Open Sans" panose="020B0606030504020204" pitchFamily="34" charset="0"/>
                  <a:ea typeface="Open Sans" panose="020B0606030504020204" pitchFamily="34" charset="0"/>
                  <a:cs typeface="Open Sans" panose="020B0606030504020204" pitchFamily="34" charset="0"/>
                </a:rPr>
                <a:t>of recurrent donors. </a:t>
              </a:r>
            </a:p>
            <a:p>
              <a:pPr marR="1270" algn="just">
                <a:lnSpc>
                  <a:spcPct val="150000"/>
                </a:lnSpc>
                <a:spcAft>
                  <a:spcPts val="1000"/>
                </a:spcAft>
                <a:tabLst>
                  <a:tab pos="200660" algn="l"/>
                </a:tabLst>
              </a:pPr>
              <a:r>
                <a:rPr lang="en-US" sz="29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PROCESSING: </a:t>
              </a:r>
              <a:r>
                <a:rPr lang="en-US" sz="2900" dirty="0">
                  <a:latin typeface="Open Sans" panose="020B0606030504020204" pitchFamily="34" charset="0"/>
                  <a:ea typeface="Open Sans" panose="020B0606030504020204" pitchFamily="34" charset="0"/>
                  <a:cs typeface="Open Sans" panose="020B0606030504020204" pitchFamily="34" charset="0"/>
                </a:rPr>
                <a:t>Temperature monitoring.</a:t>
              </a:r>
            </a:p>
            <a:p>
              <a:pPr marR="1270" algn="just">
                <a:lnSpc>
                  <a:spcPct val="150000"/>
                </a:lnSpc>
                <a:spcAft>
                  <a:spcPts val="1000"/>
                </a:spcAft>
                <a:tabLst>
                  <a:tab pos="200660" algn="l"/>
                </a:tabLst>
              </a:pPr>
              <a:r>
                <a:rPr lang="en-US" sz="2900" b="1" dirty="0">
                  <a:latin typeface="Open Sans" panose="020B0606030504020204" pitchFamily="34" charset="0"/>
                  <a:ea typeface="Open Sans" panose="020B0606030504020204" pitchFamily="34" charset="0"/>
                  <a:cs typeface="Open Sans" panose="020B0606030504020204" pitchFamily="34" charset="0"/>
                </a:rPr>
                <a:t>DISTRIBUTION</a:t>
              </a:r>
              <a:r>
                <a:rPr lang="en-US" sz="2900" b="1" dirty="0">
                  <a:solidFill>
                    <a:srgbClr val="000000"/>
                  </a:solidFill>
                  <a:latin typeface="Open Sans" panose="020B0606030504020204" pitchFamily="34" charset="0"/>
                  <a:ea typeface="Open Sans" panose="020B0606030504020204" pitchFamily="34" charset="0"/>
                  <a:cs typeface="Open Sans" panose="020B0606030504020204" pitchFamily="34" charset="0"/>
                </a:rPr>
                <a:t>: </a:t>
              </a:r>
              <a:r>
                <a:rPr lang="en-US" sz="2900" dirty="0">
                  <a:latin typeface="Open Sans" panose="020B0606030504020204" pitchFamily="34" charset="0"/>
                  <a:ea typeface="Open Sans" panose="020B0606030504020204" pitchFamily="34" charset="0"/>
                  <a:cs typeface="Open Sans" panose="020B0606030504020204" pitchFamily="34" charset="0"/>
                </a:rPr>
                <a:t>Blood products catalogue and inventory; Number of requests for patient transfusions.</a:t>
              </a:r>
              <a:endParaRPr lang="en-GB" sz="2900" dirty="0">
                <a:latin typeface="Open Sans" panose="020B0606030504020204" pitchFamily="34" charset="0"/>
                <a:ea typeface="Open Sans" panose="020B0606030504020204" pitchFamily="34" charset="0"/>
                <a:cs typeface="Open Sans" panose="020B0606030504020204" pitchFamily="34" charset="0"/>
              </a:endParaRPr>
            </a:p>
            <a:p>
              <a:endParaRPr lang="en-GB" sz="2900" dirty="0">
                <a:latin typeface="Open Sans" panose="020B0606030504020204" pitchFamily="34" charset="0"/>
                <a:ea typeface="Open Sans" panose="020B0606030504020204" pitchFamily="34" charset="0"/>
                <a:cs typeface="Open Sans" panose="020B0606030504020204" pitchFamily="34" charset="0"/>
              </a:endParaRPr>
            </a:p>
            <a:p>
              <a:endParaRPr lang="en-GB" sz="2900" dirty="0">
                <a:latin typeface="Open Sans" panose="020B0606030504020204" pitchFamily="34" charset="0"/>
                <a:ea typeface="Open Sans" panose="020B0606030504020204" pitchFamily="34" charset="0"/>
                <a:cs typeface="Open Sans" panose="020B0606030504020204" pitchFamily="34" charset="0"/>
              </a:endParaRPr>
            </a:p>
          </p:txBody>
        </p:sp>
        <p:sp>
          <p:nvSpPr>
            <p:cNvPr id="9" name="TextBox 9"/>
            <p:cNvSpPr txBox="1"/>
            <p:nvPr/>
          </p:nvSpPr>
          <p:spPr>
            <a:xfrm>
              <a:off x="0" y="-171450"/>
              <a:ext cx="4299942" cy="1978124"/>
            </a:xfrm>
            <a:prstGeom prst="rect">
              <a:avLst/>
            </a:prstGeom>
          </p:spPr>
          <p:txBody>
            <a:bodyPr lIns="50800" tIns="50800" rIns="50800" bIns="50800" rtlCol="0" anchor="ctr"/>
            <a:lstStyle/>
            <a:p>
              <a:pPr algn="ctr">
                <a:lnSpc>
                  <a:spcPts val="5220"/>
                </a:lnSpc>
              </a:pPr>
              <a:endParaRPr/>
            </a:p>
          </p:txBody>
        </p:sp>
      </p:grpSp>
      <p:sp>
        <p:nvSpPr>
          <p:cNvPr id="10" name="TextBox 10"/>
          <p:cNvSpPr txBox="1"/>
          <p:nvPr/>
        </p:nvSpPr>
        <p:spPr>
          <a:xfrm>
            <a:off x="1446955" y="1042987"/>
            <a:ext cx="8784175" cy="688974"/>
          </a:xfrm>
          <a:prstGeom prst="rect">
            <a:avLst/>
          </a:prstGeom>
        </p:spPr>
        <p:txBody>
          <a:bodyPr lIns="0" tIns="0" rIns="0" bIns="0" rtlCol="0" anchor="t">
            <a:spAutoFit/>
          </a:bodyPr>
          <a:lstStyle/>
          <a:p>
            <a:pPr algn="l">
              <a:lnSpc>
                <a:spcPts val="5600"/>
              </a:lnSpc>
            </a:pPr>
            <a:r>
              <a:rPr lang="en-US" sz="4000">
                <a:solidFill>
                  <a:srgbClr val="FFFEFE"/>
                </a:solidFill>
                <a:latin typeface="League Spartan"/>
                <a:ea typeface="League Spartan"/>
                <a:cs typeface="League Spartan"/>
                <a:sym typeface="League Spartan"/>
              </a:rPr>
              <a:t>9. Define Ind</a:t>
            </a:r>
            <a:r>
              <a:rPr lang="en-US" sz="4000" b="1">
                <a:solidFill>
                  <a:srgbClr val="FFFEFE"/>
                </a:solidFill>
                <a:latin typeface="League Spartan"/>
                <a:ea typeface="League Spartan"/>
                <a:cs typeface="League Spartan"/>
                <a:sym typeface="League Spartan"/>
              </a:rPr>
              <a:t>icators of Success</a:t>
            </a:r>
          </a:p>
        </p:txBody>
      </p:sp>
      <p:sp>
        <p:nvSpPr>
          <p:cNvPr id="11" name="TextBox 11"/>
          <p:cNvSpPr txBox="1"/>
          <p:nvPr/>
        </p:nvSpPr>
        <p:spPr>
          <a:xfrm>
            <a:off x="1446955" y="1720594"/>
            <a:ext cx="17512558" cy="1264920"/>
          </a:xfrm>
          <a:prstGeom prst="rect">
            <a:avLst/>
          </a:prstGeom>
        </p:spPr>
        <p:txBody>
          <a:bodyPr lIns="0" tIns="0" rIns="0" bIns="0" rtlCol="0" anchor="t">
            <a:spAutoFit/>
          </a:bodyPr>
          <a:lstStyle/>
          <a:p>
            <a:pPr algn="l">
              <a:lnSpc>
                <a:spcPts val="5220"/>
              </a:lnSpc>
            </a:pPr>
            <a:r>
              <a:rPr lang="en-US" sz="2900">
                <a:solidFill>
                  <a:srgbClr val="FFFFFF"/>
                </a:solidFill>
                <a:latin typeface="Open Sans"/>
                <a:ea typeface="Open Sans"/>
                <a:cs typeface="Open Sans"/>
                <a:sym typeface="Open Sans"/>
              </a:rPr>
              <a:t>How will you know if you're making progress? What will you measure at each stage (outputs, outcomes, impact)? What data sources will you use?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2"/>
            <a:stretch>
              <a:fillRect r="-63" b="-168"/>
            </a:stretch>
          </a:blipFill>
        </p:spPr>
        <p:txBody>
          <a:bodyPr/>
          <a:lstStyle/>
          <a:p>
            <a:endParaRPr lang="en-GB"/>
          </a:p>
        </p:txBody>
      </p:sp>
      <p:sp>
        <p:nvSpPr>
          <p:cNvPr id="3" name="Freeform 3"/>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5"/>
            <a:stretch>
              <a:fillRect t="-84" r="-12821" b="-84"/>
            </a:stretch>
          </a:blipFill>
        </p:spPr>
        <p:txBody>
          <a:bodyPr/>
          <a:lstStyle/>
          <a:p>
            <a:endParaRPr lang="en-GB"/>
          </a:p>
        </p:txBody>
      </p:sp>
      <p:sp>
        <p:nvSpPr>
          <p:cNvPr id="5" name="Freeform 5"/>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6" name="Freeform 6"/>
          <p:cNvSpPr/>
          <p:nvPr/>
        </p:nvSpPr>
        <p:spPr>
          <a:xfrm rot="5400000">
            <a:off x="-5077618" y="5083971"/>
            <a:ext cx="11283953" cy="1128708"/>
          </a:xfrm>
          <a:custGeom>
            <a:avLst/>
            <a:gdLst/>
            <a:ahLst/>
            <a:cxnLst/>
            <a:rect l="l" t="t" r="r" b="b"/>
            <a:pathLst>
              <a:path w="11283953" h="1128708">
                <a:moveTo>
                  <a:pt x="0" y="0"/>
                </a:moveTo>
                <a:lnTo>
                  <a:pt x="11283953" y="0"/>
                </a:lnTo>
                <a:lnTo>
                  <a:pt x="11283953" y="1128708"/>
                </a:lnTo>
                <a:lnTo>
                  <a:pt x="0" y="1128708"/>
                </a:lnTo>
                <a:lnTo>
                  <a:pt x="0" y="0"/>
                </a:lnTo>
                <a:close/>
              </a:path>
            </a:pathLst>
          </a:custGeom>
          <a:blipFill>
            <a:blip r:embed="rId6"/>
            <a:stretch>
              <a:fillRect t="-447163" r="-112" b="-453684"/>
            </a:stretch>
          </a:blipFill>
        </p:spPr>
        <p:txBody>
          <a:bodyPr/>
          <a:lstStyle/>
          <a:p>
            <a:endParaRPr lang="en-GB"/>
          </a:p>
        </p:txBody>
      </p:sp>
      <p:grpSp>
        <p:nvGrpSpPr>
          <p:cNvPr id="7" name="Group 7"/>
          <p:cNvGrpSpPr/>
          <p:nvPr/>
        </p:nvGrpSpPr>
        <p:grpSpPr>
          <a:xfrm>
            <a:off x="1504950" y="1743435"/>
            <a:ext cx="17740987" cy="8652227"/>
            <a:chOff x="0" y="0"/>
            <a:chExt cx="4258502" cy="2076859"/>
          </a:xfrm>
        </p:grpSpPr>
        <p:sp>
          <p:nvSpPr>
            <p:cNvPr id="8" name="Freeform 8"/>
            <p:cNvSpPr/>
            <p:nvPr/>
          </p:nvSpPr>
          <p:spPr>
            <a:xfrm>
              <a:off x="0" y="0"/>
              <a:ext cx="4258502" cy="2076859"/>
            </a:xfrm>
            <a:custGeom>
              <a:avLst/>
              <a:gdLst/>
              <a:ahLst/>
              <a:cxnLst/>
              <a:rect l="l" t="t" r="r" b="b"/>
              <a:pathLst>
                <a:path w="4258502" h="2076859">
                  <a:moveTo>
                    <a:pt x="12219" y="0"/>
                  </a:moveTo>
                  <a:lnTo>
                    <a:pt x="4246284" y="0"/>
                  </a:lnTo>
                  <a:cubicBezTo>
                    <a:pt x="4249524" y="0"/>
                    <a:pt x="4252632" y="1287"/>
                    <a:pt x="4254924" y="3579"/>
                  </a:cubicBezTo>
                  <a:cubicBezTo>
                    <a:pt x="4257215" y="5870"/>
                    <a:pt x="4258502" y="8978"/>
                    <a:pt x="4258502" y="12219"/>
                  </a:cubicBezTo>
                  <a:lnTo>
                    <a:pt x="4258502" y="2064640"/>
                  </a:lnTo>
                  <a:cubicBezTo>
                    <a:pt x="4258502" y="2071388"/>
                    <a:pt x="4253032" y="2076859"/>
                    <a:pt x="4246284" y="2076859"/>
                  </a:cubicBezTo>
                  <a:lnTo>
                    <a:pt x="12219" y="2076859"/>
                  </a:lnTo>
                  <a:cubicBezTo>
                    <a:pt x="8978" y="2076859"/>
                    <a:pt x="5870" y="2075572"/>
                    <a:pt x="3579" y="2073280"/>
                  </a:cubicBezTo>
                  <a:cubicBezTo>
                    <a:pt x="1287" y="2070989"/>
                    <a:pt x="0" y="2067881"/>
                    <a:pt x="0" y="2064640"/>
                  </a:cubicBezTo>
                  <a:lnTo>
                    <a:pt x="0" y="12219"/>
                  </a:lnTo>
                  <a:cubicBezTo>
                    <a:pt x="0" y="8978"/>
                    <a:pt x="1287" y="5870"/>
                    <a:pt x="3579" y="3579"/>
                  </a:cubicBezTo>
                  <a:cubicBezTo>
                    <a:pt x="5870" y="1287"/>
                    <a:pt x="8978" y="0"/>
                    <a:pt x="12219" y="0"/>
                  </a:cubicBezTo>
                  <a:close/>
                </a:path>
              </a:pathLst>
            </a:custGeom>
            <a:solidFill>
              <a:srgbClr val="08C8A1"/>
            </a:solidFill>
          </p:spPr>
          <p:txBody>
            <a:bodyPr/>
            <a:lstStyle/>
            <a:p>
              <a:endParaRPr lang="en-GB"/>
            </a:p>
          </p:txBody>
        </p:sp>
        <p:sp>
          <p:nvSpPr>
            <p:cNvPr id="9" name="TextBox 9"/>
            <p:cNvSpPr txBox="1"/>
            <p:nvPr/>
          </p:nvSpPr>
          <p:spPr>
            <a:xfrm>
              <a:off x="0" y="-171450"/>
              <a:ext cx="4258502" cy="2248309"/>
            </a:xfrm>
            <a:prstGeom prst="rect">
              <a:avLst/>
            </a:prstGeom>
          </p:spPr>
          <p:txBody>
            <a:bodyPr lIns="50800" tIns="50800" rIns="50800" bIns="50800" rtlCol="0" anchor="ctr"/>
            <a:lstStyle/>
            <a:p>
              <a:pPr algn="ctr">
                <a:lnSpc>
                  <a:spcPts val="5220"/>
                </a:lnSpc>
              </a:pPr>
              <a:endParaRPr/>
            </a:p>
          </p:txBody>
        </p:sp>
      </p:grpSp>
      <p:sp>
        <p:nvSpPr>
          <p:cNvPr id="10" name="TextBox 10"/>
          <p:cNvSpPr txBox="1"/>
          <p:nvPr/>
        </p:nvSpPr>
        <p:spPr>
          <a:xfrm>
            <a:off x="1807192" y="1062037"/>
            <a:ext cx="5938921" cy="596899"/>
          </a:xfrm>
          <a:prstGeom prst="rect">
            <a:avLst/>
          </a:prstGeom>
        </p:spPr>
        <p:txBody>
          <a:bodyPr lIns="0" tIns="0" rIns="0" bIns="0" rtlCol="0" anchor="t">
            <a:spAutoFit/>
          </a:bodyPr>
          <a:lstStyle/>
          <a:p>
            <a:pPr algn="l">
              <a:lnSpc>
                <a:spcPts val="4900"/>
              </a:lnSpc>
            </a:pPr>
            <a:r>
              <a:rPr lang="en-US" sz="3500">
                <a:solidFill>
                  <a:srgbClr val="FFFEFE"/>
                </a:solidFill>
                <a:latin typeface="League Spartan"/>
                <a:ea typeface="League Spartan"/>
                <a:cs typeface="League Spartan"/>
                <a:sym typeface="League Spartan"/>
              </a:rPr>
              <a:t>Final Theory of Change</a:t>
            </a:r>
          </a:p>
        </p:txBody>
      </p:sp>
      <p:grpSp>
        <p:nvGrpSpPr>
          <p:cNvPr id="11" name="Group 10">
            <a:extLst>
              <a:ext uri="{FF2B5EF4-FFF2-40B4-BE49-F238E27FC236}">
                <a16:creationId xmlns:a16="http://schemas.microsoft.com/office/drawing/2014/main" id="{C56212B0-A426-2C4D-6D91-826B6724AF68}"/>
              </a:ext>
            </a:extLst>
          </p:cNvPr>
          <p:cNvGrpSpPr/>
          <p:nvPr/>
        </p:nvGrpSpPr>
        <p:grpSpPr>
          <a:xfrm>
            <a:off x="1517984" y="1827934"/>
            <a:ext cx="17438745" cy="8652227"/>
            <a:chOff x="851410" y="2463173"/>
            <a:chExt cx="10489180" cy="3576092"/>
          </a:xfrm>
        </p:grpSpPr>
        <p:sp>
          <p:nvSpPr>
            <p:cNvPr id="12" name="Freeform: Shape 2">
              <a:extLst>
                <a:ext uri="{FF2B5EF4-FFF2-40B4-BE49-F238E27FC236}">
                  <a16:creationId xmlns:a16="http://schemas.microsoft.com/office/drawing/2014/main" id="{C104F6FC-C0D7-7BD7-2C24-A09605A46197}"/>
                </a:ext>
              </a:extLst>
            </p:cNvPr>
            <p:cNvSpPr/>
            <p:nvPr/>
          </p:nvSpPr>
          <p:spPr>
            <a:xfrm>
              <a:off x="851410" y="2463173"/>
              <a:ext cx="1874245" cy="504694"/>
            </a:xfrm>
            <a:custGeom>
              <a:avLst/>
              <a:gdLst>
                <a:gd name="connsiteX0" fmla="*/ 0 w 1565549"/>
                <a:gd name="connsiteY0" fmla="*/ 0 h 504694"/>
                <a:gd name="connsiteX1" fmla="*/ 1565549 w 1565549"/>
                <a:gd name="connsiteY1" fmla="*/ 0 h 504694"/>
                <a:gd name="connsiteX2" fmla="*/ 1565549 w 1565549"/>
                <a:gd name="connsiteY2" fmla="*/ 504694 h 504694"/>
                <a:gd name="connsiteX3" fmla="*/ 0 w 1565549"/>
                <a:gd name="connsiteY3" fmla="*/ 504694 h 504694"/>
                <a:gd name="connsiteX4" fmla="*/ 0 w 1565549"/>
                <a:gd name="connsiteY4" fmla="*/ 0 h 5046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5549" h="504694">
                  <a:moveTo>
                    <a:pt x="0" y="0"/>
                  </a:moveTo>
                  <a:lnTo>
                    <a:pt x="1565549" y="0"/>
                  </a:lnTo>
                  <a:lnTo>
                    <a:pt x="1565549" y="504694"/>
                  </a:lnTo>
                  <a:lnTo>
                    <a:pt x="0" y="504694"/>
                  </a:lnTo>
                  <a:lnTo>
                    <a:pt x="0" y="0"/>
                  </a:ln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13792" tIns="65024" rIns="113792" bIns="65024" numCol="1" spcCol="1270" anchor="ctr" anchorCtr="0">
              <a:normAutofit/>
            </a:bodyPr>
            <a:lstStyle/>
            <a:p>
              <a:pPr marL="0" lvl="0" indent="0" algn="ctr" defTabSz="711200">
                <a:lnSpc>
                  <a:spcPct val="90000"/>
                </a:lnSpc>
                <a:spcBef>
                  <a:spcPct val="0"/>
                </a:spcBef>
                <a:spcAft>
                  <a:spcPct val="35000"/>
                </a:spcAft>
                <a:buNone/>
              </a:pPr>
              <a:r>
                <a:rPr lang="en-US" sz="2400" kern="1200" dirty="0">
                  <a:latin typeface="Aharoni" panose="02010803020104030203" pitchFamily="2" charset="-79"/>
                  <a:ea typeface="+mn-ea"/>
                  <a:cs typeface="Aharoni" panose="02010803020104030203" pitchFamily="2" charset="-79"/>
                </a:rPr>
                <a:t>Inputs</a:t>
              </a:r>
            </a:p>
          </p:txBody>
        </p:sp>
        <p:sp>
          <p:nvSpPr>
            <p:cNvPr id="13" name="Freeform: Shape 4">
              <a:extLst>
                <a:ext uri="{FF2B5EF4-FFF2-40B4-BE49-F238E27FC236}">
                  <a16:creationId xmlns:a16="http://schemas.microsoft.com/office/drawing/2014/main" id="{0C7C97B2-15ED-759D-2076-7B8BFABEC351}"/>
                </a:ext>
              </a:extLst>
            </p:cNvPr>
            <p:cNvSpPr/>
            <p:nvPr/>
          </p:nvSpPr>
          <p:spPr>
            <a:xfrm>
              <a:off x="851410" y="2967868"/>
              <a:ext cx="1887317" cy="3071397"/>
            </a:xfrm>
            <a:custGeom>
              <a:avLst/>
              <a:gdLst>
                <a:gd name="connsiteX0" fmla="*/ 0 w 1565549"/>
                <a:gd name="connsiteY0" fmla="*/ 0 h 3071397"/>
                <a:gd name="connsiteX1" fmla="*/ 1565549 w 1565549"/>
                <a:gd name="connsiteY1" fmla="*/ 0 h 3071397"/>
                <a:gd name="connsiteX2" fmla="*/ 1565549 w 1565549"/>
                <a:gd name="connsiteY2" fmla="*/ 3071397 h 3071397"/>
                <a:gd name="connsiteX3" fmla="*/ 0 w 1565549"/>
                <a:gd name="connsiteY3" fmla="*/ 3071397 h 3071397"/>
                <a:gd name="connsiteX4" fmla="*/ 0 w 1565549"/>
                <a:gd name="connsiteY4" fmla="*/ 0 h 3071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5549" h="3071397">
                  <a:moveTo>
                    <a:pt x="0" y="0"/>
                  </a:moveTo>
                  <a:lnTo>
                    <a:pt x="1565549" y="0"/>
                  </a:lnTo>
                  <a:lnTo>
                    <a:pt x="1565549" y="3071397"/>
                  </a:lnTo>
                  <a:lnTo>
                    <a:pt x="0" y="3071397"/>
                  </a:lnTo>
                  <a:lnTo>
                    <a:pt x="0" y="0"/>
                  </a:lnTo>
                  <a:close/>
                </a:path>
              </a:pathLst>
            </a:custGeom>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58674" tIns="58674" rIns="78232" bIns="88011" numCol="1" spcCol="1270" anchor="t" anchorCtr="0">
              <a:normAutofit/>
            </a:bodyPr>
            <a:lstStyle/>
            <a:p>
              <a:pPr marL="57150" lvl="1" indent="-57150" algn="l" defTabSz="488950">
                <a:lnSpc>
                  <a:spcPct val="150000"/>
                </a:lnSpc>
                <a:spcBef>
                  <a:spcPct val="0"/>
                </a:spcBef>
                <a:spcAft>
                  <a:spcPct val="15000"/>
                </a:spcAft>
                <a:buFont typeface="+mj-lt"/>
                <a:buAutoNum type="romanLcPeriod"/>
              </a:pPr>
              <a:r>
                <a:rPr lang="en-US" sz="2000" kern="1200" dirty="0">
                  <a:latin typeface="Open Sans" panose="020B0606030504020204" pitchFamily="34" charset="0"/>
                  <a:ea typeface="Open Sans" panose="020B0606030504020204" pitchFamily="34" charset="0"/>
                  <a:cs typeface="Open Sans" panose="020B0606030504020204" pitchFamily="34" charset="0"/>
                </a:rPr>
                <a:t>People</a:t>
              </a:r>
            </a:p>
            <a:p>
              <a:pPr marL="57150" lvl="1" indent="-57150" algn="l" defTabSz="488950">
                <a:lnSpc>
                  <a:spcPct val="150000"/>
                </a:lnSpc>
                <a:spcBef>
                  <a:spcPct val="0"/>
                </a:spcBef>
                <a:spcAft>
                  <a:spcPct val="15000"/>
                </a:spcAft>
                <a:buFont typeface="+mj-lt"/>
                <a:buAutoNum type="romanLcPeriod"/>
              </a:pPr>
              <a:r>
                <a:rPr lang="en-US" sz="2000" kern="1200" dirty="0">
                  <a:latin typeface="Open Sans" panose="020B0606030504020204" pitchFamily="34" charset="0"/>
                  <a:ea typeface="Open Sans" panose="020B0606030504020204" pitchFamily="34" charset="0"/>
                  <a:cs typeface="Open Sans" panose="020B0606030504020204" pitchFamily="34" charset="0"/>
                </a:rPr>
                <a:t>Funding</a:t>
              </a:r>
            </a:p>
            <a:p>
              <a:pPr marL="57150" lvl="1" indent="-57150" algn="l" defTabSz="488950">
                <a:lnSpc>
                  <a:spcPct val="150000"/>
                </a:lnSpc>
                <a:spcBef>
                  <a:spcPct val="0"/>
                </a:spcBef>
                <a:spcAft>
                  <a:spcPct val="15000"/>
                </a:spcAft>
                <a:buFont typeface="+mj-lt"/>
                <a:buAutoNum type="romanLcPeriod"/>
              </a:pPr>
              <a:r>
                <a:rPr lang="en-US" sz="2000" kern="1200" dirty="0">
                  <a:latin typeface="Open Sans" panose="020B0606030504020204" pitchFamily="34" charset="0"/>
                  <a:ea typeface="Open Sans" panose="020B0606030504020204" pitchFamily="34" charset="0"/>
                  <a:cs typeface="Open Sans" panose="020B0606030504020204" pitchFamily="34" charset="0"/>
                </a:rPr>
                <a:t>Technologies</a:t>
              </a:r>
            </a:p>
            <a:p>
              <a:pPr marL="57150" lvl="1" indent="-57150" algn="l" defTabSz="488950">
                <a:lnSpc>
                  <a:spcPct val="150000"/>
                </a:lnSpc>
                <a:spcBef>
                  <a:spcPct val="0"/>
                </a:spcBef>
                <a:spcAft>
                  <a:spcPct val="15000"/>
                </a:spcAft>
                <a:buFont typeface="+mj-lt"/>
                <a:buAutoNum type="romanLcPeriod"/>
              </a:pPr>
              <a:r>
                <a:rPr lang="en-US" sz="2000" kern="1200" dirty="0">
                  <a:latin typeface="Open Sans" panose="020B0606030504020204" pitchFamily="34" charset="0"/>
                  <a:ea typeface="Open Sans" panose="020B0606030504020204" pitchFamily="34" charset="0"/>
                  <a:cs typeface="Open Sans" panose="020B0606030504020204" pitchFamily="34" charset="0"/>
                </a:rPr>
                <a:t>Partnerships and Stakeholders.</a:t>
              </a:r>
            </a:p>
            <a:p>
              <a:pPr marL="57150" lvl="1" indent="-57150" algn="l" defTabSz="488950">
                <a:lnSpc>
                  <a:spcPct val="90000"/>
                </a:lnSpc>
                <a:spcBef>
                  <a:spcPct val="0"/>
                </a:spcBef>
                <a:spcAft>
                  <a:spcPct val="15000"/>
                </a:spcAft>
                <a:buChar char="•"/>
              </a:pPr>
              <a:endParaRPr lang="en-US" sz="3900" kern="1200" dirty="0"/>
            </a:p>
          </p:txBody>
        </p:sp>
        <p:sp>
          <p:nvSpPr>
            <p:cNvPr id="14" name="Freeform: Shape 7">
              <a:extLst>
                <a:ext uri="{FF2B5EF4-FFF2-40B4-BE49-F238E27FC236}">
                  <a16:creationId xmlns:a16="http://schemas.microsoft.com/office/drawing/2014/main" id="{D1786759-E65A-E506-1E7A-D0D744B15B13}"/>
                </a:ext>
              </a:extLst>
            </p:cNvPr>
            <p:cNvSpPr/>
            <p:nvPr/>
          </p:nvSpPr>
          <p:spPr>
            <a:xfrm>
              <a:off x="2712583" y="2463173"/>
              <a:ext cx="2523037" cy="504694"/>
            </a:xfrm>
            <a:custGeom>
              <a:avLst/>
              <a:gdLst>
                <a:gd name="connsiteX0" fmla="*/ 0 w 1565549"/>
                <a:gd name="connsiteY0" fmla="*/ 0 h 504694"/>
                <a:gd name="connsiteX1" fmla="*/ 1565549 w 1565549"/>
                <a:gd name="connsiteY1" fmla="*/ 0 h 504694"/>
                <a:gd name="connsiteX2" fmla="*/ 1565549 w 1565549"/>
                <a:gd name="connsiteY2" fmla="*/ 504694 h 504694"/>
                <a:gd name="connsiteX3" fmla="*/ 0 w 1565549"/>
                <a:gd name="connsiteY3" fmla="*/ 504694 h 504694"/>
                <a:gd name="connsiteX4" fmla="*/ 0 w 1565549"/>
                <a:gd name="connsiteY4" fmla="*/ 0 h 5046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5549" h="504694">
                  <a:moveTo>
                    <a:pt x="0" y="0"/>
                  </a:moveTo>
                  <a:lnTo>
                    <a:pt x="1565549" y="0"/>
                  </a:lnTo>
                  <a:lnTo>
                    <a:pt x="1565549" y="504694"/>
                  </a:lnTo>
                  <a:lnTo>
                    <a:pt x="0" y="504694"/>
                  </a:lnTo>
                  <a:lnTo>
                    <a:pt x="0" y="0"/>
                  </a:lnTo>
                  <a:close/>
                </a:path>
              </a:pathLst>
            </a:custGeom>
          </p:spPr>
          <p:style>
            <a:lnRef idx="2">
              <a:schemeClr val="accent4">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113792" tIns="65024" rIns="113792" bIns="65024" numCol="1" spcCol="1270" anchor="ctr" anchorCtr="0">
              <a:normAutofit/>
            </a:bodyPr>
            <a:lstStyle/>
            <a:p>
              <a:pPr marL="0" lvl="0" indent="0" algn="ctr" defTabSz="711200">
                <a:lnSpc>
                  <a:spcPct val="90000"/>
                </a:lnSpc>
                <a:spcBef>
                  <a:spcPct val="0"/>
                </a:spcBef>
                <a:spcAft>
                  <a:spcPct val="35000"/>
                </a:spcAft>
                <a:buNone/>
              </a:pPr>
              <a:r>
                <a:rPr lang="en-US" sz="2400" kern="1200" dirty="0">
                  <a:latin typeface="Aharoni" panose="02010803020104030203" pitchFamily="2" charset="-79"/>
                  <a:ea typeface="+mn-ea"/>
                  <a:cs typeface="Aharoni" panose="02010803020104030203" pitchFamily="2" charset="-79"/>
                </a:rPr>
                <a:t>Activities</a:t>
              </a:r>
            </a:p>
          </p:txBody>
        </p:sp>
        <p:sp>
          <p:nvSpPr>
            <p:cNvPr id="15" name="Freeform: Shape 9">
              <a:extLst>
                <a:ext uri="{FF2B5EF4-FFF2-40B4-BE49-F238E27FC236}">
                  <a16:creationId xmlns:a16="http://schemas.microsoft.com/office/drawing/2014/main" id="{4C963D23-3683-E094-A598-12C0EF7BFEA8}"/>
                </a:ext>
              </a:extLst>
            </p:cNvPr>
            <p:cNvSpPr/>
            <p:nvPr/>
          </p:nvSpPr>
          <p:spPr>
            <a:xfrm>
              <a:off x="2725655" y="2967868"/>
              <a:ext cx="2470748" cy="3071397"/>
            </a:xfrm>
            <a:custGeom>
              <a:avLst/>
              <a:gdLst>
                <a:gd name="connsiteX0" fmla="*/ 0 w 1565549"/>
                <a:gd name="connsiteY0" fmla="*/ 0 h 3071397"/>
                <a:gd name="connsiteX1" fmla="*/ 1565549 w 1565549"/>
                <a:gd name="connsiteY1" fmla="*/ 0 h 3071397"/>
                <a:gd name="connsiteX2" fmla="*/ 1565549 w 1565549"/>
                <a:gd name="connsiteY2" fmla="*/ 3071397 h 3071397"/>
                <a:gd name="connsiteX3" fmla="*/ 0 w 1565549"/>
                <a:gd name="connsiteY3" fmla="*/ 3071397 h 3071397"/>
                <a:gd name="connsiteX4" fmla="*/ 0 w 1565549"/>
                <a:gd name="connsiteY4" fmla="*/ 0 h 3071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5549" h="3071397">
                  <a:moveTo>
                    <a:pt x="0" y="0"/>
                  </a:moveTo>
                  <a:lnTo>
                    <a:pt x="1565549" y="0"/>
                  </a:lnTo>
                  <a:lnTo>
                    <a:pt x="1565549" y="3071397"/>
                  </a:lnTo>
                  <a:lnTo>
                    <a:pt x="0" y="3071397"/>
                  </a:lnTo>
                  <a:lnTo>
                    <a:pt x="0" y="0"/>
                  </a:lnTo>
                  <a:close/>
                </a:path>
              </a:pathLst>
            </a:custGeom>
          </p:spPr>
          <p:style>
            <a:lnRef idx="2">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0">
              <a:schemeClr val="accent4">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58674" tIns="58674" rIns="78232" bIns="88011" numCol="1" spcCol="1270" anchor="t" anchorCtr="0">
              <a:normAutofit/>
            </a:bodyPr>
            <a:lstStyle/>
            <a:p>
              <a:pPr>
                <a:lnSpc>
                  <a:spcPct val="150000"/>
                </a:lnSpc>
              </a:pPr>
              <a:r>
                <a:rPr lang="en-GB" sz="1761" b="1" dirty="0">
                  <a:latin typeface="Open Sans" panose="020B0606030504020204" pitchFamily="34" charset="0"/>
                  <a:ea typeface="Open Sans" panose="020B0606030504020204" pitchFamily="34" charset="0"/>
                  <a:cs typeface="Open Sans" panose="020B0606030504020204" pitchFamily="34" charset="0"/>
                </a:rPr>
                <a:t>ACCESS:</a:t>
              </a:r>
            </a:p>
            <a:p>
              <a:pPr marL="520522" marR="771" lvl="1" indent="-242910" algn="just">
                <a:lnSpc>
                  <a:spcPct val="150000"/>
                </a:lnSpc>
                <a:buFont typeface="+mj-lt"/>
                <a:buAutoNum type="romanLcPeriod"/>
              </a:pPr>
              <a:r>
                <a:rPr lang="en-US"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Predictive modeling for blood volumes donated. </a:t>
              </a:r>
              <a:endParaRPr lang="en-KE" sz="1600"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520522" marR="771" lvl="1" indent="-242910" algn="just">
                <a:lnSpc>
                  <a:spcPct val="150000"/>
                </a:lnSpc>
                <a:buFont typeface="+mj-lt"/>
                <a:buAutoNum type="romanLcPeriod"/>
              </a:pPr>
              <a:r>
                <a:rPr lang="en-US"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Sending targeted messages to previous blood donors on upcoming blood drives. </a:t>
              </a:r>
            </a:p>
            <a:p>
              <a:pPr marL="520522" marR="771" lvl="1" indent="-242910" algn="just">
                <a:lnSpc>
                  <a:spcPct val="150000"/>
                </a:lnSpc>
                <a:buFont typeface="+mj-lt"/>
                <a:buAutoNum type="romanLcPeriod"/>
              </a:pPr>
              <a:r>
                <a:rPr lang="en-US"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Creating a behavioral reward system using digital medals.</a:t>
              </a:r>
            </a:p>
            <a:p>
              <a:pPr marL="520522" marR="771" lvl="1" indent="-242910" algn="just">
                <a:lnSpc>
                  <a:spcPct val="150000"/>
                </a:lnSpc>
                <a:buFont typeface="+mj-lt"/>
                <a:buAutoNum type="romanLcPeriod"/>
              </a:pPr>
              <a:endParaRPr lang="en-US" sz="176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R="771" indent="-179588" algn="just">
                <a:lnSpc>
                  <a:spcPct val="150000"/>
                </a:lnSpc>
              </a:pPr>
              <a:r>
                <a:rPr lang="en-US" sz="1761" b="1" dirty="0">
                  <a:solidFill>
                    <a:srgbClr val="000000"/>
                  </a:solidFill>
                  <a:latin typeface="Open Sans" panose="020B0606030504020204" pitchFamily="34" charset="0"/>
                  <a:ea typeface="Open Sans" panose="020B0606030504020204" pitchFamily="34" charset="0"/>
                  <a:cs typeface="Open Sans" panose="020B0606030504020204" pitchFamily="34" charset="0"/>
                </a:rPr>
                <a:t>PROCESSING</a:t>
              </a:r>
            </a:p>
            <a:p>
              <a:pPr marL="57150" lvl="1" indent="-57150" defTabSz="488950">
                <a:lnSpc>
                  <a:spcPct val="150000"/>
                </a:lnSpc>
                <a:spcBef>
                  <a:spcPct val="0"/>
                </a:spcBef>
                <a:spcAft>
                  <a:spcPct val="15000"/>
                </a:spcAft>
                <a:buFont typeface="+mj-lt"/>
                <a:buAutoNum type="romanLcPeriod"/>
              </a:pPr>
              <a:r>
                <a:rPr lang="en-US"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 Linking the </a:t>
              </a:r>
              <a:r>
                <a:rPr lang="en-US" sz="1600" i="1" dirty="0" err="1">
                  <a:solidFill>
                    <a:srgbClr val="000000"/>
                  </a:solidFill>
                  <a:latin typeface="Open Sans" panose="020B0606030504020204" pitchFamily="34" charset="0"/>
                  <a:ea typeface="Open Sans" panose="020B0606030504020204" pitchFamily="34" charset="0"/>
                  <a:cs typeface="Open Sans" panose="020B0606030504020204" pitchFamily="34" charset="0"/>
                </a:rPr>
                <a:t>Uhai</a:t>
              </a:r>
              <a:r>
                <a:rPr lang="en-US"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 portal to a temperature monitoring system to assess temperature fluctuation during long-term storage and transportation. </a:t>
              </a:r>
              <a:endParaRPr lang="en-US" sz="1600" kern="1200" dirty="0"/>
            </a:p>
            <a:p>
              <a:pPr marL="0" lvl="1" algn="l" defTabSz="488950">
                <a:lnSpc>
                  <a:spcPct val="150000"/>
                </a:lnSpc>
                <a:spcBef>
                  <a:spcPct val="0"/>
                </a:spcBef>
                <a:spcAft>
                  <a:spcPct val="15000"/>
                </a:spcAft>
              </a:pPr>
              <a:r>
                <a:rPr lang="en-US" sz="1600" b="1" dirty="0"/>
                <a:t>DISTRIBUTION</a:t>
              </a:r>
              <a:endParaRPr lang="en-US" sz="1600" b="1" kern="1200" dirty="0"/>
            </a:p>
            <a:p>
              <a:pPr marL="57150" lvl="1" indent="-57150" defTabSz="488950">
                <a:lnSpc>
                  <a:spcPct val="150000"/>
                </a:lnSpc>
                <a:spcBef>
                  <a:spcPct val="0"/>
                </a:spcBef>
                <a:spcAft>
                  <a:spcPct val="15000"/>
                </a:spcAft>
                <a:buFont typeface="+mj-lt"/>
                <a:buAutoNum type="romanLcPeriod"/>
              </a:pPr>
              <a:r>
                <a:rPr lang="en-US" sz="1600" kern="1200" dirty="0"/>
                <a:t>Create </a:t>
              </a:r>
              <a:r>
                <a:rPr lang="en-US" sz="1600" dirty="0">
                  <a:solidFill>
                    <a:srgbClr val="000000"/>
                  </a:solidFill>
                  <a:latin typeface="Open Sans" panose="020B0606030504020204" pitchFamily="34" charset="0"/>
                  <a:ea typeface="Open Sans" panose="020B0606030504020204" pitchFamily="34" charset="0"/>
                  <a:cs typeface="Open Sans" panose="020B0606030504020204" pitchFamily="34" charset="0"/>
                </a:rPr>
                <a:t>a consolidated database of available quantities of blood.</a:t>
              </a:r>
              <a:endParaRPr lang="en-KE" sz="1600"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57150" lvl="1" indent="-57150" algn="l" defTabSz="488950">
                <a:lnSpc>
                  <a:spcPct val="90000"/>
                </a:lnSpc>
                <a:spcBef>
                  <a:spcPct val="0"/>
                </a:spcBef>
                <a:spcAft>
                  <a:spcPct val="15000"/>
                </a:spcAft>
                <a:buFont typeface="+mj-lt"/>
                <a:buAutoNum type="romanLcPeriod"/>
              </a:pPr>
              <a:endParaRPr lang="en-US" sz="1600" kern="1200" dirty="0"/>
            </a:p>
          </p:txBody>
        </p:sp>
        <p:sp>
          <p:nvSpPr>
            <p:cNvPr id="16" name="Freeform: Shape 10">
              <a:extLst>
                <a:ext uri="{FF2B5EF4-FFF2-40B4-BE49-F238E27FC236}">
                  <a16:creationId xmlns:a16="http://schemas.microsoft.com/office/drawing/2014/main" id="{0F06895A-1B86-C5AF-3887-0D0A6D8938A8}"/>
                </a:ext>
              </a:extLst>
            </p:cNvPr>
            <p:cNvSpPr/>
            <p:nvPr/>
          </p:nvSpPr>
          <p:spPr>
            <a:xfrm>
              <a:off x="5222549" y="2463173"/>
              <a:ext cx="2548589" cy="504694"/>
            </a:xfrm>
            <a:custGeom>
              <a:avLst/>
              <a:gdLst>
                <a:gd name="connsiteX0" fmla="*/ 0 w 1565549"/>
                <a:gd name="connsiteY0" fmla="*/ 0 h 504694"/>
                <a:gd name="connsiteX1" fmla="*/ 1565549 w 1565549"/>
                <a:gd name="connsiteY1" fmla="*/ 0 h 504694"/>
                <a:gd name="connsiteX2" fmla="*/ 1565549 w 1565549"/>
                <a:gd name="connsiteY2" fmla="*/ 504694 h 504694"/>
                <a:gd name="connsiteX3" fmla="*/ 0 w 1565549"/>
                <a:gd name="connsiteY3" fmla="*/ 504694 h 504694"/>
                <a:gd name="connsiteX4" fmla="*/ 0 w 1565549"/>
                <a:gd name="connsiteY4" fmla="*/ 0 h 5046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5549" h="504694">
                  <a:moveTo>
                    <a:pt x="0" y="0"/>
                  </a:moveTo>
                  <a:lnTo>
                    <a:pt x="1565549" y="0"/>
                  </a:lnTo>
                  <a:lnTo>
                    <a:pt x="1565549" y="504694"/>
                  </a:lnTo>
                  <a:lnTo>
                    <a:pt x="0" y="504694"/>
                  </a:lnTo>
                  <a:lnTo>
                    <a:pt x="0" y="0"/>
                  </a:lnTo>
                  <a:close/>
                </a:path>
              </a:pathLst>
            </a:custGeom>
          </p:spPr>
          <p:style>
            <a:lnRef idx="2">
              <a:schemeClr val="accent5">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3792" tIns="65024" rIns="113792" bIns="65024" numCol="1" spcCol="1270" anchor="ctr" anchorCtr="0">
              <a:normAutofit/>
            </a:bodyPr>
            <a:lstStyle/>
            <a:p>
              <a:pPr marL="0" lvl="0" indent="0" algn="ctr" defTabSz="711200">
                <a:lnSpc>
                  <a:spcPct val="90000"/>
                </a:lnSpc>
                <a:spcBef>
                  <a:spcPct val="0"/>
                </a:spcBef>
                <a:spcAft>
                  <a:spcPct val="35000"/>
                </a:spcAft>
                <a:buNone/>
              </a:pPr>
              <a:r>
                <a:rPr lang="en-US" sz="2400" kern="1200" dirty="0">
                  <a:latin typeface="Aharoni" panose="02010803020104030203" pitchFamily="2" charset="-79"/>
                  <a:cs typeface="Aharoni" panose="02010803020104030203" pitchFamily="2" charset="-79"/>
                </a:rPr>
                <a:t>Outputs</a:t>
              </a:r>
            </a:p>
          </p:txBody>
        </p:sp>
        <p:sp>
          <p:nvSpPr>
            <p:cNvPr id="17" name="Freeform: Shape 11">
              <a:extLst>
                <a:ext uri="{FF2B5EF4-FFF2-40B4-BE49-F238E27FC236}">
                  <a16:creationId xmlns:a16="http://schemas.microsoft.com/office/drawing/2014/main" id="{52B83A3A-5037-845C-D931-ED25B4CE291B}"/>
                </a:ext>
              </a:extLst>
            </p:cNvPr>
            <p:cNvSpPr/>
            <p:nvPr/>
          </p:nvSpPr>
          <p:spPr>
            <a:xfrm>
              <a:off x="5196403" y="2967868"/>
              <a:ext cx="2574735" cy="3071397"/>
            </a:xfrm>
            <a:custGeom>
              <a:avLst/>
              <a:gdLst>
                <a:gd name="connsiteX0" fmla="*/ 0 w 1565549"/>
                <a:gd name="connsiteY0" fmla="*/ 0 h 3071397"/>
                <a:gd name="connsiteX1" fmla="*/ 1565549 w 1565549"/>
                <a:gd name="connsiteY1" fmla="*/ 0 h 3071397"/>
                <a:gd name="connsiteX2" fmla="*/ 1565549 w 1565549"/>
                <a:gd name="connsiteY2" fmla="*/ 3071397 h 3071397"/>
                <a:gd name="connsiteX3" fmla="*/ 0 w 1565549"/>
                <a:gd name="connsiteY3" fmla="*/ 3071397 h 3071397"/>
                <a:gd name="connsiteX4" fmla="*/ 0 w 1565549"/>
                <a:gd name="connsiteY4" fmla="*/ 0 h 3071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5549" h="3071397">
                  <a:moveTo>
                    <a:pt x="0" y="0"/>
                  </a:moveTo>
                  <a:lnTo>
                    <a:pt x="1565549" y="0"/>
                  </a:lnTo>
                  <a:lnTo>
                    <a:pt x="1565549" y="3071397"/>
                  </a:lnTo>
                  <a:lnTo>
                    <a:pt x="0" y="3071397"/>
                  </a:lnTo>
                  <a:lnTo>
                    <a:pt x="0" y="0"/>
                  </a:lnTo>
                  <a:close/>
                </a:path>
              </a:pathLst>
            </a:custGeom>
          </p:spPr>
          <p:style>
            <a:lnRef idx="2">
              <a:schemeClr val="accent5">
                <a:tint val="40000"/>
                <a:alpha val="90000"/>
                <a:hueOff val="0"/>
                <a:satOff val="0"/>
                <a:lumOff val="0"/>
                <a:alphaOff val="0"/>
              </a:schemeClr>
            </a:lnRef>
            <a:fillRef idx="1">
              <a:schemeClr val="accent5">
                <a:tint val="40000"/>
                <a:alpha val="90000"/>
                <a:hueOff val="0"/>
                <a:satOff val="0"/>
                <a:lumOff val="0"/>
                <a:alphaOff val="0"/>
              </a:schemeClr>
            </a:fillRef>
            <a:effectRef idx="0">
              <a:schemeClr val="accent5">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58674" tIns="58674" rIns="78232" bIns="88011" numCol="1" spcCol="1270" anchor="t" anchorCtr="0">
              <a:normAutofit/>
            </a:bodyPr>
            <a:lstStyle/>
            <a:p>
              <a:pPr marR="771" algn="just" defTabSz="555224">
                <a:lnSpc>
                  <a:spcPct val="150000"/>
                </a:lnSpc>
                <a:spcAft>
                  <a:spcPts val="607"/>
                </a:spcAft>
                <a:tabLst>
                  <a:tab pos="152687" algn="l"/>
                </a:tabLst>
              </a:pPr>
              <a:r>
                <a:rPr lang="en-GB" sz="1761" b="1" dirty="0">
                  <a:solidFill>
                    <a:prstClr val="black"/>
                  </a:solidFill>
                  <a:latin typeface="Open Sans" panose="020B0606030504020204" pitchFamily="34" charset="0"/>
                  <a:ea typeface="Open Sans" panose="020B0606030504020204" pitchFamily="34" charset="0"/>
                  <a:cs typeface="Open Sans" panose="020B0606030504020204" pitchFamily="34" charset="0"/>
                </a:rPr>
                <a:t>ACCESS:</a:t>
              </a:r>
            </a:p>
            <a:p>
              <a:pPr marL="520522" marR="771" lvl="1" indent="-242910" algn="just" defTabSz="555224">
                <a:lnSpc>
                  <a:spcPct val="150000"/>
                </a:lnSpc>
                <a:spcAft>
                  <a:spcPts val="607"/>
                </a:spcAft>
                <a:buFont typeface="+mj-lt"/>
                <a:buAutoNum type="romanUcPeriod"/>
                <a:tabLst>
                  <a:tab pos="152687" algn="l"/>
                </a:tabLst>
              </a:pPr>
              <a:r>
                <a:rPr lang="en-US" sz="1761" dirty="0">
                  <a:solidFill>
                    <a:srgbClr val="000000"/>
                  </a:solidFill>
                  <a:latin typeface="Open Sans" panose="020B0606030504020204" pitchFamily="34" charset="0"/>
                  <a:ea typeface="Open Sans" panose="020B0606030504020204" pitchFamily="34" charset="0"/>
                  <a:cs typeface="Open Sans" panose="020B0606030504020204" pitchFamily="34" charset="0"/>
                </a:rPr>
                <a:t>Predictive model for blood donation drives.</a:t>
              </a:r>
              <a:endParaRPr lang="en-KE" sz="176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520522" marR="771" lvl="1" indent="-242910" algn="just" defTabSz="555224">
                <a:lnSpc>
                  <a:spcPct val="150000"/>
                </a:lnSpc>
                <a:spcAft>
                  <a:spcPts val="607"/>
                </a:spcAft>
                <a:buFont typeface="+mj-lt"/>
                <a:buAutoNum type="romanUcPeriod"/>
                <a:tabLst>
                  <a:tab pos="121841" algn="l"/>
                </a:tabLst>
              </a:pPr>
              <a:r>
                <a:rPr lang="en-US" sz="1761" dirty="0">
                  <a:solidFill>
                    <a:srgbClr val="000000"/>
                  </a:solidFill>
                  <a:latin typeface="Open Sans" panose="020B0606030504020204" pitchFamily="34" charset="0"/>
                  <a:ea typeface="Open Sans" panose="020B0606030504020204" pitchFamily="34" charset="0"/>
                  <a:cs typeface="Open Sans" panose="020B0606030504020204" pitchFamily="34" charset="0"/>
                </a:rPr>
                <a:t>Targeted messages sent and feedback.</a:t>
              </a:r>
              <a:endParaRPr lang="en-KE" sz="176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520522" marR="771" lvl="1" indent="-242910" algn="just" defTabSz="555224">
                <a:lnSpc>
                  <a:spcPct val="150000"/>
                </a:lnSpc>
                <a:spcAft>
                  <a:spcPts val="607"/>
                </a:spcAft>
                <a:buFont typeface="+mj-lt"/>
                <a:buAutoNum type="romanUcPeriod"/>
                <a:tabLst>
                  <a:tab pos="121841" algn="l"/>
                </a:tabLst>
              </a:pPr>
              <a:r>
                <a:rPr lang="en-US" sz="1761" dirty="0">
                  <a:solidFill>
                    <a:srgbClr val="000000"/>
                  </a:solidFill>
                  <a:latin typeface="Open Sans" panose="020B0606030504020204" pitchFamily="34" charset="0"/>
                  <a:ea typeface="Open Sans" panose="020B0606030504020204" pitchFamily="34" charset="0"/>
                  <a:cs typeface="Open Sans" panose="020B0606030504020204" pitchFamily="34" charset="0"/>
                </a:rPr>
                <a:t>Recurrent blood donors.</a:t>
              </a:r>
            </a:p>
            <a:p>
              <a:pPr marR="771" algn="just" defTabSz="555224">
                <a:lnSpc>
                  <a:spcPct val="150000"/>
                </a:lnSpc>
                <a:spcAft>
                  <a:spcPts val="607"/>
                </a:spcAft>
                <a:tabLst>
                  <a:tab pos="121841" algn="l"/>
                </a:tabLst>
              </a:pPr>
              <a:r>
                <a:rPr lang="en-US" sz="1761" b="1" dirty="0">
                  <a:solidFill>
                    <a:srgbClr val="000000"/>
                  </a:solidFill>
                  <a:latin typeface="Open Sans" panose="020B0606030504020204" pitchFamily="34" charset="0"/>
                  <a:ea typeface="Open Sans" panose="020B0606030504020204" pitchFamily="34" charset="0"/>
                  <a:cs typeface="Open Sans" panose="020B0606030504020204" pitchFamily="34" charset="0"/>
                </a:rPr>
                <a:t>PROCESSING:</a:t>
              </a:r>
            </a:p>
            <a:p>
              <a:pPr marL="520522" marR="771" lvl="1" indent="-242910" algn="just" defTabSz="555224">
                <a:lnSpc>
                  <a:spcPct val="150000"/>
                </a:lnSpc>
                <a:spcAft>
                  <a:spcPts val="607"/>
                </a:spcAft>
                <a:buFont typeface="+mj-lt"/>
                <a:buAutoNum type="romanUcPeriod"/>
                <a:tabLst>
                  <a:tab pos="121841" algn="l"/>
                </a:tabLst>
              </a:pPr>
              <a:r>
                <a:rPr lang="en-US" sz="1761" dirty="0">
                  <a:solidFill>
                    <a:srgbClr val="000000"/>
                  </a:solidFill>
                  <a:latin typeface="Open Sans" panose="020B0606030504020204" pitchFamily="34" charset="0"/>
                  <a:ea typeface="Open Sans" panose="020B0606030504020204" pitchFamily="34" charset="0"/>
                  <a:cs typeface="Open Sans" panose="020B0606030504020204" pitchFamily="34" charset="0"/>
                </a:rPr>
                <a:t>Reduced temperature fluctuation of blood refrigerators.</a:t>
              </a:r>
              <a:endParaRPr lang="en-KE" sz="176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R="771" algn="just" defTabSz="555224">
                <a:lnSpc>
                  <a:spcPct val="150000"/>
                </a:lnSpc>
                <a:spcAft>
                  <a:spcPts val="607"/>
                </a:spcAft>
                <a:tabLst>
                  <a:tab pos="121841" algn="l"/>
                </a:tabLst>
              </a:pPr>
              <a:r>
                <a:rPr lang="en-US" sz="1761" b="1" dirty="0">
                  <a:solidFill>
                    <a:srgbClr val="000000"/>
                  </a:solidFill>
                  <a:latin typeface="Open Sans" panose="020B0606030504020204" pitchFamily="34" charset="0"/>
                  <a:ea typeface="Open Sans" panose="020B0606030504020204" pitchFamily="34" charset="0"/>
                  <a:cs typeface="Open Sans" panose="020B0606030504020204" pitchFamily="34" charset="0"/>
                </a:rPr>
                <a:t>DISTRIBUTION: </a:t>
              </a:r>
              <a:r>
                <a:rPr lang="en-US" sz="1761" dirty="0">
                  <a:solidFill>
                    <a:srgbClr val="000000"/>
                  </a:solidFill>
                  <a:latin typeface="Open Sans" panose="020B0606030504020204" pitchFamily="34" charset="0"/>
                  <a:ea typeface="Open Sans" panose="020B0606030504020204" pitchFamily="34" charset="0"/>
                  <a:cs typeface="Open Sans" panose="020B0606030504020204" pitchFamily="34" charset="0"/>
                </a:rPr>
                <a:t>Standard inventory of blood products.</a:t>
              </a:r>
              <a:endParaRPr lang="en-KE" sz="176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520522" marR="771" lvl="1" indent="-242910" algn="just" defTabSz="555224">
                <a:lnSpc>
                  <a:spcPct val="200000"/>
                </a:lnSpc>
                <a:spcAft>
                  <a:spcPts val="607"/>
                </a:spcAft>
                <a:buFont typeface="+mj-lt"/>
                <a:buAutoNum type="romanUcPeriod"/>
                <a:tabLst>
                  <a:tab pos="121841" algn="l"/>
                </a:tabLst>
              </a:pPr>
              <a:endParaRPr lang="en-US" sz="1761" dirty="0">
                <a:solidFill>
                  <a:srgbClr val="000000"/>
                </a:solidFill>
                <a:highlight>
                  <a:srgbClr val="FFFF00"/>
                </a:highlight>
                <a:latin typeface="Open Sans" panose="020B0606030504020204" pitchFamily="34" charset="0"/>
                <a:ea typeface="Open Sans" panose="020B0606030504020204" pitchFamily="34" charset="0"/>
                <a:cs typeface="Open Sans" panose="020B0606030504020204" pitchFamily="34" charset="0"/>
              </a:endParaRPr>
            </a:p>
            <a:p>
              <a:pPr marL="57150" lvl="1" indent="-57150" algn="l" defTabSz="488950">
                <a:lnSpc>
                  <a:spcPct val="90000"/>
                </a:lnSpc>
                <a:spcBef>
                  <a:spcPct val="0"/>
                </a:spcBef>
                <a:spcAft>
                  <a:spcPct val="15000"/>
                </a:spcAft>
                <a:buChar char="•"/>
              </a:pPr>
              <a:endParaRPr lang="en-US" sz="900" kern="1200" dirty="0">
                <a:highlight>
                  <a:srgbClr val="FFFF00"/>
                </a:highlight>
              </a:endParaRPr>
            </a:p>
          </p:txBody>
        </p:sp>
        <p:sp>
          <p:nvSpPr>
            <p:cNvPr id="18" name="Freeform: Shape 12">
              <a:extLst>
                <a:ext uri="{FF2B5EF4-FFF2-40B4-BE49-F238E27FC236}">
                  <a16:creationId xmlns:a16="http://schemas.microsoft.com/office/drawing/2014/main" id="{C7F6381D-CF7B-789E-A1CE-CDFAA0D06EAB}"/>
                </a:ext>
              </a:extLst>
            </p:cNvPr>
            <p:cNvSpPr/>
            <p:nvPr/>
          </p:nvSpPr>
          <p:spPr>
            <a:xfrm>
              <a:off x="7786652" y="2463173"/>
              <a:ext cx="1817975" cy="504694"/>
            </a:xfrm>
            <a:custGeom>
              <a:avLst/>
              <a:gdLst>
                <a:gd name="connsiteX0" fmla="*/ 0 w 1565549"/>
                <a:gd name="connsiteY0" fmla="*/ 0 h 504694"/>
                <a:gd name="connsiteX1" fmla="*/ 1565549 w 1565549"/>
                <a:gd name="connsiteY1" fmla="*/ 0 h 504694"/>
                <a:gd name="connsiteX2" fmla="*/ 1565549 w 1565549"/>
                <a:gd name="connsiteY2" fmla="*/ 504694 h 504694"/>
                <a:gd name="connsiteX3" fmla="*/ 0 w 1565549"/>
                <a:gd name="connsiteY3" fmla="*/ 504694 h 504694"/>
                <a:gd name="connsiteX4" fmla="*/ 0 w 1565549"/>
                <a:gd name="connsiteY4" fmla="*/ 0 h 5046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5549" h="504694">
                  <a:moveTo>
                    <a:pt x="0" y="0"/>
                  </a:moveTo>
                  <a:lnTo>
                    <a:pt x="1565549" y="0"/>
                  </a:lnTo>
                  <a:lnTo>
                    <a:pt x="1565549" y="504694"/>
                  </a:lnTo>
                  <a:lnTo>
                    <a:pt x="0" y="504694"/>
                  </a:lnTo>
                  <a:lnTo>
                    <a:pt x="0" y="0"/>
                  </a:lnTo>
                  <a:close/>
                </a:path>
              </a:pathLst>
            </a:custGeom>
          </p:spPr>
          <p:style>
            <a:lnRef idx="2">
              <a:schemeClr val="accent6">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13792" tIns="65024" rIns="113792" bIns="65024" numCol="1" spcCol="1270" anchor="ctr" anchorCtr="0">
              <a:normAutofit/>
            </a:bodyPr>
            <a:lstStyle/>
            <a:p>
              <a:pPr marL="0" lvl="0" indent="0" algn="ctr" defTabSz="711200">
                <a:lnSpc>
                  <a:spcPct val="90000"/>
                </a:lnSpc>
                <a:spcBef>
                  <a:spcPct val="0"/>
                </a:spcBef>
                <a:spcAft>
                  <a:spcPct val="35000"/>
                </a:spcAft>
                <a:buNone/>
              </a:pPr>
              <a:r>
                <a:rPr lang="en-US" sz="2400" kern="1200" dirty="0">
                  <a:latin typeface="Aharoni" panose="02010803020104030203" pitchFamily="2" charset="-79"/>
                  <a:cs typeface="Aharoni" panose="02010803020104030203" pitchFamily="2" charset="-79"/>
                </a:rPr>
                <a:t>Outcome</a:t>
              </a:r>
            </a:p>
          </p:txBody>
        </p:sp>
        <p:sp>
          <p:nvSpPr>
            <p:cNvPr id="19" name="Freeform: Shape 13">
              <a:extLst>
                <a:ext uri="{FF2B5EF4-FFF2-40B4-BE49-F238E27FC236}">
                  <a16:creationId xmlns:a16="http://schemas.microsoft.com/office/drawing/2014/main" id="{16864074-E361-5462-7965-77158665DEC8}"/>
                </a:ext>
              </a:extLst>
            </p:cNvPr>
            <p:cNvSpPr/>
            <p:nvPr/>
          </p:nvSpPr>
          <p:spPr>
            <a:xfrm>
              <a:off x="7791000" y="2967868"/>
              <a:ext cx="1833209" cy="3071397"/>
            </a:xfrm>
            <a:custGeom>
              <a:avLst/>
              <a:gdLst>
                <a:gd name="connsiteX0" fmla="*/ 0 w 1565549"/>
                <a:gd name="connsiteY0" fmla="*/ 0 h 3071397"/>
                <a:gd name="connsiteX1" fmla="*/ 1565549 w 1565549"/>
                <a:gd name="connsiteY1" fmla="*/ 0 h 3071397"/>
                <a:gd name="connsiteX2" fmla="*/ 1565549 w 1565549"/>
                <a:gd name="connsiteY2" fmla="*/ 3071397 h 3071397"/>
                <a:gd name="connsiteX3" fmla="*/ 0 w 1565549"/>
                <a:gd name="connsiteY3" fmla="*/ 3071397 h 3071397"/>
                <a:gd name="connsiteX4" fmla="*/ 0 w 1565549"/>
                <a:gd name="connsiteY4" fmla="*/ 0 h 3071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5549" h="3071397">
                  <a:moveTo>
                    <a:pt x="0" y="0"/>
                  </a:moveTo>
                  <a:lnTo>
                    <a:pt x="1565549" y="0"/>
                  </a:lnTo>
                  <a:lnTo>
                    <a:pt x="1565549" y="3071397"/>
                  </a:lnTo>
                  <a:lnTo>
                    <a:pt x="0" y="3071397"/>
                  </a:lnTo>
                  <a:lnTo>
                    <a:pt x="0" y="0"/>
                  </a:lnTo>
                  <a:close/>
                </a:path>
              </a:pathLst>
            </a:custGeom>
          </p:spPr>
          <p:style>
            <a:lnRef idx="2">
              <a:schemeClr val="accent6">
                <a:tint val="40000"/>
                <a:alpha val="90000"/>
                <a:hueOff val="0"/>
                <a:satOff val="0"/>
                <a:lumOff val="0"/>
                <a:alphaOff val="0"/>
              </a:schemeClr>
            </a:lnRef>
            <a:fillRef idx="1">
              <a:schemeClr val="accent6">
                <a:tint val="40000"/>
                <a:alpha val="90000"/>
                <a:hueOff val="0"/>
                <a:satOff val="0"/>
                <a:lumOff val="0"/>
                <a:alphaOff val="0"/>
              </a:schemeClr>
            </a:fillRef>
            <a:effectRef idx="0">
              <a:schemeClr val="accent6">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58674" tIns="58674" rIns="78232" bIns="88011" numCol="1" spcCol="1270" anchor="t" anchorCtr="0">
              <a:normAutofit/>
            </a:bodyPr>
            <a:lstStyle/>
            <a:p>
              <a:pPr marR="771" algn="just" defTabSz="555224">
                <a:lnSpc>
                  <a:spcPct val="120000"/>
                </a:lnSpc>
                <a:spcAft>
                  <a:spcPts val="607"/>
                </a:spcAft>
                <a:tabLst>
                  <a:tab pos="152687" algn="l"/>
                </a:tabLst>
              </a:pPr>
              <a:r>
                <a:rPr lang="en-GB" sz="1761" b="1" dirty="0">
                  <a:solidFill>
                    <a:prstClr val="black"/>
                  </a:solidFill>
                  <a:latin typeface="Open Sans" panose="020B0606030504020204" pitchFamily="34" charset="0"/>
                  <a:ea typeface="Open Sans" panose="020B0606030504020204" pitchFamily="34" charset="0"/>
                  <a:cs typeface="Open Sans" panose="020B0606030504020204" pitchFamily="34" charset="0"/>
                </a:rPr>
                <a:t>ACCESS:</a:t>
              </a:r>
            </a:p>
            <a:p>
              <a:pPr marL="624627" marR="771" lvl="1" indent="-347015" algn="just" defTabSz="555224">
                <a:lnSpc>
                  <a:spcPct val="120000"/>
                </a:lnSpc>
                <a:spcAft>
                  <a:spcPts val="607"/>
                </a:spcAft>
                <a:buFont typeface="+mj-lt"/>
                <a:buAutoNum type="romanUcPeriod"/>
              </a:pPr>
              <a:r>
                <a:rPr lang="en-US" sz="1761" dirty="0">
                  <a:solidFill>
                    <a:srgbClr val="000000"/>
                  </a:solidFill>
                  <a:latin typeface="Open Sans" panose="020B0606030504020204" pitchFamily="34" charset="0"/>
                  <a:ea typeface="Open Sans" panose="020B0606030504020204" pitchFamily="34" charset="0"/>
                  <a:cs typeface="Open Sans" panose="020B0606030504020204" pitchFamily="34" charset="0"/>
                </a:rPr>
                <a:t>Adequate donations during blood drives.</a:t>
              </a:r>
              <a:endParaRPr lang="en-KE" sz="176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624627" marR="771" lvl="1" indent="-347015" algn="just" defTabSz="555224">
                <a:lnSpc>
                  <a:spcPct val="120000"/>
                </a:lnSpc>
                <a:spcAft>
                  <a:spcPts val="607"/>
                </a:spcAft>
                <a:buFont typeface="+mj-lt"/>
                <a:buAutoNum type="romanUcPeriod"/>
              </a:pPr>
              <a:r>
                <a:rPr lang="en-US" sz="1761" dirty="0">
                  <a:solidFill>
                    <a:srgbClr val="000000"/>
                  </a:solidFill>
                  <a:latin typeface="Open Sans" panose="020B0606030504020204" pitchFamily="34" charset="0"/>
                  <a:ea typeface="Open Sans" panose="020B0606030504020204" pitchFamily="34" charset="0"/>
                  <a:cs typeface="Open Sans" panose="020B0606030504020204" pitchFamily="34" charset="0"/>
                </a:rPr>
                <a:t>A recurrent pool of donors built. </a:t>
              </a:r>
              <a:endParaRPr lang="en-KE" sz="176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624627" marR="771" lvl="1" indent="-347015" algn="just" defTabSz="555224">
                <a:lnSpc>
                  <a:spcPct val="120000"/>
                </a:lnSpc>
                <a:spcAft>
                  <a:spcPts val="607"/>
                </a:spcAft>
                <a:buFont typeface="+mj-lt"/>
                <a:buAutoNum type="romanUcPeriod"/>
              </a:pPr>
              <a:r>
                <a:rPr lang="en-US" sz="1761" dirty="0">
                  <a:solidFill>
                    <a:srgbClr val="000000"/>
                  </a:solidFill>
                  <a:latin typeface="Open Sans" panose="020B0606030504020204" pitchFamily="34" charset="0"/>
                  <a:ea typeface="Open Sans" panose="020B0606030504020204" pitchFamily="34" charset="0"/>
                  <a:cs typeface="Open Sans" panose="020B0606030504020204" pitchFamily="34" charset="0"/>
                </a:rPr>
                <a:t>Sustainable and adequate quantities of blood.</a:t>
              </a:r>
              <a:endParaRPr lang="en-KE" sz="176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R="771" algn="just" defTabSz="555224">
                <a:lnSpc>
                  <a:spcPct val="120000"/>
                </a:lnSpc>
                <a:spcAft>
                  <a:spcPts val="607"/>
                </a:spcAft>
                <a:tabLst>
                  <a:tab pos="121841" algn="l"/>
                </a:tabLst>
              </a:pPr>
              <a:r>
                <a:rPr lang="en-US" sz="1761" b="1" dirty="0">
                  <a:solidFill>
                    <a:srgbClr val="000000"/>
                  </a:solidFill>
                  <a:latin typeface="Open Sans" panose="020B0606030504020204" pitchFamily="34" charset="0"/>
                  <a:ea typeface="Open Sans" panose="020B0606030504020204" pitchFamily="34" charset="0"/>
                  <a:cs typeface="Open Sans" panose="020B0606030504020204" pitchFamily="34" charset="0"/>
                </a:rPr>
                <a:t>PROCESSING: </a:t>
              </a:r>
              <a:r>
                <a:rPr lang="en-US" sz="1761" dirty="0">
                  <a:solidFill>
                    <a:srgbClr val="000000"/>
                  </a:solidFill>
                  <a:latin typeface="Open Sans" panose="020B0606030504020204" pitchFamily="34" charset="0"/>
                  <a:ea typeface="Open Sans" panose="020B0606030504020204" pitchFamily="34" charset="0"/>
                  <a:cs typeface="Open Sans" panose="020B0606030504020204" pitchFamily="34" charset="0"/>
                </a:rPr>
                <a:t>Stability of blood and blood products.</a:t>
              </a:r>
              <a:endParaRPr lang="en-US" sz="1761" b="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R="771" algn="just" defTabSz="555224">
                <a:lnSpc>
                  <a:spcPct val="120000"/>
                </a:lnSpc>
                <a:spcAft>
                  <a:spcPts val="607"/>
                </a:spcAft>
                <a:tabLst>
                  <a:tab pos="121841" algn="l"/>
                </a:tabLst>
              </a:pPr>
              <a:r>
                <a:rPr lang="en-US" sz="1761" b="1" dirty="0">
                  <a:solidFill>
                    <a:srgbClr val="000000"/>
                  </a:solidFill>
                  <a:latin typeface="Open Sans" panose="020B0606030504020204" pitchFamily="34" charset="0"/>
                  <a:ea typeface="Open Sans" panose="020B0606030504020204" pitchFamily="34" charset="0"/>
                  <a:cs typeface="Open Sans" panose="020B0606030504020204" pitchFamily="34" charset="0"/>
                </a:rPr>
                <a:t>DISTRIBUTION:</a:t>
              </a:r>
            </a:p>
            <a:p>
              <a:pPr marL="347015" marR="771" indent="-347015" algn="just" defTabSz="555224">
                <a:lnSpc>
                  <a:spcPct val="120000"/>
                </a:lnSpc>
                <a:spcAft>
                  <a:spcPts val="30"/>
                </a:spcAft>
                <a:buFont typeface="+mj-lt"/>
                <a:buAutoNum type="romanUcPeriod"/>
              </a:pPr>
              <a:r>
                <a:rPr lang="en-US" sz="1761" dirty="0">
                  <a:solidFill>
                    <a:srgbClr val="000000"/>
                  </a:solidFill>
                  <a:latin typeface="Open Sans" panose="020B0606030504020204" pitchFamily="34" charset="0"/>
                  <a:ea typeface="Open Sans" panose="020B0606030504020204" pitchFamily="34" charset="0"/>
                  <a:cs typeface="Open Sans" panose="020B0606030504020204" pitchFamily="34" charset="0"/>
                </a:rPr>
                <a:t>Knowledge of available quantities for better planning.</a:t>
              </a:r>
              <a:endParaRPr lang="en-KE" sz="1761" dirty="0">
                <a:solidFill>
                  <a:srgbClr val="000000"/>
                </a:solidFill>
                <a:latin typeface="Open Sans" panose="020B0606030504020204" pitchFamily="34" charset="0"/>
                <a:ea typeface="Open Sans" panose="020B0606030504020204" pitchFamily="34" charset="0"/>
                <a:cs typeface="Open Sans" panose="020B0606030504020204" pitchFamily="34" charset="0"/>
              </a:endParaRPr>
            </a:p>
            <a:p>
              <a:pPr marL="347015" marR="771" indent="-347015" algn="just" defTabSz="555224">
                <a:lnSpc>
                  <a:spcPct val="120000"/>
                </a:lnSpc>
                <a:spcAft>
                  <a:spcPts val="30"/>
                </a:spcAft>
                <a:buFont typeface="+mj-lt"/>
                <a:buAutoNum type="romanUcPeriod"/>
              </a:pPr>
              <a:r>
                <a:rPr lang="en-US" sz="1761" dirty="0">
                  <a:solidFill>
                    <a:srgbClr val="000000"/>
                  </a:solidFill>
                  <a:latin typeface="Open Sans" panose="020B0606030504020204" pitchFamily="34" charset="0"/>
                  <a:ea typeface="Open Sans" panose="020B0606030504020204" pitchFamily="34" charset="0"/>
                  <a:cs typeface="Open Sans" panose="020B0606030504020204" pitchFamily="34" charset="0"/>
                </a:rPr>
                <a:t>Reduced human interference and bias in the blood product consumption supply chain</a:t>
              </a:r>
              <a:r>
                <a:rPr lang="en-US" sz="1761" dirty="0">
                  <a:solidFill>
                    <a:srgbClr val="000000"/>
                  </a:solidFill>
                  <a:ea typeface="Times New Roman" panose="02020603050405020304" pitchFamily="18" charset="0"/>
                </a:rPr>
                <a:t>.</a:t>
              </a:r>
              <a:endParaRPr lang="en-KE" sz="1761" dirty="0">
                <a:solidFill>
                  <a:srgbClr val="000000"/>
                </a:solidFill>
                <a:ea typeface="Times New Roman" panose="02020603050405020304" pitchFamily="18" charset="0"/>
              </a:endParaRPr>
            </a:p>
          </p:txBody>
        </p:sp>
        <p:sp>
          <p:nvSpPr>
            <p:cNvPr id="20" name="Freeform: Shape 14">
              <a:extLst>
                <a:ext uri="{FF2B5EF4-FFF2-40B4-BE49-F238E27FC236}">
                  <a16:creationId xmlns:a16="http://schemas.microsoft.com/office/drawing/2014/main" id="{D5153489-DCCD-A609-8279-BF604FE7221C}"/>
                </a:ext>
              </a:extLst>
            </p:cNvPr>
            <p:cNvSpPr/>
            <p:nvPr/>
          </p:nvSpPr>
          <p:spPr>
            <a:xfrm>
              <a:off x="9618298" y="2463173"/>
              <a:ext cx="1722292" cy="504694"/>
            </a:xfrm>
            <a:custGeom>
              <a:avLst/>
              <a:gdLst>
                <a:gd name="connsiteX0" fmla="*/ 0 w 1565549"/>
                <a:gd name="connsiteY0" fmla="*/ 0 h 504694"/>
                <a:gd name="connsiteX1" fmla="*/ 1565549 w 1565549"/>
                <a:gd name="connsiteY1" fmla="*/ 0 h 504694"/>
                <a:gd name="connsiteX2" fmla="*/ 1565549 w 1565549"/>
                <a:gd name="connsiteY2" fmla="*/ 504694 h 504694"/>
                <a:gd name="connsiteX3" fmla="*/ 0 w 1565549"/>
                <a:gd name="connsiteY3" fmla="*/ 504694 h 504694"/>
                <a:gd name="connsiteX4" fmla="*/ 0 w 1565549"/>
                <a:gd name="connsiteY4" fmla="*/ 0 h 5046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5549" h="504694">
                  <a:moveTo>
                    <a:pt x="0" y="0"/>
                  </a:moveTo>
                  <a:lnTo>
                    <a:pt x="1565549" y="0"/>
                  </a:lnTo>
                  <a:lnTo>
                    <a:pt x="1565549" y="504694"/>
                  </a:lnTo>
                  <a:lnTo>
                    <a:pt x="0" y="504694"/>
                  </a:lnTo>
                  <a:lnTo>
                    <a:pt x="0" y="0"/>
                  </a:ln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13792" tIns="65024" rIns="113792" bIns="65024" numCol="1" spcCol="1270" anchor="ctr" anchorCtr="0">
              <a:normAutofit/>
            </a:bodyPr>
            <a:lstStyle/>
            <a:p>
              <a:pPr marL="0" lvl="0" indent="0" algn="ctr" defTabSz="711200">
                <a:lnSpc>
                  <a:spcPct val="90000"/>
                </a:lnSpc>
                <a:spcBef>
                  <a:spcPct val="0"/>
                </a:spcBef>
                <a:spcAft>
                  <a:spcPct val="35000"/>
                </a:spcAft>
                <a:buNone/>
              </a:pPr>
              <a:r>
                <a:rPr lang="en-US" sz="2400" kern="1200" dirty="0">
                  <a:solidFill>
                    <a:schemeClr val="tx1"/>
                  </a:solidFill>
                  <a:latin typeface="Aharoni" panose="02010803020104030203" pitchFamily="2" charset="-79"/>
                  <a:cs typeface="Aharoni" panose="02010803020104030203" pitchFamily="2" charset="-79"/>
                </a:rPr>
                <a:t>Impact</a:t>
              </a:r>
            </a:p>
          </p:txBody>
        </p:sp>
        <p:sp>
          <p:nvSpPr>
            <p:cNvPr id="21" name="Freeform: Shape 15">
              <a:extLst>
                <a:ext uri="{FF2B5EF4-FFF2-40B4-BE49-F238E27FC236}">
                  <a16:creationId xmlns:a16="http://schemas.microsoft.com/office/drawing/2014/main" id="{BF9F9D20-5FA5-074B-510D-631CBD4A1B47}"/>
                </a:ext>
              </a:extLst>
            </p:cNvPr>
            <p:cNvSpPr/>
            <p:nvPr/>
          </p:nvSpPr>
          <p:spPr>
            <a:xfrm>
              <a:off x="9645635" y="2967868"/>
              <a:ext cx="1694954" cy="3071397"/>
            </a:xfrm>
            <a:custGeom>
              <a:avLst/>
              <a:gdLst>
                <a:gd name="connsiteX0" fmla="*/ 0 w 1565549"/>
                <a:gd name="connsiteY0" fmla="*/ 0 h 3071397"/>
                <a:gd name="connsiteX1" fmla="*/ 1565549 w 1565549"/>
                <a:gd name="connsiteY1" fmla="*/ 0 h 3071397"/>
                <a:gd name="connsiteX2" fmla="*/ 1565549 w 1565549"/>
                <a:gd name="connsiteY2" fmla="*/ 3071397 h 3071397"/>
                <a:gd name="connsiteX3" fmla="*/ 0 w 1565549"/>
                <a:gd name="connsiteY3" fmla="*/ 3071397 h 3071397"/>
                <a:gd name="connsiteX4" fmla="*/ 0 w 1565549"/>
                <a:gd name="connsiteY4" fmla="*/ 0 h 3071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5549" h="3071397">
                  <a:moveTo>
                    <a:pt x="0" y="0"/>
                  </a:moveTo>
                  <a:lnTo>
                    <a:pt x="1565549" y="0"/>
                  </a:lnTo>
                  <a:lnTo>
                    <a:pt x="1565549" y="3071397"/>
                  </a:lnTo>
                  <a:lnTo>
                    <a:pt x="0" y="3071397"/>
                  </a:lnTo>
                  <a:lnTo>
                    <a:pt x="0" y="0"/>
                  </a:lnTo>
                  <a:close/>
                </a:path>
              </a:pathLst>
            </a:custGeom>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58674" tIns="58674" rIns="78232" bIns="88011" numCol="1" spcCol="1270" anchor="t" anchorCtr="0">
              <a:normAutofit/>
            </a:bodyPr>
            <a:lstStyle/>
            <a:p>
              <a:pPr marL="57150" lvl="1" indent="-57150" algn="l" defTabSz="488950">
                <a:lnSpc>
                  <a:spcPct val="150000"/>
                </a:lnSpc>
                <a:spcBef>
                  <a:spcPct val="0"/>
                </a:spcBef>
                <a:spcAft>
                  <a:spcPct val="15000"/>
                </a:spcAft>
                <a:buFont typeface="+mj-lt"/>
                <a:buAutoNum type="romanLcPeriod"/>
              </a:pPr>
              <a:r>
                <a:rPr lang="en-US" sz="1760" kern="1200" dirty="0">
                  <a:latin typeface="Open Sans" panose="020B0606030504020204" pitchFamily="34" charset="0"/>
                  <a:ea typeface="Open Sans" panose="020B0606030504020204" pitchFamily="34" charset="0"/>
                  <a:cs typeface="Open Sans" panose="020B0606030504020204" pitchFamily="34" charset="0"/>
                </a:rPr>
                <a:t>Reduction in blood shortages.</a:t>
              </a:r>
            </a:p>
            <a:p>
              <a:pPr marL="57150" lvl="1" indent="-57150" algn="l" defTabSz="488950">
                <a:lnSpc>
                  <a:spcPct val="150000"/>
                </a:lnSpc>
                <a:spcBef>
                  <a:spcPct val="0"/>
                </a:spcBef>
                <a:spcAft>
                  <a:spcPct val="15000"/>
                </a:spcAft>
                <a:buFont typeface="+mj-lt"/>
                <a:buAutoNum type="romanLcPeriod"/>
              </a:pPr>
              <a:r>
                <a:rPr lang="en-US" sz="1760" dirty="0">
                  <a:latin typeface="Open Sans" panose="020B0606030504020204" pitchFamily="34" charset="0"/>
                  <a:ea typeface="Open Sans" panose="020B0606030504020204" pitchFamily="34" charset="0"/>
                  <a:cs typeface="Open Sans" panose="020B0606030504020204" pitchFamily="34" charset="0"/>
                </a:rPr>
                <a:t>Sufficient number of safe blood units for transfusion.</a:t>
              </a:r>
              <a:endParaRPr lang="en-US" sz="1760" kern="1200" dirty="0">
                <a:latin typeface="Open Sans" panose="020B0606030504020204" pitchFamily="34" charset="0"/>
                <a:ea typeface="Open Sans" panose="020B0606030504020204" pitchFamily="34" charset="0"/>
                <a:cs typeface="Open Sans" panose="020B0606030504020204" pitchFamily="34" charset="0"/>
              </a:endParaRPr>
            </a:p>
            <a:p>
              <a:pPr marL="57150" lvl="1" indent="-57150" algn="l" defTabSz="488950">
                <a:lnSpc>
                  <a:spcPct val="150000"/>
                </a:lnSpc>
                <a:spcBef>
                  <a:spcPct val="0"/>
                </a:spcBef>
                <a:spcAft>
                  <a:spcPct val="15000"/>
                </a:spcAft>
                <a:buFont typeface="+mj-lt"/>
                <a:buAutoNum type="romanLcPeriod"/>
              </a:pPr>
              <a:r>
                <a:rPr lang="en-US" sz="1760" dirty="0">
                  <a:latin typeface="Open Sans" panose="020B0606030504020204" pitchFamily="34" charset="0"/>
                  <a:ea typeface="Open Sans" panose="020B0606030504020204" pitchFamily="34" charset="0"/>
                  <a:cs typeface="Open Sans" panose="020B0606030504020204" pitchFamily="34" charset="0"/>
                </a:rPr>
                <a:t>Increased number of lives saved.</a:t>
              </a:r>
            </a:p>
            <a:p>
              <a:pPr marL="57150" lvl="1" indent="-57150" algn="l" defTabSz="488950">
                <a:lnSpc>
                  <a:spcPct val="150000"/>
                </a:lnSpc>
                <a:spcBef>
                  <a:spcPct val="0"/>
                </a:spcBef>
                <a:spcAft>
                  <a:spcPct val="15000"/>
                </a:spcAft>
                <a:buFont typeface="+mj-lt"/>
                <a:buAutoNum type="romanLcPeriod"/>
              </a:pPr>
              <a:r>
                <a:rPr lang="en-US" sz="1760" kern="1200" dirty="0">
                  <a:latin typeface="Open Sans" panose="020B0606030504020204" pitchFamily="34" charset="0"/>
                  <a:ea typeface="Open Sans" panose="020B0606030504020204" pitchFamily="34" charset="0"/>
                  <a:cs typeface="Open Sans" panose="020B0606030504020204" pitchFamily="34" charset="0"/>
                </a:rPr>
                <a:t>Reduced Hospital Stay</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2"/>
            <a:stretch>
              <a:fillRect r="-63" b="-168"/>
            </a:stretch>
          </a:blipFill>
        </p:spPr>
        <p:txBody>
          <a:bodyPr/>
          <a:lstStyle/>
          <a:p>
            <a:endParaRPr lang="en-GB"/>
          </a:p>
        </p:txBody>
      </p:sp>
      <p:sp>
        <p:nvSpPr>
          <p:cNvPr id="3" name="Freeform 3"/>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5"/>
            <a:stretch>
              <a:fillRect t="-84" r="-12821" b="-84"/>
            </a:stretch>
          </a:blipFill>
        </p:spPr>
        <p:txBody>
          <a:bodyPr/>
          <a:lstStyle/>
          <a:p>
            <a:endParaRPr lang="en-GB"/>
          </a:p>
        </p:txBody>
      </p:sp>
      <p:sp>
        <p:nvSpPr>
          <p:cNvPr id="5" name="Freeform 5"/>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6" name="Freeform 6"/>
          <p:cNvSpPr/>
          <p:nvPr/>
        </p:nvSpPr>
        <p:spPr>
          <a:xfrm rot="5400000">
            <a:off x="-2554034" y="2560387"/>
            <a:ext cx="11283953" cy="6175877"/>
          </a:xfrm>
          <a:custGeom>
            <a:avLst/>
            <a:gdLst/>
            <a:ahLst/>
            <a:cxnLst/>
            <a:rect l="l" t="t" r="r" b="b"/>
            <a:pathLst>
              <a:path w="11283953" h="6175877">
                <a:moveTo>
                  <a:pt x="0" y="0"/>
                </a:moveTo>
                <a:lnTo>
                  <a:pt x="11283954" y="0"/>
                </a:lnTo>
                <a:lnTo>
                  <a:pt x="11283954" y="6175876"/>
                </a:lnTo>
                <a:lnTo>
                  <a:pt x="0" y="6175876"/>
                </a:lnTo>
                <a:lnTo>
                  <a:pt x="0" y="0"/>
                </a:lnTo>
                <a:close/>
              </a:path>
            </a:pathLst>
          </a:custGeom>
          <a:blipFill>
            <a:blip r:embed="rId6"/>
            <a:stretch>
              <a:fillRect r="-112" b="-82915"/>
            </a:stretch>
          </a:blipFill>
        </p:spPr>
        <p:txBody>
          <a:bodyPr/>
          <a:lstStyle/>
          <a:p>
            <a:endParaRPr lang="en-GB"/>
          </a:p>
        </p:txBody>
      </p:sp>
      <p:grpSp>
        <p:nvGrpSpPr>
          <p:cNvPr id="7" name="Group 7"/>
          <p:cNvGrpSpPr/>
          <p:nvPr/>
        </p:nvGrpSpPr>
        <p:grpSpPr>
          <a:xfrm>
            <a:off x="1619593" y="2021843"/>
            <a:ext cx="17740987" cy="8652227"/>
            <a:chOff x="0" y="0"/>
            <a:chExt cx="4258502" cy="2076859"/>
          </a:xfrm>
        </p:grpSpPr>
        <p:sp>
          <p:nvSpPr>
            <p:cNvPr id="8" name="Freeform 8"/>
            <p:cNvSpPr/>
            <p:nvPr/>
          </p:nvSpPr>
          <p:spPr>
            <a:xfrm>
              <a:off x="0" y="0"/>
              <a:ext cx="4258502" cy="2076859"/>
            </a:xfrm>
            <a:custGeom>
              <a:avLst/>
              <a:gdLst/>
              <a:ahLst/>
              <a:cxnLst/>
              <a:rect l="l" t="t" r="r" b="b"/>
              <a:pathLst>
                <a:path w="4258502" h="2076859">
                  <a:moveTo>
                    <a:pt x="12219" y="0"/>
                  </a:moveTo>
                  <a:lnTo>
                    <a:pt x="4246284" y="0"/>
                  </a:lnTo>
                  <a:cubicBezTo>
                    <a:pt x="4249524" y="0"/>
                    <a:pt x="4252632" y="1287"/>
                    <a:pt x="4254924" y="3579"/>
                  </a:cubicBezTo>
                  <a:cubicBezTo>
                    <a:pt x="4257215" y="5870"/>
                    <a:pt x="4258502" y="8978"/>
                    <a:pt x="4258502" y="12219"/>
                  </a:cubicBezTo>
                  <a:lnTo>
                    <a:pt x="4258502" y="2064640"/>
                  </a:lnTo>
                  <a:cubicBezTo>
                    <a:pt x="4258502" y="2071388"/>
                    <a:pt x="4253032" y="2076859"/>
                    <a:pt x="4246284" y="2076859"/>
                  </a:cubicBezTo>
                  <a:lnTo>
                    <a:pt x="12219" y="2076859"/>
                  </a:lnTo>
                  <a:cubicBezTo>
                    <a:pt x="8978" y="2076859"/>
                    <a:pt x="5870" y="2075572"/>
                    <a:pt x="3579" y="2073280"/>
                  </a:cubicBezTo>
                  <a:cubicBezTo>
                    <a:pt x="1287" y="2070989"/>
                    <a:pt x="0" y="2067881"/>
                    <a:pt x="0" y="2064640"/>
                  </a:cubicBezTo>
                  <a:lnTo>
                    <a:pt x="0" y="12219"/>
                  </a:lnTo>
                  <a:cubicBezTo>
                    <a:pt x="0" y="8978"/>
                    <a:pt x="1287" y="5870"/>
                    <a:pt x="3579" y="3579"/>
                  </a:cubicBezTo>
                  <a:cubicBezTo>
                    <a:pt x="5870" y="1287"/>
                    <a:pt x="8978" y="0"/>
                    <a:pt x="12219" y="0"/>
                  </a:cubicBezTo>
                  <a:close/>
                </a:path>
              </a:pathLst>
            </a:custGeom>
            <a:solidFill>
              <a:srgbClr val="08C8A1"/>
            </a:solidFill>
          </p:spPr>
          <p:txBody>
            <a:bodyPr/>
            <a:lstStyle/>
            <a:p>
              <a:endParaRPr lang="en-GB"/>
            </a:p>
          </p:txBody>
        </p:sp>
        <p:sp>
          <p:nvSpPr>
            <p:cNvPr id="9" name="TextBox 9"/>
            <p:cNvSpPr txBox="1"/>
            <p:nvPr/>
          </p:nvSpPr>
          <p:spPr>
            <a:xfrm>
              <a:off x="0" y="-171450"/>
              <a:ext cx="4258502" cy="2248309"/>
            </a:xfrm>
            <a:prstGeom prst="rect">
              <a:avLst/>
            </a:prstGeom>
          </p:spPr>
          <p:txBody>
            <a:bodyPr lIns="50800" tIns="50800" rIns="50800" bIns="50800" rtlCol="0" anchor="ctr"/>
            <a:lstStyle/>
            <a:p>
              <a:pPr algn="ctr">
                <a:lnSpc>
                  <a:spcPts val="5220"/>
                </a:lnSpc>
              </a:pPr>
              <a:endParaRPr/>
            </a:p>
          </p:txBody>
        </p:sp>
      </p:grpSp>
      <p:sp>
        <p:nvSpPr>
          <p:cNvPr id="10" name="TextBox 10"/>
          <p:cNvSpPr txBox="1"/>
          <p:nvPr/>
        </p:nvSpPr>
        <p:spPr>
          <a:xfrm>
            <a:off x="1807192" y="1062037"/>
            <a:ext cx="5845121" cy="596899"/>
          </a:xfrm>
          <a:prstGeom prst="rect">
            <a:avLst/>
          </a:prstGeom>
        </p:spPr>
        <p:txBody>
          <a:bodyPr lIns="0" tIns="0" rIns="0" bIns="0" rtlCol="0" anchor="t">
            <a:spAutoFit/>
          </a:bodyPr>
          <a:lstStyle/>
          <a:p>
            <a:pPr algn="l">
              <a:lnSpc>
                <a:spcPts val="4900"/>
              </a:lnSpc>
            </a:pPr>
            <a:r>
              <a:rPr lang="en-US" sz="3500">
                <a:solidFill>
                  <a:srgbClr val="FFFEFE"/>
                </a:solidFill>
                <a:latin typeface="League Spartan"/>
                <a:ea typeface="League Spartan"/>
                <a:cs typeface="League Spartan"/>
                <a:sym typeface="League Spartan"/>
              </a:rPr>
              <a:t>Final Theory of Change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2"/>
            <a:stretch>
              <a:fillRect r="-63" b="-168"/>
            </a:stretch>
          </a:blipFill>
        </p:spPr>
        <p:txBody>
          <a:bodyPr/>
          <a:lstStyle/>
          <a:p>
            <a:endParaRPr lang="en-GB"/>
          </a:p>
        </p:txBody>
      </p:sp>
      <p:sp>
        <p:nvSpPr>
          <p:cNvPr id="3" name="Freeform 3"/>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0" y="0"/>
            <a:ext cx="20091397" cy="11290297"/>
          </a:xfrm>
          <a:custGeom>
            <a:avLst/>
            <a:gdLst/>
            <a:ahLst/>
            <a:cxnLst/>
            <a:rect l="l" t="t" r="r" b="b"/>
            <a:pathLst>
              <a:path w="20091397" h="11290297">
                <a:moveTo>
                  <a:pt x="0" y="0"/>
                </a:moveTo>
                <a:lnTo>
                  <a:pt x="20091397" y="0"/>
                </a:lnTo>
                <a:lnTo>
                  <a:pt x="20091397" y="11290297"/>
                </a:lnTo>
                <a:lnTo>
                  <a:pt x="0" y="11290297"/>
                </a:lnTo>
                <a:lnTo>
                  <a:pt x="0" y="0"/>
                </a:lnTo>
                <a:close/>
              </a:path>
            </a:pathLst>
          </a:custGeom>
          <a:blipFill>
            <a:blip r:embed="rId5"/>
            <a:stretch>
              <a:fillRect t="-84" r="-13071" b="-84"/>
            </a:stretch>
          </a:blipFill>
        </p:spPr>
        <p:txBody>
          <a:bodyPr/>
          <a:lstStyle/>
          <a:p>
            <a:endParaRPr lang="en-GB"/>
          </a:p>
        </p:txBody>
      </p:sp>
      <p:sp>
        <p:nvSpPr>
          <p:cNvPr id="5" name="Freeform 5"/>
          <p:cNvSpPr/>
          <p:nvPr/>
        </p:nvSpPr>
        <p:spPr>
          <a:xfrm>
            <a:off x="4012948" y="8539591"/>
            <a:ext cx="2399728" cy="1618821"/>
          </a:xfrm>
          <a:custGeom>
            <a:avLst/>
            <a:gdLst/>
            <a:ahLst/>
            <a:cxnLst/>
            <a:rect l="l" t="t" r="r" b="b"/>
            <a:pathLst>
              <a:path w="2399728" h="1618821">
                <a:moveTo>
                  <a:pt x="0" y="0"/>
                </a:moveTo>
                <a:lnTo>
                  <a:pt x="2399729" y="0"/>
                </a:lnTo>
                <a:lnTo>
                  <a:pt x="2399729" y="1618821"/>
                </a:lnTo>
                <a:lnTo>
                  <a:pt x="0" y="161882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6" name="Freeform 6"/>
          <p:cNvSpPr/>
          <p:nvPr/>
        </p:nvSpPr>
        <p:spPr>
          <a:xfrm>
            <a:off x="7398638" y="8539591"/>
            <a:ext cx="2958246" cy="1618821"/>
          </a:xfrm>
          <a:custGeom>
            <a:avLst/>
            <a:gdLst/>
            <a:ahLst/>
            <a:cxnLst/>
            <a:rect l="l" t="t" r="r" b="b"/>
            <a:pathLst>
              <a:path w="2958246" h="1618821">
                <a:moveTo>
                  <a:pt x="0" y="0"/>
                </a:moveTo>
                <a:lnTo>
                  <a:pt x="2958246" y="0"/>
                </a:lnTo>
                <a:lnTo>
                  <a:pt x="2958246" y="1618821"/>
                </a:lnTo>
                <a:lnTo>
                  <a:pt x="0" y="161882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GB"/>
          </a:p>
        </p:txBody>
      </p:sp>
      <p:sp>
        <p:nvSpPr>
          <p:cNvPr id="7" name="Freeform 7"/>
          <p:cNvSpPr/>
          <p:nvPr/>
        </p:nvSpPr>
        <p:spPr>
          <a:xfrm>
            <a:off x="4012948" y="8379970"/>
            <a:ext cx="2623641" cy="1769870"/>
          </a:xfrm>
          <a:custGeom>
            <a:avLst/>
            <a:gdLst/>
            <a:ahLst/>
            <a:cxnLst/>
            <a:rect l="l" t="t" r="r" b="b"/>
            <a:pathLst>
              <a:path w="2623641" h="1769870">
                <a:moveTo>
                  <a:pt x="0" y="0"/>
                </a:moveTo>
                <a:lnTo>
                  <a:pt x="2623642" y="0"/>
                </a:lnTo>
                <a:lnTo>
                  <a:pt x="2623642" y="1769870"/>
                </a:lnTo>
                <a:lnTo>
                  <a:pt x="0" y="1769870"/>
                </a:lnTo>
                <a:lnTo>
                  <a:pt x="0" y="0"/>
                </a:lnTo>
                <a:close/>
              </a:path>
            </a:pathLst>
          </a:custGeom>
          <a:blipFill>
            <a:blip r:embed="rId10"/>
            <a:stretch>
              <a:fillRect/>
            </a:stretch>
          </a:blipFill>
        </p:spPr>
        <p:txBody>
          <a:bodyPr/>
          <a:lstStyle/>
          <a:p>
            <a:endParaRPr lang="en-GB"/>
          </a:p>
        </p:txBody>
      </p:sp>
      <p:sp>
        <p:nvSpPr>
          <p:cNvPr id="8" name="Freeform 8"/>
          <p:cNvSpPr/>
          <p:nvPr/>
        </p:nvSpPr>
        <p:spPr>
          <a:xfrm>
            <a:off x="7398638" y="8379970"/>
            <a:ext cx="3249938" cy="1778442"/>
          </a:xfrm>
          <a:custGeom>
            <a:avLst/>
            <a:gdLst/>
            <a:ahLst/>
            <a:cxnLst/>
            <a:rect l="l" t="t" r="r" b="b"/>
            <a:pathLst>
              <a:path w="3249938" h="1778442">
                <a:moveTo>
                  <a:pt x="0" y="0"/>
                </a:moveTo>
                <a:lnTo>
                  <a:pt x="3249938" y="0"/>
                </a:lnTo>
                <a:lnTo>
                  <a:pt x="3249938" y="1778442"/>
                </a:lnTo>
                <a:lnTo>
                  <a:pt x="0" y="1778442"/>
                </a:lnTo>
                <a:lnTo>
                  <a:pt x="0" y="0"/>
                </a:lnTo>
                <a:close/>
              </a:path>
            </a:pathLst>
          </a:custGeom>
          <a:blipFill>
            <a:blip r:embed="rId11"/>
            <a:stretch>
              <a:fillRect/>
            </a:stretch>
          </a:blipFill>
        </p:spPr>
        <p:txBody>
          <a:bodyPr/>
          <a:lstStyle/>
          <a:p>
            <a:endParaRPr lang="en-GB"/>
          </a:p>
        </p:txBody>
      </p:sp>
      <p:sp>
        <p:nvSpPr>
          <p:cNvPr id="9" name="Freeform 9"/>
          <p:cNvSpPr/>
          <p:nvPr/>
        </p:nvSpPr>
        <p:spPr>
          <a:xfrm>
            <a:off x="11459923" y="8705619"/>
            <a:ext cx="4615354" cy="1444221"/>
          </a:xfrm>
          <a:custGeom>
            <a:avLst/>
            <a:gdLst/>
            <a:ahLst/>
            <a:cxnLst/>
            <a:rect l="l" t="t" r="r" b="b"/>
            <a:pathLst>
              <a:path w="4615354" h="1444221">
                <a:moveTo>
                  <a:pt x="0" y="0"/>
                </a:moveTo>
                <a:lnTo>
                  <a:pt x="4615354" y="0"/>
                </a:lnTo>
                <a:lnTo>
                  <a:pt x="4615354" y="1444221"/>
                </a:lnTo>
                <a:lnTo>
                  <a:pt x="0" y="1444221"/>
                </a:lnTo>
                <a:lnTo>
                  <a:pt x="0" y="0"/>
                </a:lnTo>
                <a:close/>
              </a:path>
            </a:pathLst>
          </a:custGeom>
          <a:blipFill>
            <a:blip r:embed="rId12"/>
            <a:stretch>
              <a:fillRect/>
            </a:stretch>
          </a:blipFill>
        </p:spPr>
        <p:txBody>
          <a:bodyPr/>
          <a:lstStyle/>
          <a:p>
            <a:endParaRPr lang="en-GB"/>
          </a:p>
        </p:txBody>
      </p:sp>
      <p:sp>
        <p:nvSpPr>
          <p:cNvPr id="10" name="TextBox 10"/>
          <p:cNvSpPr txBox="1"/>
          <p:nvPr/>
        </p:nvSpPr>
        <p:spPr>
          <a:xfrm>
            <a:off x="6253162" y="3859848"/>
            <a:ext cx="7581900" cy="1783714"/>
          </a:xfrm>
          <a:prstGeom prst="rect">
            <a:avLst/>
          </a:prstGeom>
        </p:spPr>
        <p:txBody>
          <a:bodyPr lIns="0" tIns="0" rIns="0" bIns="0" rtlCol="0" anchor="t">
            <a:spAutoFit/>
          </a:bodyPr>
          <a:lstStyle/>
          <a:p>
            <a:pPr algn="ctr">
              <a:lnSpc>
                <a:spcPts val="14560"/>
              </a:lnSpc>
            </a:pPr>
            <a:r>
              <a:rPr lang="en-US" sz="10400">
                <a:solidFill>
                  <a:srgbClr val="FFFFFF"/>
                </a:solidFill>
                <a:latin typeface="League Spartan"/>
                <a:ea typeface="League Spartan"/>
                <a:cs typeface="League Spartan"/>
                <a:sym typeface="League Spartan"/>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171</TotalTime>
  <Words>1341</Words>
  <Application>Microsoft Office PowerPoint</Application>
  <PresentationFormat>Custom</PresentationFormat>
  <Paragraphs>137</Paragraphs>
  <Slides>14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Open Sans Semi-Bold</vt:lpstr>
      <vt:lpstr>Aharoni</vt:lpstr>
      <vt:lpstr>Times New Roman</vt:lpstr>
      <vt:lpstr>League Spartan</vt:lpstr>
      <vt:lpstr>Arial</vt:lpstr>
      <vt:lpstr>Open Sans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Theory of Change</dc:title>
  <dc:creator>Gerald Lwande</dc:creator>
  <cp:lastModifiedBy>Gerald Lwande</cp:lastModifiedBy>
  <cp:revision>1</cp:revision>
  <dcterms:created xsi:type="dcterms:W3CDTF">2006-08-16T00:00:00Z</dcterms:created>
  <dcterms:modified xsi:type="dcterms:W3CDTF">2025-07-24T11:45:19Z</dcterms:modified>
  <dc:identifier>DAGsG9iGJ2E</dc:identifier>
</cp:coreProperties>
</file>