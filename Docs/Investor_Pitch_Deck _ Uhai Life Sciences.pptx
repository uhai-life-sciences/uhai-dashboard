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20078700" cy="11277600"/>
  <p:notesSz cx="6858000" cy="9144000"/>
  <p:embeddedFontLst>
    <p:embeddedFont>
      <p:font typeface="Aharoni" panose="02010803020104030203" pitchFamily="2" charset="-79"/>
      <p:bold r:id="rId15"/>
    </p:embeddedFont>
    <p:embeddedFont>
      <p:font typeface="League Spartan" panose="020B0604020202020204" charset="0"/>
      <p:regular r:id="rId16"/>
    </p:embeddedFont>
    <p:embeddedFont>
      <p:font typeface="Open Sans" panose="020B0606030504020204" pitchFamily="34" charset="0"/>
      <p:regular r:id="rId17"/>
      <p:bold r:id="rId18"/>
      <p:italic r:id="rId19"/>
      <p:boldItalic r:id="rId20"/>
    </p:embeddedFont>
    <p:embeddedFont>
      <p:font typeface="Open Sans Bold" panose="020B0806030504020204" charset="0"/>
      <p:regular r:id="rId21"/>
      <p:bold r:id="rId22"/>
    </p:embeddedFont>
    <p:embeddedFont>
      <p:font typeface="Open Sans Semi-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538" y="4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ld Lwande" userId="b7c99195fc78e91f" providerId="LiveId" clId="{BFE9B362-6296-4061-AF7E-22A915D0ABB3}"/>
    <pc:docChg chg="delSld modSld">
      <pc:chgData name="Gerald Lwande" userId="b7c99195fc78e91f" providerId="LiveId" clId="{BFE9B362-6296-4061-AF7E-22A915D0ABB3}" dt="2025-09-30T11:05:14.504" v="1" actId="1076"/>
      <pc:docMkLst>
        <pc:docMk/>
      </pc:docMkLst>
      <pc:sldChg chg="del">
        <pc:chgData name="Gerald Lwande" userId="b7c99195fc78e91f" providerId="LiveId" clId="{BFE9B362-6296-4061-AF7E-22A915D0ABB3}" dt="2025-09-24T14:30:36.658" v="0" actId="47"/>
        <pc:sldMkLst>
          <pc:docMk/>
          <pc:sldMk cId="0" sldId="257"/>
        </pc:sldMkLst>
      </pc:sldChg>
      <pc:sldChg chg="modSp mod">
        <pc:chgData name="Gerald Lwande" userId="b7c99195fc78e91f" providerId="LiveId" clId="{BFE9B362-6296-4061-AF7E-22A915D0ABB3}" dt="2025-09-30T11:05:14.504" v="1" actId="1076"/>
        <pc:sldMkLst>
          <pc:docMk/>
          <pc:sldMk cId="0" sldId="259"/>
        </pc:sldMkLst>
        <pc:grpChg chg="mod">
          <ac:chgData name="Gerald Lwande" userId="b7c99195fc78e91f" providerId="LiveId" clId="{BFE9B362-6296-4061-AF7E-22A915D0ABB3}" dt="2025-09-30T11:05:14.504" v="1" actId="1076"/>
          <ac:grpSpMkLst>
            <pc:docMk/>
            <pc:sldMk cId="0" sldId="259"/>
            <ac:grpSpMk id="11" creationId="{00000000-0000-0000-0000-000000000000}"/>
          </ac:grpSpMkLst>
        </pc:grpChg>
      </pc:sldChg>
    </pc:docChg>
  </pc:docChgLst>
  <pc:docChgLst>
    <pc:chgData name="Gerald Lwande" userId="b7c99195fc78e91f" providerId="LiveId" clId="{FC2F8C85-23FF-4187-AB01-5115E97EEAC0}"/>
    <pc:docChg chg="undo custSel modSld">
      <pc:chgData name="Gerald Lwande" userId="b7c99195fc78e91f" providerId="LiveId" clId="{FC2F8C85-23FF-4187-AB01-5115E97EEAC0}" dt="2025-07-25T10:20:39.697" v="2705" actId="20577"/>
      <pc:docMkLst>
        <pc:docMk/>
      </pc:docMkLst>
      <pc:sldChg chg="modSp mod">
        <pc:chgData name="Gerald Lwande" userId="b7c99195fc78e91f" providerId="LiveId" clId="{FC2F8C85-23FF-4187-AB01-5115E97EEAC0}" dt="2025-07-24T12:47:08.282" v="841" actId="2710"/>
        <pc:sldMkLst>
          <pc:docMk/>
          <pc:sldMk cId="0" sldId="258"/>
        </pc:sldMkLst>
      </pc:sldChg>
      <pc:sldChg chg="modSp mod">
        <pc:chgData name="Gerald Lwande" userId="b7c99195fc78e91f" providerId="LiveId" clId="{FC2F8C85-23FF-4187-AB01-5115E97EEAC0}" dt="2025-07-24T12:40:55.657" v="821" actId="255"/>
        <pc:sldMkLst>
          <pc:docMk/>
          <pc:sldMk cId="0" sldId="259"/>
        </pc:sldMkLst>
      </pc:sldChg>
      <pc:sldChg chg="modSp mod">
        <pc:chgData name="Gerald Lwande" userId="b7c99195fc78e91f" providerId="LiveId" clId="{FC2F8C85-23FF-4187-AB01-5115E97EEAC0}" dt="2025-07-24T12:54:42.378" v="911" actId="114"/>
        <pc:sldMkLst>
          <pc:docMk/>
          <pc:sldMk cId="0" sldId="260"/>
        </pc:sldMkLst>
      </pc:sldChg>
      <pc:sldChg chg="modSp mod">
        <pc:chgData name="Gerald Lwande" userId="b7c99195fc78e91f" providerId="LiveId" clId="{FC2F8C85-23FF-4187-AB01-5115E97EEAC0}" dt="2025-07-24T13:37:06.492" v="1213" actId="11"/>
        <pc:sldMkLst>
          <pc:docMk/>
          <pc:sldMk cId="0" sldId="261"/>
        </pc:sldMkLst>
      </pc:sldChg>
      <pc:sldChg chg="modSp mod">
        <pc:chgData name="Gerald Lwande" userId="b7c99195fc78e91f" providerId="LiveId" clId="{FC2F8C85-23FF-4187-AB01-5115E97EEAC0}" dt="2025-07-24T13:47:57.431" v="1465" actId="2710"/>
        <pc:sldMkLst>
          <pc:docMk/>
          <pc:sldMk cId="0" sldId="262"/>
        </pc:sldMkLst>
      </pc:sldChg>
      <pc:sldChg chg="modSp mod">
        <pc:chgData name="Gerald Lwande" userId="b7c99195fc78e91f" providerId="LiveId" clId="{FC2F8C85-23FF-4187-AB01-5115E97EEAC0}" dt="2025-07-25T10:20:39.697" v="2705" actId="20577"/>
        <pc:sldMkLst>
          <pc:docMk/>
          <pc:sldMk cId="0" sldId="263"/>
        </pc:sldMkLst>
      </pc:sldChg>
      <pc:sldChg chg="addSp modSp mod">
        <pc:chgData name="Gerald Lwande" userId="b7c99195fc78e91f" providerId="LiveId" clId="{FC2F8C85-23FF-4187-AB01-5115E97EEAC0}" dt="2025-07-24T14:23:00.703" v="2112" actId="27636"/>
        <pc:sldMkLst>
          <pc:docMk/>
          <pc:sldMk cId="0" sldId="264"/>
        </pc:sldMkLst>
      </pc:sldChg>
      <pc:sldChg chg="modSp mod">
        <pc:chgData name="Gerald Lwande" userId="b7c99195fc78e91f" providerId="LiveId" clId="{FC2F8C85-23FF-4187-AB01-5115E97EEAC0}" dt="2025-07-24T14:32:53.183" v="2693" actId="255"/>
        <pc:sldMkLst>
          <pc:docMk/>
          <pc:sldMk cId="0" sldId="265"/>
        </pc:sldMkLst>
      </pc:sldChg>
      <pc:sldChg chg="modSp mod">
        <pc:chgData name="Gerald Lwande" userId="b7c99195fc78e91f" providerId="LiveId" clId="{FC2F8C85-23FF-4187-AB01-5115E97EEAC0}" dt="2025-07-24T14:33:52.180" v="2700" actId="6549"/>
        <pc:sldMkLst>
          <pc:docMk/>
          <pc:sldMk cId="0" sldId="266"/>
        </pc:sldMkLst>
      </pc:sldChg>
      <pc:sldChg chg="modSp mod">
        <pc:chgData name="Gerald Lwande" userId="b7c99195fc78e91f" providerId="LiveId" clId="{FC2F8C85-23FF-4187-AB01-5115E97EEAC0}" dt="2025-07-24T14:34:10.418" v="2702" actId="122"/>
        <pc:sldMkLst>
          <pc:docMk/>
          <pc:sldMk cId="0"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hyperlink" Target="https://www.youtube.com/watch?v=p8Q2vxiA-x4" TargetMode="External"/><Relationship Id="rId3" Type="http://schemas.openxmlformats.org/officeDocument/2006/relationships/image" Target="../media/image2.png"/><Relationship Id="rId7" Type="http://schemas.openxmlformats.org/officeDocument/2006/relationships/hyperlink" Target="https://www.youtube.com/watch?v=CiGjatwGhfU"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10" Type="http://schemas.openxmlformats.org/officeDocument/2006/relationships/hyperlink" Target="https://youtu.be/ZZ-FM548zYE?si=C0FMM52yiFN9PcTI" TargetMode="External"/><Relationship Id="rId4" Type="http://schemas.openxmlformats.org/officeDocument/2006/relationships/image" Target="../media/image3.svg"/><Relationship Id="rId9" Type="http://schemas.openxmlformats.org/officeDocument/2006/relationships/hyperlink" Target="https://www.youtube.com/watch?v=019K6_HRvXw&amp;t=245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2332" r="-12070" b="-90"/>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80792" y="5080792"/>
            <a:ext cx="11290297" cy="1128712"/>
          </a:xfrm>
          <a:custGeom>
            <a:avLst/>
            <a:gdLst/>
            <a:ahLst/>
            <a:cxnLst/>
            <a:rect l="l" t="t" r="r" b="b"/>
            <a:pathLst>
              <a:path w="11290297" h="1128712">
                <a:moveTo>
                  <a:pt x="0" y="0"/>
                </a:moveTo>
                <a:lnTo>
                  <a:pt x="11290297" y="0"/>
                </a:lnTo>
                <a:lnTo>
                  <a:pt x="11290297" y="1128713"/>
                </a:lnTo>
                <a:lnTo>
                  <a:pt x="0" y="1128713"/>
                </a:lnTo>
                <a:lnTo>
                  <a:pt x="0" y="0"/>
                </a:lnTo>
                <a:close/>
              </a:path>
            </a:pathLst>
          </a:custGeom>
          <a:blipFill>
            <a:blip r:embed="rId6"/>
            <a:stretch>
              <a:fillRect t="-451106" r="-56" b="-449737"/>
            </a:stretch>
          </a:blipFill>
        </p:spPr>
        <p:txBody>
          <a:bodyPr/>
          <a:lstStyle/>
          <a:p>
            <a:endParaRPr lang="en-GB"/>
          </a:p>
        </p:txBody>
      </p:sp>
      <p:sp>
        <p:nvSpPr>
          <p:cNvPr id="7" name="TextBox 7"/>
          <p:cNvSpPr txBox="1"/>
          <p:nvPr/>
        </p:nvSpPr>
        <p:spPr>
          <a:xfrm>
            <a:off x="5956954" y="3465843"/>
            <a:ext cx="233429" cy="1261615"/>
          </a:xfrm>
          <a:prstGeom prst="rect">
            <a:avLst/>
          </a:prstGeom>
        </p:spPr>
        <p:txBody>
          <a:bodyPr lIns="0" tIns="0" rIns="0" bIns="0" rtlCol="0" anchor="t">
            <a:spAutoFit/>
          </a:bodyPr>
          <a:lstStyle/>
          <a:p>
            <a:pPr algn="l">
              <a:lnSpc>
                <a:spcPts val="11192"/>
              </a:lnSpc>
            </a:pPr>
            <a:r>
              <a:rPr lang="en-US" sz="6800" b="1">
                <a:solidFill>
                  <a:srgbClr val="F79646"/>
                </a:solidFill>
                <a:latin typeface="League Spartan"/>
                <a:ea typeface="League Spartan"/>
                <a:cs typeface="League Spartan"/>
                <a:sym typeface="League Spartan"/>
              </a:rPr>
              <a:t> </a:t>
            </a:r>
          </a:p>
        </p:txBody>
      </p:sp>
      <p:sp>
        <p:nvSpPr>
          <p:cNvPr id="8" name="Freeform 8"/>
          <p:cNvSpPr/>
          <p:nvPr/>
        </p:nvSpPr>
        <p:spPr>
          <a:xfrm>
            <a:off x="2739504" y="8731778"/>
            <a:ext cx="4339323" cy="1150801"/>
          </a:xfrm>
          <a:custGeom>
            <a:avLst/>
            <a:gdLst/>
            <a:ahLst/>
            <a:cxnLst/>
            <a:rect l="l" t="t" r="r" b="b"/>
            <a:pathLst>
              <a:path w="4339323" h="1150801">
                <a:moveTo>
                  <a:pt x="0" y="0"/>
                </a:moveTo>
                <a:lnTo>
                  <a:pt x="4339324" y="0"/>
                </a:lnTo>
                <a:lnTo>
                  <a:pt x="4339324" y="1150801"/>
                </a:lnTo>
                <a:lnTo>
                  <a:pt x="0" y="11508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9" name="TextBox 9"/>
          <p:cNvSpPr txBox="1"/>
          <p:nvPr/>
        </p:nvSpPr>
        <p:spPr>
          <a:xfrm>
            <a:off x="5956954" y="3465843"/>
            <a:ext cx="233429" cy="1261615"/>
          </a:xfrm>
          <a:prstGeom prst="rect">
            <a:avLst/>
          </a:prstGeom>
        </p:spPr>
        <p:txBody>
          <a:bodyPr lIns="0" tIns="0" rIns="0" bIns="0" rtlCol="0" anchor="t">
            <a:spAutoFit/>
          </a:bodyPr>
          <a:lstStyle/>
          <a:p>
            <a:pPr algn="l">
              <a:lnSpc>
                <a:spcPts val="11192"/>
              </a:lnSpc>
            </a:pPr>
            <a:r>
              <a:rPr lang="en-US" sz="6800" b="1">
                <a:solidFill>
                  <a:srgbClr val="F79646"/>
                </a:solidFill>
                <a:latin typeface="League Spartan"/>
                <a:ea typeface="League Spartan"/>
                <a:cs typeface="League Spartan"/>
                <a:sym typeface="League Spartan"/>
              </a:rPr>
              <a:t> </a:t>
            </a:r>
          </a:p>
        </p:txBody>
      </p:sp>
      <p:sp>
        <p:nvSpPr>
          <p:cNvPr id="10" name="Freeform 10"/>
          <p:cNvSpPr/>
          <p:nvPr/>
        </p:nvSpPr>
        <p:spPr>
          <a:xfrm>
            <a:off x="12558485" y="0"/>
            <a:ext cx="7532912" cy="11290297"/>
          </a:xfrm>
          <a:custGeom>
            <a:avLst/>
            <a:gdLst/>
            <a:ahLst/>
            <a:cxnLst/>
            <a:rect l="l" t="t" r="r" b="b"/>
            <a:pathLst>
              <a:path w="7532912" h="11290297">
                <a:moveTo>
                  <a:pt x="0" y="0"/>
                </a:moveTo>
                <a:lnTo>
                  <a:pt x="7532912" y="0"/>
                </a:lnTo>
                <a:lnTo>
                  <a:pt x="7532912" y="11290297"/>
                </a:lnTo>
                <a:lnTo>
                  <a:pt x="0" y="11290297"/>
                </a:lnTo>
                <a:lnTo>
                  <a:pt x="0" y="0"/>
                </a:lnTo>
                <a:close/>
              </a:path>
            </a:pathLst>
          </a:custGeom>
          <a:blipFill>
            <a:blip r:embed="rId9"/>
            <a:stretch>
              <a:fillRect l="-53733" r="-78637"/>
            </a:stretch>
          </a:blipFill>
        </p:spPr>
        <p:txBody>
          <a:bodyPr/>
          <a:lstStyle/>
          <a:p>
            <a:endParaRPr lang="en-GB"/>
          </a:p>
        </p:txBody>
      </p:sp>
      <p:sp>
        <p:nvSpPr>
          <p:cNvPr id="11" name="TextBox 11"/>
          <p:cNvSpPr txBox="1"/>
          <p:nvPr/>
        </p:nvSpPr>
        <p:spPr>
          <a:xfrm>
            <a:off x="1659675" y="2780547"/>
            <a:ext cx="7150322" cy="1946910"/>
          </a:xfrm>
          <a:prstGeom prst="rect">
            <a:avLst/>
          </a:prstGeom>
        </p:spPr>
        <p:txBody>
          <a:bodyPr lIns="0" tIns="0" rIns="0" bIns="0" rtlCol="0" anchor="t">
            <a:spAutoFit/>
          </a:bodyPr>
          <a:lstStyle/>
          <a:p>
            <a:pPr algn="l">
              <a:lnSpc>
                <a:spcPts val="7769"/>
              </a:lnSpc>
            </a:pPr>
            <a:r>
              <a:rPr lang="en-US" sz="5999" b="1">
                <a:solidFill>
                  <a:srgbClr val="FFFFFF"/>
                </a:solidFill>
                <a:latin typeface="League Spartan"/>
                <a:ea typeface="League Spartan"/>
                <a:cs typeface="League Spartan"/>
                <a:sym typeface="League Spartan"/>
              </a:rPr>
              <a:t>Africa Impact Academy</a:t>
            </a:r>
          </a:p>
        </p:txBody>
      </p:sp>
      <p:sp>
        <p:nvSpPr>
          <p:cNvPr id="12" name="TextBox 12"/>
          <p:cNvSpPr txBox="1"/>
          <p:nvPr/>
        </p:nvSpPr>
        <p:spPr>
          <a:xfrm>
            <a:off x="5956954" y="3465843"/>
            <a:ext cx="233429" cy="1261615"/>
          </a:xfrm>
          <a:prstGeom prst="rect">
            <a:avLst/>
          </a:prstGeom>
        </p:spPr>
        <p:txBody>
          <a:bodyPr lIns="0" tIns="0" rIns="0" bIns="0" rtlCol="0" anchor="t">
            <a:spAutoFit/>
          </a:bodyPr>
          <a:lstStyle/>
          <a:p>
            <a:pPr algn="l">
              <a:lnSpc>
                <a:spcPts val="11192"/>
              </a:lnSpc>
            </a:pPr>
            <a:r>
              <a:rPr lang="en-US" sz="6800" b="1">
                <a:solidFill>
                  <a:srgbClr val="F79646"/>
                </a:solidFill>
                <a:latin typeface="League Spartan"/>
                <a:ea typeface="League Spartan"/>
                <a:cs typeface="League Spartan"/>
                <a:sym typeface="League Spartan"/>
              </a:rPr>
              <a:t> </a:t>
            </a:r>
          </a:p>
        </p:txBody>
      </p:sp>
      <p:sp>
        <p:nvSpPr>
          <p:cNvPr id="13" name="TextBox 13"/>
          <p:cNvSpPr txBox="1"/>
          <p:nvPr/>
        </p:nvSpPr>
        <p:spPr>
          <a:xfrm>
            <a:off x="1558950" y="5300980"/>
            <a:ext cx="8594558" cy="647065"/>
          </a:xfrm>
          <a:prstGeom prst="rect">
            <a:avLst/>
          </a:prstGeom>
        </p:spPr>
        <p:txBody>
          <a:bodyPr lIns="0" tIns="0" rIns="0" bIns="0" rtlCol="0" anchor="t">
            <a:spAutoFit/>
          </a:bodyPr>
          <a:lstStyle/>
          <a:p>
            <a:pPr algn="l">
              <a:lnSpc>
                <a:spcPts val="5180"/>
              </a:lnSpc>
            </a:pPr>
            <a:r>
              <a:rPr lang="en-US" sz="4000" b="1">
                <a:solidFill>
                  <a:srgbClr val="FFB437"/>
                </a:solidFill>
                <a:latin typeface="Open Sans Semi-Bold"/>
                <a:ea typeface="Open Sans Semi-Bold"/>
                <a:cs typeface="Open Sans Semi-Bold"/>
                <a:sym typeface="Open Sans Semi-Bold"/>
              </a:rPr>
              <a:t>INVESTOR PITCH DECK TEMPLATE</a:t>
            </a:r>
          </a:p>
        </p:txBody>
      </p:sp>
      <p:sp>
        <p:nvSpPr>
          <p:cNvPr id="14" name="Freeform 14"/>
          <p:cNvSpPr/>
          <p:nvPr/>
        </p:nvSpPr>
        <p:spPr>
          <a:xfrm>
            <a:off x="2609711" y="8791123"/>
            <a:ext cx="3740875" cy="992091"/>
          </a:xfrm>
          <a:custGeom>
            <a:avLst/>
            <a:gdLst/>
            <a:ahLst/>
            <a:cxnLst/>
            <a:rect l="l" t="t" r="r" b="b"/>
            <a:pathLst>
              <a:path w="3740875" h="992091">
                <a:moveTo>
                  <a:pt x="0" y="0"/>
                </a:moveTo>
                <a:lnTo>
                  <a:pt x="3740875" y="0"/>
                </a:lnTo>
                <a:lnTo>
                  <a:pt x="3740875" y="992091"/>
                </a:lnTo>
                <a:lnTo>
                  <a:pt x="0" y="9920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5" name="Freeform 15"/>
          <p:cNvSpPr/>
          <p:nvPr/>
        </p:nvSpPr>
        <p:spPr>
          <a:xfrm>
            <a:off x="1544271" y="8250042"/>
            <a:ext cx="2261807" cy="1525782"/>
          </a:xfrm>
          <a:custGeom>
            <a:avLst/>
            <a:gdLst/>
            <a:ahLst/>
            <a:cxnLst/>
            <a:rect l="l" t="t" r="r" b="b"/>
            <a:pathLst>
              <a:path w="2261807" h="1525782">
                <a:moveTo>
                  <a:pt x="0" y="0"/>
                </a:moveTo>
                <a:lnTo>
                  <a:pt x="2261807" y="0"/>
                </a:lnTo>
                <a:lnTo>
                  <a:pt x="2261807" y="1525782"/>
                </a:lnTo>
                <a:lnTo>
                  <a:pt x="0" y="1525782"/>
                </a:lnTo>
                <a:lnTo>
                  <a:pt x="0" y="0"/>
                </a:lnTo>
                <a:close/>
              </a:path>
            </a:pathLst>
          </a:custGeom>
          <a:blipFill>
            <a:blip r:embed="rId10"/>
            <a:stretch>
              <a:fillRect/>
            </a:stretch>
          </a:blipFill>
        </p:spPr>
        <p:txBody>
          <a:bodyPr/>
          <a:lstStyle/>
          <a:p>
            <a:endParaRPr lang="en-GB"/>
          </a:p>
        </p:txBody>
      </p:sp>
      <p:sp>
        <p:nvSpPr>
          <p:cNvPr id="16" name="Freeform 16"/>
          <p:cNvSpPr/>
          <p:nvPr/>
        </p:nvSpPr>
        <p:spPr>
          <a:xfrm>
            <a:off x="4695610" y="8250042"/>
            <a:ext cx="2801730" cy="1533172"/>
          </a:xfrm>
          <a:custGeom>
            <a:avLst/>
            <a:gdLst/>
            <a:ahLst/>
            <a:cxnLst/>
            <a:rect l="l" t="t" r="r" b="b"/>
            <a:pathLst>
              <a:path w="2801730" h="1533172">
                <a:moveTo>
                  <a:pt x="0" y="0"/>
                </a:moveTo>
                <a:lnTo>
                  <a:pt x="2801729" y="0"/>
                </a:lnTo>
                <a:lnTo>
                  <a:pt x="2801729" y="1533172"/>
                </a:lnTo>
                <a:lnTo>
                  <a:pt x="0" y="1533172"/>
                </a:lnTo>
                <a:lnTo>
                  <a:pt x="0" y="0"/>
                </a:lnTo>
                <a:close/>
              </a:path>
            </a:pathLst>
          </a:custGeom>
          <a:blipFill>
            <a:blip r:embed="rId11"/>
            <a:stretch>
              <a:fillRect/>
            </a:stretch>
          </a:blipFill>
        </p:spPr>
        <p:txBody>
          <a:bodyPr/>
          <a:lstStyle/>
          <a:p>
            <a:endParaRPr lang="en-GB"/>
          </a:p>
        </p:txBody>
      </p:sp>
      <p:sp>
        <p:nvSpPr>
          <p:cNvPr id="17" name="Freeform 17"/>
          <p:cNvSpPr/>
          <p:nvPr/>
        </p:nvSpPr>
        <p:spPr>
          <a:xfrm>
            <a:off x="8164089" y="8530779"/>
            <a:ext cx="3978837" cy="1245044"/>
          </a:xfrm>
          <a:custGeom>
            <a:avLst/>
            <a:gdLst/>
            <a:ahLst/>
            <a:cxnLst/>
            <a:rect l="l" t="t" r="r" b="b"/>
            <a:pathLst>
              <a:path w="3978837" h="1245044">
                <a:moveTo>
                  <a:pt x="0" y="0"/>
                </a:moveTo>
                <a:lnTo>
                  <a:pt x="3978838" y="0"/>
                </a:lnTo>
                <a:lnTo>
                  <a:pt x="3978838" y="1245045"/>
                </a:lnTo>
                <a:lnTo>
                  <a:pt x="0" y="1245045"/>
                </a:lnTo>
                <a:lnTo>
                  <a:pt x="0" y="0"/>
                </a:lnTo>
                <a:close/>
              </a:path>
            </a:pathLst>
          </a:custGeom>
          <a:blipFill>
            <a:blip r:embed="rId12"/>
            <a:stretch>
              <a:fillRect/>
            </a:stretch>
          </a:blipFill>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2080739" y="3904947"/>
            <a:ext cx="15902961" cy="857123"/>
            <a:chOff x="0" y="0"/>
            <a:chExt cx="3817307" cy="311017"/>
          </a:xfrm>
        </p:grpSpPr>
        <p:sp>
          <p:nvSpPr>
            <p:cNvPr id="8" name="Freeform 8"/>
            <p:cNvSpPr/>
            <p:nvPr/>
          </p:nvSpPr>
          <p:spPr>
            <a:xfrm>
              <a:off x="0" y="0"/>
              <a:ext cx="3817307" cy="311017"/>
            </a:xfrm>
            <a:custGeom>
              <a:avLst/>
              <a:gdLst/>
              <a:ahLst/>
              <a:cxnLst/>
              <a:rect l="l" t="t" r="r" b="b"/>
              <a:pathLst>
                <a:path w="3817307" h="311017">
                  <a:moveTo>
                    <a:pt x="13631" y="0"/>
                  </a:moveTo>
                  <a:lnTo>
                    <a:pt x="3803676" y="0"/>
                  </a:lnTo>
                  <a:cubicBezTo>
                    <a:pt x="3811205" y="0"/>
                    <a:pt x="3817307" y="6103"/>
                    <a:pt x="3817307" y="13631"/>
                  </a:cubicBezTo>
                  <a:lnTo>
                    <a:pt x="3817307" y="297386"/>
                  </a:lnTo>
                  <a:cubicBezTo>
                    <a:pt x="3817307" y="304915"/>
                    <a:pt x="3811205" y="311017"/>
                    <a:pt x="3803676" y="311017"/>
                  </a:cubicBezTo>
                  <a:lnTo>
                    <a:pt x="13631" y="311017"/>
                  </a:lnTo>
                  <a:cubicBezTo>
                    <a:pt x="6103" y="311017"/>
                    <a:pt x="0" y="304915"/>
                    <a:pt x="0" y="297386"/>
                  </a:cubicBezTo>
                  <a:lnTo>
                    <a:pt x="0" y="13631"/>
                  </a:lnTo>
                  <a:cubicBezTo>
                    <a:pt x="0" y="6103"/>
                    <a:pt x="6103" y="0"/>
                    <a:pt x="13631" y="0"/>
                  </a:cubicBezTo>
                  <a:close/>
                </a:path>
              </a:pathLst>
            </a:custGeom>
            <a:solidFill>
              <a:srgbClr val="08C8A1"/>
            </a:solidFill>
          </p:spPr>
          <p:txBody>
            <a:bodyPr/>
            <a:lstStyle/>
            <a:p>
              <a:r>
                <a:rPr lang="en-GB" sz="2900" dirty="0" err="1"/>
                <a:t>Uhai</a:t>
              </a:r>
              <a:r>
                <a:rPr lang="en-GB" sz="2900" dirty="0"/>
                <a:t>, I Saved a Life.</a:t>
              </a:r>
            </a:p>
          </p:txBody>
        </p:sp>
        <p:sp>
          <p:nvSpPr>
            <p:cNvPr id="9" name="TextBox 9"/>
            <p:cNvSpPr txBox="1"/>
            <p:nvPr/>
          </p:nvSpPr>
          <p:spPr>
            <a:xfrm>
              <a:off x="0" y="-171450"/>
              <a:ext cx="3817307" cy="482467"/>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660210" y="804862"/>
            <a:ext cx="16090774" cy="854075"/>
          </a:xfrm>
          <a:prstGeom prst="rect">
            <a:avLst/>
          </a:prstGeom>
        </p:spPr>
        <p:txBody>
          <a:bodyPr lIns="0" tIns="0" rIns="0" bIns="0" rtlCol="0" anchor="t">
            <a:spAutoFit/>
          </a:bodyPr>
          <a:lstStyle/>
          <a:p>
            <a:pPr algn="l">
              <a:lnSpc>
                <a:spcPts val="6999"/>
              </a:lnSpc>
            </a:pPr>
            <a:r>
              <a:rPr lang="en-US" sz="4999">
                <a:solidFill>
                  <a:srgbClr val="FFFEFE"/>
                </a:solidFill>
                <a:latin typeface="League Spartan"/>
                <a:ea typeface="League Spartan"/>
                <a:cs typeface="League Spartan"/>
                <a:sym typeface="League Spartan"/>
              </a:rPr>
              <a:t>Inv</a:t>
            </a:r>
            <a:r>
              <a:rPr lang="en-US" sz="4999" b="1">
                <a:solidFill>
                  <a:srgbClr val="FFFEFE"/>
                </a:solidFill>
                <a:latin typeface="League Spartan"/>
                <a:ea typeface="League Spartan"/>
                <a:cs typeface="League Spartan"/>
                <a:sym typeface="League Spartan"/>
              </a:rPr>
              <a:t>estor Pitch Deck Template: Guiding Questions</a:t>
            </a:r>
          </a:p>
        </p:txBody>
      </p:sp>
      <p:sp>
        <p:nvSpPr>
          <p:cNvPr id="11" name="TextBox 11"/>
          <p:cNvSpPr txBox="1"/>
          <p:nvPr/>
        </p:nvSpPr>
        <p:spPr>
          <a:xfrm>
            <a:off x="1660210" y="1598461"/>
            <a:ext cx="12065965"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Use these</a:t>
            </a:r>
            <a:r>
              <a:rPr lang="en-US" sz="2900" b="1">
                <a:solidFill>
                  <a:srgbClr val="FFFFFF"/>
                </a:solidFill>
                <a:latin typeface="Open Sans Bold"/>
                <a:ea typeface="Open Sans Bold"/>
                <a:cs typeface="Open Sans Bold"/>
                <a:sym typeface="Open Sans Bold"/>
              </a:rPr>
              <a:t> 10 core sections</a:t>
            </a:r>
            <a:r>
              <a:rPr lang="en-US" sz="2900">
                <a:solidFill>
                  <a:srgbClr val="FFFFFF"/>
                </a:solidFill>
                <a:latin typeface="Open Sans"/>
                <a:ea typeface="Open Sans"/>
                <a:cs typeface="Open Sans"/>
                <a:sym typeface="Open Sans"/>
              </a:rPr>
              <a:t> to guide the structure of your pitch deck:</a:t>
            </a:r>
          </a:p>
        </p:txBody>
      </p:sp>
      <p:sp>
        <p:nvSpPr>
          <p:cNvPr id="12" name="TextBox 12"/>
          <p:cNvSpPr txBox="1"/>
          <p:nvPr/>
        </p:nvSpPr>
        <p:spPr>
          <a:xfrm>
            <a:off x="1660210" y="2394722"/>
            <a:ext cx="5747522"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1. Cover S</a:t>
            </a:r>
            <a:r>
              <a:rPr lang="en-US" sz="4000" b="1">
                <a:solidFill>
                  <a:srgbClr val="FFFEFE"/>
                </a:solidFill>
                <a:latin typeface="League Spartan"/>
                <a:ea typeface="League Spartan"/>
                <a:cs typeface="League Spartan"/>
                <a:sym typeface="League Spartan"/>
              </a:rPr>
              <a:t>lide</a:t>
            </a:r>
          </a:p>
        </p:txBody>
      </p:sp>
      <p:sp>
        <p:nvSpPr>
          <p:cNvPr id="13" name="TextBox 13"/>
          <p:cNvSpPr txBox="1"/>
          <p:nvPr/>
        </p:nvSpPr>
        <p:spPr>
          <a:xfrm>
            <a:off x="2080739" y="5174585"/>
            <a:ext cx="8845522"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What’s the name of your organization or venture?</a:t>
            </a:r>
          </a:p>
        </p:txBody>
      </p:sp>
      <p:sp>
        <p:nvSpPr>
          <p:cNvPr id="14" name="TextBox 14"/>
          <p:cNvSpPr txBox="1"/>
          <p:nvPr/>
        </p:nvSpPr>
        <p:spPr>
          <a:xfrm>
            <a:off x="2080739" y="6500745"/>
            <a:ext cx="16878774" cy="607695"/>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Do you have a powerful one-liner or mission statement?</a:t>
            </a:r>
          </a:p>
        </p:txBody>
      </p:sp>
      <p:sp>
        <p:nvSpPr>
          <p:cNvPr id="15" name="TextBox 15"/>
          <p:cNvSpPr txBox="1"/>
          <p:nvPr/>
        </p:nvSpPr>
        <p:spPr>
          <a:xfrm>
            <a:off x="2080739" y="3188471"/>
            <a:ext cx="16878774" cy="61087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What’s your name, tagline, and key message?</a:t>
            </a:r>
          </a:p>
        </p:txBody>
      </p:sp>
      <p:sp>
        <p:nvSpPr>
          <p:cNvPr id="16" name="TextBox 16"/>
          <p:cNvSpPr txBox="1"/>
          <p:nvPr/>
        </p:nvSpPr>
        <p:spPr>
          <a:xfrm>
            <a:off x="2080739" y="8635964"/>
            <a:ext cx="16878774"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Who is presenting, and what’s the occasion?</a:t>
            </a:r>
          </a:p>
        </p:txBody>
      </p:sp>
      <p:grpSp>
        <p:nvGrpSpPr>
          <p:cNvPr id="17" name="Group 17"/>
          <p:cNvGrpSpPr/>
          <p:nvPr/>
        </p:nvGrpSpPr>
        <p:grpSpPr>
          <a:xfrm>
            <a:off x="2080739" y="5925155"/>
            <a:ext cx="15902961" cy="483047"/>
            <a:chOff x="0" y="0"/>
            <a:chExt cx="3817307" cy="201250"/>
          </a:xfrm>
        </p:grpSpPr>
        <p:sp>
          <p:nvSpPr>
            <p:cNvPr id="18" name="Freeform 18"/>
            <p:cNvSpPr/>
            <p:nvPr/>
          </p:nvSpPr>
          <p:spPr>
            <a:xfrm>
              <a:off x="0" y="0"/>
              <a:ext cx="3817307" cy="201250"/>
            </a:xfrm>
            <a:custGeom>
              <a:avLst/>
              <a:gdLst/>
              <a:ahLst/>
              <a:cxnLst/>
              <a:rect l="l" t="t" r="r" b="b"/>
              <a:pathLst>
                <a:path w="3817307" h="201250">
                  <a:moveTo>
                    <a:pt x="13631" y="0"/>
                  </a:moveTo>
                  <a:lnTo>
                    <a:pt x="3803676" y="0"/>
                  </a:lnTo>
                  <a:cubicBezTo>
                    <a:pt x="3811205" y="0"/>
                    <a:pt x="3817307" y="6103"/>
                    <a:pt x="3817307" y="13631"/>
                  </a:cubicBezTo>
                  <a:lnTo>
                    <a:pt x="3817307" y="187619"/>
                  </a:lnTo>
                  <a:cubicBezTo>
                    <a:pt x="3817307" y="195147"/>
                    <a:pt x="3811205" y="201250"/>
                    <a:pt x="3803676" y="201250"/>
                  </a:cubicBezTo>
                  <a:lnTo>
                    <a:pt x="13631" y="201250"/>
                  </a:lnTo>
                  <a:cubicBezTo>
                    <a:pt x="6103" y="201250"/>
                    <a:pt x="0" y="195147"/>
                    <a:pt x="0" y="187619"/>
                  </a:cubicBezTo>
                  <a:lnTo>
                    <a:pt x="0" y="13631"/>
                  </a:lnTo>
                  <a:cubicBezTo>
                    <a:pt x="0" y="6103"/>
                    <a:pt x="6103" y="0"/>
                    <a:pt x="13631" y="0"/>
                  </a:cubicBezTo>
                  <a:close/>
                </a:path>
              </a:pathLst>
            </a:custGeom>
            <a:solidFill>
              <a:srgbClr val="08C8A1"/>
            </a:solidFill>
          </p:spPr>
          <p:txBody>
            <a:bodyPr/>
            <a:lstStyle/>
            <a:p>
              <a:r>
                <a:rPr lang="en-GB" sz="2900" dirty="0"/>
                <a:t>UHAI LIFE SCIENCES</a:t>
              </a:r>
            </a:p>
          </p:txBody>
        </p:sp>
        <p:sp>
          <p:nvSpPr>
            <p:cNvPr id="19" name="TextBox 19"/>
            <p:cNvSpPr txBox="1"/>
            <p:nvPr/>
          </p:nvSpPr>
          <p:spPr>
            <a:xfrm>
              <a:off x="0" y="-171450"/>
              <a:ext cx="3817307" cy="372700"/>
            </a:xfrm>
            <a:prstGeom prst="rect">
              <a:avLst/>
            </a:prstGeom>
          </p:spPr>
          <p:txBody>
            <a:bodyPr lIns="50800" tIns="50800" rIns="50800" bIns="50800" rtlCol="0" anchor="ctr"/>
            <a:lstStyle/>
            <a:p>
              <a:pPr algn="ctr">
                <a:lnSpc>
                  <a:spcPts val="5220"/>
                </a:lnSpc>
              </a:pPr>
              <a:endParaRPr/>
            </a:p>
          </p:txBody>
        </p:sp>
      </p:grpSp>
      <p:grpSp>
        <p:nvGrpSpPr>
          <p:cNvPr id="20" name="Group 20"/>
          <p:cNvGrpSpPr/>
          <p:nvPr/>
        </p:nvGrpSpPr>
        <p:grpSpPr>
          <a:xfrm>
            <a:off x="1962151" y="7159767"/>
            <a:ext cx="16021550" cy="1419047"/>
            <a:chOff x="0" y="0"/>
            <a:chExt cx="3817307" cy="221267"/>
          </a:xfrm>
        </p:grpSpPr>
        <p:sp>
          <p:nvSpPr>
            <p:cNvPr id="21" name="Freeform 21"/>
            <p:cNvSpPr/>
            <p:nvPr/>
          </p:nvSpPr>
          <p:spPr>
            <a:xfrm>
              <a:off x="0" y="0"/>
              <a:ext cx="3817307" cy="221267"/>
            </a:xfrm>
            <a:custGeom>
              <a:avLst/>
              <a:gdLst/>
              <a:ahLst/>
              <a:cxnLst/>
              <a:rect l="l" t="t" r="r" b="b"/>
              <a:pathLst>
                <a:path w="3817307" h="221267">
                  <a:moveTo>
                    <a:pt x="13631" y="0"/>
                  </a:moveTo>
                  <a:lnTo>
                    <a:pt x="3803676" y="0"/>
                  </a:lnTo>
                  <a:cubicBezTo>
                    <a:pt x="3811205" y="0"/>
                    <a:pt x="3817307" y="6103"/>
                    <a:pt x="3817307" y="13631"/>
                  </a:cubicBezTo>
                  <a:lnTo>
                    <a:pt x="3817307" y="207636"/>
                  </a:lnTo>
                  <a:cubicBezTo>
                    <a:pt x="3817307" y="215164"/>
                    <a:pt x="3811205" y="221267"/>
                    <a:pt x="3803676" y="221267"/>
                  </a:cubicBezTo>
                  <a:lnTo>
                    <a:pt x="13631" y="221267"/>
                  </a:lnTo>
                  <a:cubicBezTo>
                    <a:pt x="6103" y="221267"/>
                    <a:pt x="0" y="215164"/>
                    <a:pt x="0" y="207636"/>
                  </a:cubicBezTo>
                  <a:lnTo>
                    <a:pt x="0" y="13631"/>
                  </a:lnTo>
                  <a:cubicBezTo>
                    <a:pt x="0" y="6103"/>
                    <a:pt x="6103" y="0"/>
                    <a:pt x="13631" y="0"/>
                  </a:cubicBezTo>
                  <a:close/>
                </a:path>
              </a:pathLst>
            </a:custGeom>
            <a:solidFill>
              <a:srgbClr val="08C8A1"/>
            </a:solidFill>
          </p:spPr>
          <p:txBody>
            <a:bodyPr/>
            <a:lstStyle/>
            <a:p>
              <a:pPr algn="just">
                <a:lnSpc>
                  <a:spcPct val="150000"/>
                </a:lnSpc>
              </a:pPr>
              <a:r>
                <a:rPr lang="en-GB" sz="2900" dirty="0"/>
                <a:t>Every day, hundreds of lives are lost in Kenya due to inadequate access to blood. </a:t>
              </a:r>
              <a:r>
                <a:rPr lang="en-GB" sz="2900" dirty="0" err="1"/>
                <a:t>Uhai</a:t>
              </a:r>
              <a:r>
                <a:rPr lang="en-GB" sz="2900" dirty="0"/>
                <a:t> Life Sciences is committed to changing that.</a:t>
              </a:r>
            </a:p>
          </p:txBody>
        </p:sp>
        <p:sp>
          <p:nvSpPr>
            <p:cNvPr id="22" name="TextBox 22"/>
            <p:cNvSpPr txBox="1"/>
            <p:nvPr/>
          </p:nvSpPr>
          <p:spPr>
            <a:xfrm>
              <a:off x="0" y="-171450"/>
              <a:ext cx="3817307" cy="392717"/>
            </a:xfrm>
            <a:prstGeom prst="rect">
              <a:avLst/>
            </a:prstGeom>
          </p:spPr>
          <p:txBody>
            <a:bodyPr lIns="50800" tIns="50800" rIns="50800" bIns="50800" rtlCol="0" anchor="ctr"/>
            <a:lstStyle/>
            <a:p>
              <a:pPr algn="ctr">
                <a:lnSpc>
                  <a:spcPts val="5220"/>
                </a:lnSpc>
              </a:pPr>
              <a:endParaRPr/>
            </a:p>
          </p:txBody>
        </p:sp>
      </p:grpSp>
      <p:grpSp>
        <p:nvGrpSpPr>
          <p:cNvPr id="23" name="Group 23"/>
          <p:cNvGrpSpPr/>
          <p:nvPr/>
        </p:nvGrpSpPr>
        <p:grpSpPr>
          <a:xfrm>
            <a:off x="2080739" y="9348434"/>
            <a:ext cx="15902961" cy="1295703"/>
            <a:chOff x="0" y="0"/>
            <a:chExt cx="3817307" cy="311017"/>
          </a:xfrm>
        </p:grpSpPr>
        <p:sp>
          <p:nvSpPr>
            <p:cNvPr id="24" name="Freeform 24"/>
            <p:cNvSpPr/>
            <p:nvPr/>
          </p:nvSpPr>
          <p:spPr>
            <a:xfrm>
              <a:off x="0" y="0"/>
              <a:ext cx="3817307" cy="311017"/>
            </a:xfrm>
            <a:custGeom>
              <a:avLst/>
              <a:gdLst/>
              <a:ahLst/>
              <a:cxnLst/>
              <a:rect l="l" t="t" r="r" b="b"/>
              <a:pathLst>
                <a:path w="3817307" h="311017">
                  <a:moveTo>
                    <a:pt x="13631" y="0"/>
                  </a:moveTo>
                  <a:lnTo>
                    <a:pt x="3803676" y="0"/>
                  </a:lnTo>
                  <a:cubicBezTo>
                    <a:pt x="3811205" y="0"/>
                    <a:pt x="3817307" y="6103"/>
                    <a:pt x="3817307" y="13631"/>
                  </a:cubicBezTo>
                  <a:lnTo>
                    <a:pt x="3817307" y="297386"/>
                  </a:lnTo>
                  <a:cubicBezTo>
                    <a:pt x="3817307" y="304915"/>
                    <a:pt x="3811205" y="311017"/>
                    <a:pt x="3803676" y="311017"/>
                  </a:cubicBezTo>
                  <a:lnTo>
                    <a:pt x="13631" y="311017"/>
                  </a:lnTo>
                  <a:cubicBezTo>
                    <a:pt x="6103" y="311017"/>
                    <a:pt x="0" y="304915"/>
                    <a:pt x="0" y="297386"/>
                  </a:cubicBezTo>
                  <a:lnTo>
                    <a:pt x="0" y="13631"/>
                  </a:lnTo>
                  <a:cubicBezTo>
                    <a:pt x="0" y="6103"/>
                    <a:pt x="6103" y="0"/>
                    <a:pt x="13631" y="0"/>
                  </a:cubicBezTo>
                  <a:close/>
                </a:path>
              </a:pathLst>
            </a:custGeom>
            <a:solidFill>
              <a:srgbClr val="08C8A1"/>
            </a:solidFill>
          </p:spPr>
          <p:txBody>
            <a:bodyPr/>
            <a:lstStyle/>
            <a:p>
              <a:pPr>
                <a:lnSpc>
                  <a:spcPct val="150000"/>
                </a:lnSpc>
              </a:pPr>
              <a:r>
                <a:rPr lang="en-GB" sz="2900" dirty="0"/>
                <a:t>Gerald Lwande - Executive Director, </a:t>
              </a:r>
            </a:p>
            <a:p>
              <a:pPr>
                <a:lnSpc>
                  <a:spcPct val="150000"/>
                </a:lnSpc>
              </a:pPr>
              <a:r>
                <a:rPr lang="en-GB" sz="2900" dirty="0"/>
                <a:t>Presentation to African Impact Academy.</a:t>
              </a:r>
            </a:p>
          </p:txBody>
        </p:sp>
        <p:sp>
          <p:nvSpPr>
            <p:cNvPr id="25" name="TextBox 25"/>
            <p:cNvSpPr txBox="1"/>
            <p:nvPr/>
          </p:nvSpPr>
          <p:spPr>
            <a:xfrm>
              <a:off x="0" y="-171450"/>
              <a:ext cx="3817307" cy="482467"/>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2121836" y="412113"/>
            <a:ext cx="5747522"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2. Prob</a:t>
            </a:r>
            <a:r>
              <a:rPr lang="en-US" sz="4000" b="1">
                <a:solidFill>
                  <a:srgbClr val="FFFEFE"/>
                </a:solidFill>
                <a:latin typeface="League Spartan"/>
                <a:ea typeface="League Spartan"/>
                <a:cs typeface="League Spartan"/>
                <a:sym typeface="League Spartan"/>
              </a:rPr>
              <a:t>lem</a:t>
            </a:r>
          </a:p>
        </p:txBody>
      </p:sp>
      <p:sp>
        <p:nvSpPr>
          <p:cNvPr id="8" name="TextBox 8"/>
          <p:cNvSpPr txBox="1"/>
          <p:nvPr/>
        </p:nvSpPr>
        <p:spPr>
          <a:xfrm>
            <a:off x="11327084" y="2492880"/>
            <a:ext cx="7162292"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2. Why is this issue urgent or important?</a:t>
            </a:r>
          </a:p>
        </p:txBody>
      </p:sp>
      <p:sp>
        <p:nvSpPr>
          <p:cNvPr id="9" name="TextBox 9"/>
          <p:cNvSpPr txBox="1"/>
          <p:nvPr/>
        </p:nvSpPr>
        <p:spPr>
          <a:xfrm>
            <a:off x="1678708" y="2492880"/>
            <a:ext cx="8255625" cy="607695"/>
          </a:xfrm>
          <a:prstGeom prst="rect">
            <a:avLst/>
          </a:prstGeom>
        </p:spPr>
        <p:txBody>
          <a:bodyPr lIns="0" tIns="0" rIns="0" bIns="0" rtlCol="0" anchor="t">
            <a:spAutoFit/>
          </a:bodyPr>
          <a:lstStyle/>
          <a:p>
            <a:pPr marL="626111" lvl="1" indent="-313055" algn="l">
              <a:lnSpc>
                <a:spcPts val="5220"/>
              </a:lnSpc>
              <a:buAutoNum type="arabicPeriod"/>
            </a:pPr>
            <a:r>
              <a:rPr lang="en-US" sz="2900">
                <a:solidFill>
                  <a:srgbClr val="FFFFFF"/>
                </a:solidFill>
                <a:latin typeface="Open Sans"/>
                <a:ea typeface="Open Sans"/>
                <a:cs typeface="Open Sans"/>
                <a:sym typeface="Open Sans"/>
              </a:rPr>
              <a:t>What big, specific problem are you solving?</a:t>
            </a:r>
          </a:p>
        </p:txBody>
      </p:sp>
      <p:sp>
        <p:nvSpPr>
          <p:cNvPr id="10" name="TextBox 10"/>
          <p:cNvSpPr txBox="1"/>
          <p:nvPr/>
        </p:nvSpPr>
        <p:spPr>
          <a:xfrm>
            <a:off x="2121836" y="6696566"/>
            <a:ext cx="5747522"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3. Who is affected by it, and how?</a:t>
            </a:r>
          </a:p>
        </p:txBody>
      </p:sp>
      <p:grpSp>
        <p:nvGrpSpPr>
          <p:cNvPr id="11" name="Group 11"/>
          <p:cNvGrpSpPr/>
          <p:nvPr/>
        </p:nvGrpSpPr>
        <p:grpSpPr>
          <a:xfrm>
            <a:off x="10805126" y="3168843"/>
            <a:ext cx="8467011" cy="3291191"/>
            <a:chOff x="0" y="0"/>
            <a:chExt cx="2032400" cy="790009"/>
          </a:xfrm>
        </p:grpSpPr>
        <p:sp>
          <p:nvSpPr>
            <p:cNvPr id="12" name="Freeform 12"/>
            <p:cNvSpPr/>
            <p:nvPr/>
          </p:nvSpPr>
          <p:spPr>
            <a:xfrm>
              <a:off x="0" y="0"/>
              <a:ext cx="2032400" cy="790009"/>
            </a:xfrm>
            <a:custGeom>
              <a:avLst/>
              <a:gdLst/>
              <a:ahLst/>
              <a:cxnLst/>
              <a:rect l="l" t="t" r="r" b="b"/>
              <a:pathLst>
                <a:path w="2032400" h="790009">
                  <a:moveTo>
                    <a:pt x="25602" y="0"/>
                  </a:moveTo>
                  <a:lnTo>
                    <a:pt x="2006798" y="0"/>
                  </a:lnTo>
                  <a:cubicBezTo>
                    <a:pt x="2020938" y="0"/>
                    <a:pt x="2032400" y="11462"/>
                    <a:pt x="2032400" y="25602"/>
                  </a:cubicBezTo>
                  <a:lnTo>
                    <a:pt x="2032400" y="764407"/>
                  </a:lnTo>
                  <a:cubicBezTo>
                    <a:pt x="2032400" y="778547"/>
                    <a:pt x="2020938" y="790009"/>
                    <a:pt x="2006798" y="790009"/>
                  </a:cubicBezTo>
                  <a:lnTo>
                    <a:pt x="25602" y="790009"/>
                  </a:lnTo>
                  <a:cubicBezTo>
                    <a:pt x="11462" y="790009"/>
                    <a:pt x="0" y="778547"/>
                    <a:pt x="0" y="764407"/>
                  </a:cubicBezTo>
                  <a:lnTo>
                    <a:pt x="0" y="25602"/>
                  </a:lnTo>
                  <a:cubicBezTo>
                    <a:pt x="0" y="11462"/>
                    <a:pt x="11462" y="0"/>
                    <a:pt x="25602" y="0"/>
                  </a:cubicBezTo>
                  <a:close/>
                </a:path>
              </a:pathLst>
            </a:custGeom>
            <a:solidFill>
              <a:srgbClr val="08C8A1"/>
            </a:solidFill>
          </p:spPr>
          <p:txBody>
            <a:bodyPr/>
            <a:lstStyle/>
            <a:p>
              <a:pPr algn="just"/>
              <a:r>
                <a:rPr lang="en-US" sz="2900" dirty="0"/>
                <a:t>A 2022 Auditor General report in Kenya highlighted critical issues like inefficient management, insufficient donations, and unreliable blood storage. These challenges jeopardize lives, especially for patients with chronic diseases such as cancer and blood disorders.</a:t>
              </a:r>
              <a:endParaRPr lang="en-GB" sz="2900" dirty="0"/>
            </a:p>
          </p:txBody>
        </p:sp>
        <p:sp>
          <p:nvSpPr>
            <p:cNvPr id="13" name="TextBox 13"/>
            <p:cNvSpPr txBox="1"/>
            <p:nvPr/>
          </p:nvSpPr>
          <p:spPr>
            <a:xfrm>
              <a:off x="0" y="-171450"/>
              <a:ext cx="2032400" cy="961459"/>
            </a:xfrm>
            <a:prstGeom prst="rect">
              <a:avLst/>
            </a:prstGeom>
          </p:spPr>
          <p:txBody>
            <a:bodyPr lIns="50800" tIns="50800" rIns="50800" bIns="50800" rtlCol="0" anchor="ctr"/>
            <a:lstStyle/>
            <a:p>
              <a:pPr algn="ctr">
                <a:lnSpc>
                  <a:spcPts val="5220"/>
                </a:lnSpc>
              </a:pPr>
              <a:endParaRPr/>
            </a:p>
          </p:txBody>
        </p:sp>
      </p:grpSp>
      <p:sp>
        <p:nvSpPr>
          <p:cNvPr id="14" name="TextBox 14"/>
          <p:cNvSpPr txBox="1"/>
          <p:nvPr/>
        </p:nvSpPr>
        <p:spPr>
          <a:xfrm>
            <a:off x="11327084" y="6696566"/>
            <a:ext cx="6535506"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4. What’s the scale of the problem?</a:t>
            </a:r>
          </a:p>
        </p:txBody>
      </p:sp>
      <p:grpSp>
        <p:nvGrpSpPr>
          <p:cNvPr id="15" name="Group 15"/>
          <p:cNvGrpSpPr/>
          <p:nvPr/>
        </p:nvGrpSpPr>
        <p:grpSpPr>
          <a:xfrm>
            <a:off x="1619784" y="3338700"/>
            <a:ext cx="8467011" cy="3291191"/>
            <a:chOff x="0" y="0"/>
            <a:chExt cx="2032400" cy="790009"/>
          </a:xfrm>
        </p:grpSpPr>
        <p:sp>
          <p:nvSpPr>
            <p:cNvPr id="16" name="Freeform 16"/>
            <p:cNvSpPr/>
            <p:nvPr/>
          </p:nvSpPr>
          <p:spPr>
            <a:xfrm>
              <a:off x="0" y="0"/>
              <a:ext cx="2032400" cy="790009"/>
            </a:xfrm>
            <a:custGeom>
              <a:avLst/>
              <a:gdLst/>
              <a:ahLst/>
              <a:cxnLst/>
              <a:rect l="l" t="t" r="r" b="b"/>
              <a:pathLst>
                <a:path w="2032400" h="790009">
                  <a:moveTo>
                    <a:pt x="25602" y="0"/>
                  </a:moveTo>
                  <a:lnTo>
                    <a:pt x="2006798" y="0"/>
                  </a:lnTo>
                  <a:cubicBezTo>
                    <a:pt x="2020938" y="0"/>
                    <a:pt x="2032400" y="11462"/>
                    <a:pt x="2032400" y="25602"/>
                  </a:cubicBezTo>
                  <a:lnTo>
                    <a:pt x="2032400" y="764407"/>
                  </a:lnTo>
                  <a:cubicBezTo>
                    <a:pt x="2032400" y="778547"/>
                    <a:pt x="2020938" y="790009"/>
                    <a:pt x="2006798" y="790009"/>
                  </a:cubicBezTo>
                  <a:lnTo>
                    <a:pt x="25602" y="790009"/>
                  </a:lnTo>
                  <a:cubicBezTo>
                    <a:pt x="11462" y="790009"/>
                    <a:pt x="0" y="778547"/>
                    <a:pt x="0" y="764407"/>
                  </a:cubicBezTo>
                  <a:lnTo>
                    <a:pt x="0" y="25602"/>
                  </a:lnTo>
                  <a:cubicBezTo>
                    <a:pt x="0" y="11462"/>
                    <a:pt x="11462" y="0"/>
                    <a:pt x="25602" y="0"/>
                  </a:cubicBezTo>
                  <a:close/>
                </a:path>
              </a:pathLst>
            </a:custGeom>
            <a:solidFill>
              <a:srgbClr val="08C8A1"/>
            </a:solidFill>
          </p:spPr>
          <p:txBody>
            <a:bodyPr/>
            <a:lstStyle/>
            <a:p>
              <a:pPr algn="just"/>
              <a:r>
                <a:rPr lang="en-US" sz="2900" dirty="0"/>
                <a:t>In Kenya, millions of patients suffer due to inadequate and irregular blood supply. These patients are in critical or chronic need of blood transfusion. These include those undergoing treatment for Cancer, Blood Disorders, trauma-related injuries (such as Road Traffic Accidents) or scheduled for surgery. </a:t>
              </a:r>
              <a:endParaRPr lang="en-GB" sz="2900" dirty="0"/>
            </a:p>
          </p:txBody>
        </p:sp>
        <p:sp>
          <p:nvSpPr>
            <p:cNvPr id="17" name="TextBox 17"/>
            <p:cNvSpPr txBox="1"/>
            <p:nvPr/>
          </p:nvSpPr>
          <p:spPr>
            <a:xfrm>
              <a:off x="0" y="-171450"/>
              <a:ext cx="2032400" cy="961459"/>
            </a:xfrm>
            <a:prstGeom prst="rect">
              <a:avLst/>
            </a:prstGeom>
          </p:spPr>
          <p:txBody>
            <a:bodyPr lIns="50800" tIns="50800" rIns="50800" bIns="50800" rtlCol="0" anchor="ctr"/>
            <a:lstStyle/>
            <a:p>
              <a:pPr algn="ctr">
                <a:lnSpc>
                  <a:spcPts val="5220"/>
                </a:lnSpc>
              </a:pPr>
              <a:endParaRPr/>
            </a:p>
          </p:txBody>
        </p:sp>
      </p:grpSp>
      <p:grpSp>
        <p:nvGrpSpPr>
          <p:cNvPr id="18" name="Group 18"/>
          <p:cNvGrpSpPr/>
          <p:nvPr/>
        </p:nvGrpSpPr>
        <p:grpSpPr>
          <a:xfrm>
            <a:off x="1618198" y="6828122"/>
            <a:ext cx="8649753" cy="4449477"/>
            <a:chOff x="0" y="-171450"/>
            <a:chExt cx="2076265" cy="1068041"/>
          </a:xfrm>
        </p:grpSpPr>
        <p:sp>
          <p:nvSpPr>
            <p:cNvPr id="19" name="Freeform 19"/>
            <p:cNvSpPr/>
            <p:nvPr/>
          </p:nvSpPr>
          <p:spPr>
            <a:xfrm>
              <a:off x="0" y="0"/>
              <a:ext cx="2076265" cy="896591"/>
            </a:xfrm>
            <a:custGeom>
              <a:avLst/>
              <a:gdLst/>
              <a:ahLst/>
              <a:cxnLst/>
              <a:rect l="l" t="t" r="r" b="b"/>
              <a:pathLst>
                <a:path w="2032400" h="790009">
                  <a:moveTo>
                    <a:pt x="25602" y="0"/>
                  </a:moveTo>
                  <a:lnTo>
                    <a:pt x="2006798" y="0"/>
                  </a:lnTo>
                  <a:cubicBezTo>
                    <a:pt x="2020938" y="0"/>
                    <a:pt x="2032400" y="11462"/>
                    <a:pt x="2032400" y="25602"/>
                  </a:cubicBezTo>
                  <a:lnTo>
                    <a:pt x="2032400" y="764407"/>
                  </a:lnTo>
                  <a:cubicBezTo>
                    <a:pt x="2032400" y="778547"/>
                    <a:pt x="2020938" y="790009"/>
                    <a:pt x="2006798" y="790009"/>
                  </a:cubicBezTo>
                  <a:lnTo>
                    <a:pt x="25602" y="790009"/>
                  </a:lnTo>
                  <a:cubicBezTo>
                    <a:pt x="11462" y="790009"/>
                    <a:pt x="0" y="778547"/>
                    <a:pt x="0" y="764407"/>
                  </a:cubicBezTo>
                  <a:lnTo>
                    <a:pt x="0" y="25602"/>
                  </a:lnTo>
                  <a:cubicBezTo>
                    <a:pt x="0" y="11462"/>
                    <a:pt x="11462" y="0"/>
                    <a:pt x="25602" y="0"/>
                  </a:cubicBezTo>
                  <a:close/>
                </a:path>
              </a:pathLst>
            </a:custGeom>
            <a:solidFill>
              <a:srgbClr val="08C8A1"/>
            </a:solidFill>
          </p:spPr>
          <p:txBody>
            <a:bodyPr/>
            <a:lstStyle/>
            <a:p>
              <a:pPr algn="just"/>
              <a:r>
                <a:rPr lang="en-US" sz="2800" dirty="0"/>
                <a:t>Cancer patients who routinely seek chemotherapy or radiotherapy services need to have their hemoglobin levels near normal levels (12g/dl) prior to therapy. Low blood levels not only denies them these therapeutic services but puts them at risk of prolonged hospitalization, increased cost of care or even death. Critical patients who have been involved in trauma, lose a lot of blood in these incidents, and the immediate remedy is blood transfusion.</a:t>
              </a:r>
              <a:endParaRPr lang="en-GB" sz="2800" dirty="0"/>
            </a:p>
          </p:txBody>
        </p:sp>
        <p:sp>
          <p:nvSpPr>
            <p:cNvPr id="20" name="TextBox 20"/>
            <p:cNvSpPr txBox="1"/>
            <p:nvPr/>
          </p:nvSpPr>
          <p:spPr>
            <a:xfrm>
              <a:off x="0" y="-171450"/>
              <a:ext cx="2032400" cy="961459"/>
            </a:xfrm>
            <a:prstGeom prst="rect">
              <a:avLst/>
            </a:prstGeom>
          </p:spPr>
          <p:txBody>
            <a:bodyPr lIns="50800" tIns="50800" rIns="50800" bIns="50800" rtlCol="0" anchor="ctr"/>
            <a:lstStyle/>
            <a:p>
              <a:pPr algn="ctr">
                <a:lnSpc>
                  <a:spcPts val="5220"/>
                </a:lnSpc>
              </a:pPr>
              <a:endParaRPr/>
            </a:p>
          </p:txBody>
        </p:sp>
      </p:grpSp>
      <p:grpSp>
        <p:nvGrpSpPr>
          <p:cNvPr id="21" name="Group 21"/>
          <p:cNvGrpSpPr/>
          <p:nvPr/>
        </p:nvGrpSpPr>
        <p:grpSpPr>
          <a:xfrm>
            <a:off x="10862375" y="7542386"/>
            <a:ext cx="8854375" cy="3582814"/>
            <a:chOff x="0" y="0"/>
            <a:chExt cx="2032400" cy="790009"/>
          </a:xfrm>
        </p:grpSpPr>
        <p:sp>
          <p:nvSpPr>
            <p:cNvPr id="22" name="Freeform 22"/>
            <p:cNvSpPr/>
            <p:nvPr/>
          </p:nvSpPr>
          <p:spPr>
            <a:xfrm>
              <a:off x="0" y="0"/>
              <a:ext cx="2032400" cy="790009"/>
            </a:xfrm>
            <a:custGeom>
              <a:avLst/>
              <a:gdLst/>
              <a:ahLst/>
              <a:cxnLst/>
              <a:rect l="l" t="t" r="r" b="b"/>
              <a:pathLst>
                <a:path w="2032400" h="790009">
                  <a:moveTo>
                    <a:pt x="25602" y="0"/>
                  </a:moveTo>
                  <a:lnTo>
                    <a:pt x="2006798" y="0"/>
                  </a:lnTo>
                  <a:cubicBezTo>
                    <a:pt x="2020938" y="0"/>
                    <a:pt x="2032400" y="11462"/>
                    <a:pt x="2032400" y="25602"/>
                  </a:cubicBezTo>
                  <a:lnTo>
                    <a:pt x="2032400" y="764407"/>
                  </a:lnTo>
                  <a:cubicBezTo>
                    <a:pt x="2032400" y="778547"/>
                    <a:pt x="2020938" y="790009"/>
                    <a:pt x="2006798" y="790009"/>
                  </a:cubicBezTo>
                  <a:lnTo>
                    <a:pt x="25602" y="790009"/>
                  </a:lnTo>
                  <a:cubicBezTo>
                    <a:pt x="11462" y="790009"/>
                    <a:pt x="0" y="778547"/>
                    <a:pt x="0" y="764407"/>
                  </a:cubicBezTo>
                  <a:lnTo>
                    <a:pt x="0" y="25602"/>
                  </a:lnTo>
                  <a:cubicBezTo>
                    <a:pt x="0" y="11462"/>
                    <a:pt x="11462" y="0"/>
                    <a:pt x="25602" y="0"/>
                  </a:cubicBezTo>
                  <a:close/>
                </a:path>
              </a:pathLst>
            </a:custGeom>
            <a:solidFill>
              <a:srgbClr val="08C8A1"/>
            </a:solidFill>
          </p:spPr>
          <p:txBody>
            <a:bodyPr/>
            <a:lstStyle/>
            <a:p>
              <a:r>
                <a:rPr lang="en-GB" sz="2500" dirty="0"/>
                <a:t>Kenya targets 500,000 pints of blood against 150,000 donated annually. </a:t>
              </a:r>
            </a:p>
            <a:p>
              <a:r>
                <a:rPr lang="en-GB" sz="2500" dirty="0"/>
                <a:t>Furthermore, the Auditor General’s report highlighted:</a:t>
              </a:r>
            </a:p>
            <a:p>
              <a:pPr marL="514350" indent="-400050" algn="just">
                <a:buFont typeface="+mj-lt"/>
                <a:buAutoNum type="romanLcPeriod"/>
              </a:pPr>
              <a:r>
                <a:rPr lang="en-US" sz="2500" dirty="0"/>
                <a:t>Lack of an inventory system for efficient management of blood and blood products; </a:t>
              </a:r>
            </a:p>
            <a:p>
              <a:pPr marL="514350" indent="-400050" algn="just">
                <a:buFont typeface="+mj-lt"/>
                <a:buAutoNum type="romanLcPeriod"/>
              </a:pPr>
              <a:r>
                <a:rPr lang="en-US" sz="2500" dirty="0"/>
                <a:t>Inadequate mobilization, recruitment and retention of blood donors;  </a:t>
              </a:r>
            </a:p>
            <a:p>
              <a:pPr marL="514350" indent="-400050" algn="just">
                <a:buFont typeface="+mj-lt"/>
                <a:buAutoNum type="romanLcPeriod"/>
              </a:pPr>
              <a:r>
                <a:rPr lang="en-US" sz="2500" dirty="0"/>
                <a:t>Inability for KTTA to meet its own blood collection targets;</a:t>
              </a:r>
            </a:p>
            <a:p>
              <a:pPr marL="514350" indent="-400050" algn="just">
                <a:buFont typeface="+mj-lt"/>
                <a:buAutoNum type="romanLcPeriod"/>
              </a:pPr>
              <a:r>
                <a:rPr lang="en-US" sz="2500" dirty="0"/>
                <a:t>Storage and Transportation of Blood and Blood Products.</a:t>
              </a:r>
            </a:p>
            <a:p>
              <a:r>
                <a:rPr lang="en-GB" sz="2500" dirty="0"/>
                <a:t> </a:t>
              </a:r>
            </a:p>
          </p:txBody>
        </p:sp>
        <p:sp>
          <p:nvSpPr>
            <p:cNvPr id="23" name="TextBox 23"/>
            <p:cNvSpPr txBox="1"/>
            <p:nvPr/>
          </p:nvSpPr>
          <p:spPr>
            <a:xfrm>
              <a:off x="0" y="-171450"/>
              <a:ext cx="2032400" cy="961459"/>
            </a:xfrm>
            <a:prstGeom prst="rect">
              <a:avLst/>
            </a:prstGeom>
          </p:spPr>
          <p:txBody>
            <a:bodyPr lIns="50800" tIns="50800" rIns="50800" bIns="50800" rtlCol="0" anchor="ctr"/>
            <a:lstStyle/>
            <a:p>
              <a:pPr algn="ctr">
                <a:lnSpc>
                  <a:spcPts val="5220"/>
                </a:lnSpc>
              </a:pPr>
              <a:endParaRPr/>
            </a:p>
          </p:txBody>
        </p:sp>
      </p:grpSp>
      <p:sp>
        <p:nvSpPr>
          <p:cNvPr id="24" name="TextBox 24"/>
          <p:cNvSpPr txBox="1"/>
          <p:nvPr/>
        </p:nvSpPr>
        <p:spPr>
          <a:xfrm>
            <a:off x="2121836" y="1238819"/>
            <a:ext cx="13421048" cy="1135379"/>
          </a:xfrm>
          <a:prstGeom prst="rect">
            <a:avLst/>
          </a:prstGeom>
        </p:spPr>
        <p:txBody>
          <a:bodyPr lIns="0" tIns="0" rIns="0" bIns="0" rtlCol="0" anchor="t">
            <a:spAutoFit/>
          </a:bodyPr>
          <a:lstStyle/>
          <a:p>
            <a:pPr algn="l">
              <a:lnSpc>
                <a:spcPts val="4680"/>
              </a:lnSpc>
            </a:pPr>
            <a:r>
              <a:rPr lang="en-US" sz="2600" b="1">
                <a:solidFill>
                  <a:srgbClr val="FFB437"/>
                </a:solidFill>
                <a:latin typeface="Open Sans Bold"/>
                <a:ea typeface="Open Sans Bold"/>
                <a:cs typeface="Open Sans Bold"/>
                <a:sym typeface="Open Sans Bold"/>
              </a:rPr>
              <a:t>For non-profits: </a:t>
            </a:r>
            <a:r>
              <a:rPr lang="en-US" sz="2600">
                <a:solidFill>
                  <a:srgbClr val="FFB437"/>
                </a:solidFill>
                <a:latin typeface="Open Sans"/>
                <a:ea typeface="Open Sans"/>
                <a:cs typeface="Open Sans"/>
                <a:sym typeface="Open Sans"/>
              </a:rPr>
              <a:t>Highlight the social or environmental pain point.</a:t>
            </a:r>
          </a:p>
          <a:p>
            <a:pPr algn="l">
              <a:lnSpc>
                <a:spcPts val="4680"/>
              </a:lnSpc>
            </a:pPr>
            <a:r>
              <a:rPr lang="en-US" sz="2600" b="1">
                <a:solidFill>
                  <a:srgbClr val="FFB437"/>
                </a:solidFill>
                <a:latin typeface="Open Sans Bold"/>
                <a:ea typeface="Open Sans Bold"/>
                <a:cs typeface="Open Sans Bold"/>
                <a:sym typeface="Open Sans Bold"/>
              </a:rPr>
              <a:t>For for-profits: </a:t>
            </a:r>
            <a:r>
              <a:rPr lang="en-US" sz="2600">
                <a:solidFill>
                  <a:srgbClr val="FFB437"/>
                </a:solidFill>
                <a:latin typeface="Open Sans"/>
                <a:ea typeface="Open Sans"/>
                <a:cs typeface="Open Sans"/>
                <a:sym typeface="Open Sans"/>
              </a:rPr>
              <a:t>Emphasize a market pain point with financial consequences.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11246" y="5017599"/>
            <a:ext cx="11283953" cy="1261452"/>
          </a:xfrm>
          <a:custGeom>
            <a:avLst/>
            <a:gdLst/>
            <a:ahLst/>
            <a:cxnLst/>
            <a:rect l="l" t="t" r="r" b="b"/>
            <a:pathLst>
              <a:path w="11283953" h="1261452">
                <a:moveTo>
                  <a:pt x="0" y="0"/>
                </a:moveTo>
                <a:lnTo>
                  <a:pt x="11283953" y="0"/>
                </a:lnTo>
                <a:lnTo>
                  <a:pt x="11283953" y="1261452"/>
                </a:lnTo>
                <a:lnTo>
                  <a:pt x="0" y="1261452"/>
                </a:lnTo>
                <a:lnTo>
                  <a:pt x="0" y="0"/>
                </a:lnTo>
                <a:close/>
              </a:path>
            </a:pathLst>
          </a:custGeom>
          <a:blipFill>
            <a:blip r:embed="rId6"/>
            <a:stretch>
              <a:fillRect t="-389584" r="-112" b="-405942"/>
            </a:stretch>
          </a:blipFill>
        </p:spPr>
        <p:txBody>
          <a:bodyPr/>
          <a:lstStyle/>
          <a:p>
            <a:endParaRPr lang="en-GB"/>
          </a:p>
        </p:txBody>
      </p:sp>
      <p:sp>
        <p:nvSpPr>
          <p:cNvPr id="7" name="TextBox 7"/>
          <p:cNvSpPr txBox="1"/>
          <p:nvPr/>
        </p:nvSpPr>
        <p:spPr>
          <a:xfrm>
            <a:off x="1900272" y="759395"/>
            <a:ext cx="5747522"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3. So</a:t>
            </a:r>
            <a:r>
              <a:rPr lang="en-US" sz="4000" b="1">
                <a:solidFill>
                  <a:srgbClr val="FFFEFE"/>
                </a:solidFill>
                <a:latin typeface="League Spartan"/>
                <a:ea typeface="League Spartan"/>
                <a:cs typeface="League Spartan"/>
                <a:sym typeface="League Spartan"/>
              </a:rPr>
              <a:t>lution</a:t>
            </a:r>
          </a:p>
        </p:txBody>
      </p:sp>
      <p:sp>
        <p:nvSpPr>
          <p:cNvPr id="8" name="TextBox 8"/>
          <p:cNvSpPr txBox="1"/>
          <p:nvPr/>
        </p:nvSpPr>
        <p:spPr>
          <a:xfrm>
            <a:off x="10981609" y="2492880"/>
            <a:ext cx="8347777"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2. What is your product, service, or intervention?</a:t>
            </a:r>
          </a:p>
        </p:txBody>
      </p:sp>
      <p:sp>
        <p:nvSpPr>
          <p:cNvPr id="9" name="TextBox 9"/>
          <p:cNvSpPr txBox="1"/>
          <p:nvPr/>
        </p:nvSpPr>
        <p:spPr>
          <a:xfrm>
            <a:off x="1261456" y="2492880"/>
            <a:ext cx="9183667" cy="607695"/>
          </a:xfrm>
          <a:prstGeom prst="rect">
            <a:avLst/>
          </a:prstGeom>
        </p:spPr>
        <p:txBody>
          <a:bodyPr lIns="0" tIns="0" rIns="0" bIns="0" rtlCol="0" anchor="t">
            <a:spAutoFit/>
          </a:bodyPr>
          <a:lstStyle/>
          <a:p>
            <a:pPr marL="626111" lvl="1" indent="-313055" algn="l">
              <a:lnSpc>
                <a:spcPts val="5220"/>
              </a:lnSpc>
              <a:buAutoNum type="arabicPeriod"/>
            </a:pPr>
            <a:r>
              <a:rPr lang="en-US" sz="2900">
                <a:solidFill>
                  <a:srgbClr val="FFFFFF"/>
                </a:solidFill>
                <a:latin typeface="Open Sans"/>
                <a:ea typeface="Open Sans"/>
                <a:cs typeface="Open Sans"/>
                <a:sym typeface="Open Sans"/>
              </a:rPr>
              <a:t>What exactly are you doing to solve the problem?</a:t>
            </a:r>
          </a:p>
        </p:txBody>
      </p:sp>
      <p:sp>
        <p:nvSpPr>
          <p:cNvPr id="10" name="TextBox 10"/>
          <p:cNvSpPr txBox="1"/>
          <p:nvPr/>
        </p:nvSpPr>
        <p:spPr>
          <a:xfrm>
            <a:off x="2121836" y="6696566"/>
            <a:ext cx="5747522"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3. How does it work?</a:t>
            </a:r>
          </a:p>
        </p:txBody>
      </p:sp>
      <p:grpSp>
        <p:nvGrpSpPr>
          <p:cNvPr id="11" name="Group 11"/>
          <p:cNvGrpSpPr/>
          <p:nvPr/>
        </p:nvGrpSpPr>
        <p:grpSpPr>
          <a:xfrm>
            <a:off x="10445123" y="1900051"/>
            <a:ext cx="8962938" cy="4389542"/>
            <a:chOff x="0" y="-171450"/>
            <a:chExt cx="2050398" cy="870014"/>
          </a:xfrm>
        </p:grpSpPr>
        <p:sp>
          <p:nvSpPr>
            <p:cNvPr id="12" name="Freeform 12"/>
            <p:cNvSpPr/>
            <p:nvPr/>
          </p:nvSpPr>
          <p:spPr>
            <a:xfrm>
              <a:off x="17998" y="46245"/>
              <a:ext cx="2032400" cy="652319"/>
            </a:xfrm>
            <a:custGeom>
              <a:avLst/>
              <a:gdLst/>
              <a:ahLst/>
              <a:cxnLst/>
              <a:rect l="l" t="t" r="r" b="b"/>
              <a:pathLst>
                <a:path w="2032400" h="652319">
                  <a:moveTo>
                    <a:pt x="25602" y="0"/>
                  </a:moveTo>
                  <a:lnTo>
                    <a:pt x="2006798" y="0"/>
                  </a:lnTo>
                  <a:cubicBezTo>
                    <a:pt x="2020938" y="0"/>
                    <a:pt x="2032400" y="11462"/>
                    <a:pt x="2032400" y="25602"/>
                  </a:cubicBezTo>
                  <a:lnTo>
                    <a:pt x="2032400" y="626716"/>
                  </a:lnTo>
                  <a:cubicBezTo>
                    <a:pt x="2032400" y="640856"/>
                    <a:pt x="2020938" y="652319"/>
                    <a:pt x="2006798" y="652319"/>
                  </a:cubicBezTo>
                  <a:lnTo>
                    <a:pt x="25602" y="652319"/>
                  </a:lnTo>
                  <a:cubicBezTo>
                    <a:pt x="11462" y="652319"/>
                    <a:pt x="0" y="640856"/>
                    <a:pt x="0" y="626716"/>
                  </a:cubicBezTo>
                  <a:lnTo>
                    <a:pt x="0" y="25602"/>
                  </a:lnTo>
                  <a:cubicBezTo>
                    <a:pt x="0" y="11462"/>
                    <a:pt x="11462" y="0"/>
                    <a:pt x="25602" y="0"/>
                  </a:cubicBezTo>
                  <a:close/>
                </a:path>
              </a:pathLst>
            </a:custGeom>
            <a:solidFill>
              <a:srgbClr val="08C8A1"/>
            </a:solidFill>
          </p:spPr>
          <p:txBody>
            <a:bodyPr/>
            <a:lstStyle/>
            <a:p>
              <a:pPr algn="just">
                <a:lnSpc>
                  <a:spcPct val="150000"/>
                </a:lnSpc>
              </a:pPr>
              <a:r>
                <a:rPr lang="en-US" sz="2800" dirty="0"/>
                <a:t>Our approach integrates predictive modelling, real-time inventory management, temperature-controlled storage, and targeted blood drives. This holistic model ensures a reliable and consistent blood supply, saving lives and reducing wastage.</a:t>
              </a:r>
              <a:endParaRPr lang="en-GB" sz="2800" dirty="0"/>
            </a:p>
          </p:txBody>
        </p:sp>
        <p:sp>
          <p:nvSpPr>
            <p:cNvPr id="13" name="TextBox 13"/>
            <p:cNvSpPr txBox="1"/>
            <p:nvPr/>
          </p:nvSpPr>
          <p:spPr>
            <a:xfrm>
              <a:off x="0" y="-171450"/>
              <a:ext cx="2032400" cy="823769"/>
            </a:xfrm>
            <a:prstGeom prst="rect">
              <a:avLst/>
            </a:prstGeom>
          </p:spPr>
          <p:txBody>
            <a:bodyPr lIns="50800" tIns="50800" rIns="50800" bIns="50800" rtlCol="0" anchor="ctr"/>
            <a:lstStyle/>
            <a:p>
              <a:pPr algn="ctr">
                <a:lnSpc>
                  <a:spcPts val="5220"/>
                </a:lnSpc>
              </a:pPr>
              <a:endParaRPr/>
            </a:p>
          </p:txBody>
        </p:sp>
      </p:grpSp>
      <p:sp>
        <p:nvSpPr>
          <p:cNvPr id="14" name="TextBox 14"/>
          <p:cNvSpPr txBox="1"/>
          <p:nvPr/>
        </p:nvSpPr>
        <p:spPr>
          <a:xfrm>
            <a:off x="10945588" y="6195657"/>
            <a:ext cx="8467011" cy="1264920"/>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4. Why is it unique, innovative, or better than existing solutions?</a:t>
            </a:r>
          </a:p>
        </p:txBody>
      </p:sp>
      <p:grpSp>
        <p:nvGrpSpPr>
          <p:cNvPr id="15" name="Group 15"/>
          <p:cNvGrpSpPr/>
          <p:nvPr/>
        </p:nvGrpSpPr>
        <p:grpSpPr>
          <a:xfrm>
            <a:off x="1380692" y="3100576"/>
            <a:ext cx="8706104" cy="3529316"/>
            <a:chOff x="0" y="0"/>
            <a:chExt cx="2032400" cy="790009"/>
          </a:xfrm>
        </p:grpSpPr>
        <p:sp>
          <p:nvSpPr>
            <p:cNvPr id="16" name="Freeform 16"/>
            <p:cNvSpPr/>
            <p:nvPr/>
          </p:nvSpPr>
          <p:spPr>
            <a:xfrm>
              <a:off x="0" y="0"/>
              <a:ext cx="2032400" cy="790009"/>
            </a:xfrm>
            <a:custGeom>
              <a:avLst/>
              <a:gdLst/>
              <a:ahLst/>
              <a:cxnLst/>
              <a:rect l="l" t="t" r="r" b="b"/>
              <a:pathLst>
                <a:path w="2032400" h="790009">
                  <a:moveTo>
                    <a:pt x="25602" y="0"/>
                  </a:moveTo>
                  <a:lnTo>
                    <a:pt x="2006798" y="0"/>
                  </a:lnTo>
                  <a:cubicBezTo>
                    <a:pt x="2020938" y="0"/>
                    <a:pt x="2032400" y="11462"/>
                    <a:pt x="2032400" y="25602"/>
                  </a:cubicBezTo>
                  <a:lnTo>
                    <a:pt x="2032400" y="764407"/>
                  </a:lnTo>
                  <a:cubicBezTo>
                    <a:pt x="2032400" y="778547"/>
                    <a:pt x="2020938" y="790009"/>
                    <a:pt x="2006798" y="790009"/>
                  </a:cubicBezTo>
                  <a:lnTo>
                    <a:pt x="25602" y="790009"/>
                  </a:lnTo>
                  <a:cubicBezTo>
                    <a:pt x="11462" y="790009"/>
                    <a:pt x="0" y="778547"/>
                    <a:pt x="0" y="764407"/>
                  </a:cubicBezTo>
                  <a:lnTo>
                    <a:pt x="0" y="25602"/>
                  </a:lnTo>
                  <a:cubicBezTo>
                    <a:pt x="0" y="11462"/>
                    <a:pt x="11462" y="0"/>
                    <a:pt x="25602" y="0"/>
                  </a:cubicBezTo>
                  <a:close/>
                </a:path>
              </a:pathLst>
            </a:custGeom>
            <a:solidFill>
              <a:srgbClr val="08C8A1"/>
            </a:solidFill>
          </p:spPr>
          <p:txBody>
            <a:bodyPr/>
            <a:lstStyle/>
            <a:p>
              <a:pPr algn="just"/>
              <a:r>
                <a:rPr lang="en-US" sz="2800" dirty="0" err="1"/>
                <a:t>Uhai</a:t>
              </a:r>
              <a:r>
                <a:rPr lang="en-US" sz="2800" dirty="0"/>
                <a:t> Life Sciences directly addresses these issues through an innovative system that strengthens the blood supply chain. </a:t>
              </a:r>
              <a:endParaRPr lang="en-GB" sz="2800" dirty="0"/>
            </a:p>
          </p:txBody>
        </p:sp>
        <p:sp>
          <p:nvSpPr>
            <p:cNvPr id="17" name="TextBox 17"/>
            <p:cNvSpPr txBox="1"/>
            <p:nvPr/>
          </p:nvSpPr>
          <p:spPr>
            <a:xfrm>
              <a:off x="0" y="-171450"/>
              <a:ext cx="2032400" cy="961459"/>
            </a:xfrm>
            <a:prstGeom prst="rect">
              <a:avLst/>
            </a:prstGeom>
          </p:spPr>
          <p:txBody>
            <a:bodyPr lIns="50800" tIns="50800" rIns="50800" bIns="50800" rtlCol="0" anchor="ctr"/>
            <a:lstStyle/>
            <a:p>
              <a:pPr algn="ctr">
                <a:lnSpc>
                  <a:spcPts val="5220"/>
                </a:lnSpc>
              </a:pPr>
              <a:endParaRPr/>
            </a:p>
          </p:txBody>
        </p:sp>
      </p:grpSp>
      <p:grpSp>
        <p:nvGrpSpPr>
          <p:cNvPr id="18" name="Group 18"/>
          <p:cNvGrpSpPr/>
          <p:nvPr/>
        </p:nvGrpSpPr>
        <p:grpSpPr>
          <a:xfrm>
            <a:off x="1618198" y="7542386"/>
            <a:ext cx="8467011" cy="3291191"/>
            <a:chOff x="0" y="0"/>
            <a:chExt cx="2032400" cy="790009"/>
          </a:xfrm>
        </p:grpSpPr>
        <p:sp>
          <p:nvSpPr>
            <p:cNvPr id="19" name="Freeform 19"/>
            <p:cNvSpPr/>
            <p:nvPr/>
          </p:nvSpPr>
          <p:spPr>
            <a:xfrm>
              <a:off x="0" y="0"/>
              <a:ext cx="2032400" cy="790009"/>
            </a:xfrm>
            <a:custGeom>
              <a:avLst/>
              <a:gdLst/>
              <a:ahLst/>
              <a:cxnLst/>
              <a:rect l="l" t="t" r="r" b="b"/>
              <a:pathLst>
                <a:path w="2032400" h="790009">
                  <a:moveTo>
                    <a:pt x="25602" y="0"/>
                  </a:moveTo>
                  <a:lnTo>
                    <a:pt x="2006798" y="0"/>
                  </a:lnTo>
                  <a:cubicBezTo>
                    <a:pt x="2020938" y="0"/>
                    <a:pt x="2032400" y="11462"/>
                    <a:pt x="2032400" y="25602"/>
                  </a:cubicBezTo>
                  <a:lnTo>
                    <a:pt x="2032400" y="764407"/>
                  </a:lnTo>
                  <a:cubicBezTo>
                    <a:pt x="2032400" y="778547"/>
                    <a:pt x="2020938" y="790009"/>
                    <a:pt x="2006798" y="790009"/>
                  </a:cubicBezTo>
                  <a:lnTo>
                    <a:pt x="25602" y="790009"/>
                  </a:lnTo>
                  <a:cubicBezTo>
                    <a:pt x="11462" y="790009"/>
                    <a:pt x="0" y="778547"/>
                    <a:pt x="0" y="764407"/>
                  </a:cubicBezTo>
                  <a:lnTo>
                    <a:pt x="0" y="25602"/>
                  </a:lnTo>
                  <a:cubicBezTo>
                    <a:pt x="0" y="11462"/>
                    <a:pt x="11462" y="0"/>
                    <a:pt x="25602" y="0"/>
                  </a:cubicBezTo>
                  <a:close/>
                </a:path>
              </a:pathLst>
            </a:custGeom>
            <a:solidFill>
              <a:srgbClr val="08C8A1"/>
            </a:solidFill>
          </p:spPr>
          <p:txBody>
            <a:bodyPr/>
            <a:lstStyle/>
            <a:p>
              <a:pPr algn="just"/>
              <a:r>
                <a:rPr lang="en-US" sz="2900" dirty="0" err="1"/>
                <a:t>Uhai's</a:t>
              </a:r>
              <a:r>
                <a:rPr lang="en-US" sz="2900" dirty="0"/>
                <a:t> work aligns with the WHO's Health Systems Strengthening pillars by enhancing service organization, human resources, health information systems, and health products. For example, our app ensures timely blood distribution and reduces wastage, while our wellness campaigns engage communities to increase blood donation rates.</a:t>
              </a:r>
              <a:endParaRPr lang="en-GB" sz="2900" dirty="0"/>
            </a:p>
          </p:txBody>
        </p:sp>
        <p:sp>
          <p:nvSpPr>
            <p:cNvPr id="20" name="TextBox 20"/>
            <p:cNvSpPr txBox="1"/>
            <p:nvPr/>
          </p:nvSpPr>
          <p:spPr>
            <a:xfrm>
              <a:off x="0" y="-171450"/>
              <a:ext cx="2032400" cy="961459"/>
            </a:xfrm>
            <a:prstGeom prst="rect">
              <a:avLst/>
            </a:prstGeom>
          </p:spPr>
          <p:txBody>
            <a:bodyPr lIns="50800" tIns="50800" rIns="50800" bIns="50800" rtlCol="0" anchor="ctr"/>
            <a:lstStyle/>
            <a:p>
              <a:pPr algn="ctr">
                <a:lnSpc>
                  <a:spcPts val="5220"/>
                </a:lnSpc>
              </a:pPr>
              <a:endParaRPr/>
            </a:p>
          </p:txBody>
        </p:sp>
      </p:grpSp>
      <p:grpSp>
        <p:nvGrpSpPr>
          <p:cNvPr id="21" name="Group 21"/>
          <p:cNvGrpSpPr/>
          <p:nvPr/>
        </p:nvGrpSpPr>
        <p:grpSpPr>
          <a:xfrm>
            <a:off x="10862375" y="7542386"/>
            <a:ext cx="8467011" cy="3291191"/>
            <a:chOff x="0" y="0"/>
            <a:chExt cx="2032400" cy="790009"/>
          </a:xfrm>
        </p:grpSpPr>
        <p:sp>
          <p:nvSpPr>
            <p:cNvPr id="22" name="Freeform 22"/>
            <p:cNvSpPr/>
            <p:nvPr/>
          </p:nvSpPr>
          <p:spPr>
            <a:xfrm>
              <a:off x="0" y="0"/>
              <a:ext cx="2032400" cy="790009"/>
            </a:xfrm>
            <a:custGeom>
              <a:avLst/>
              <a:gdLst/>
              <a:ahLst/>
              <a:cxnLst/>
              <a:rect l="l" t="t" r="r" b="b"/>
              <a:pathLst>
                <a:path w="2032400" h="790009">
                  <a:moveTo>
                    <a:pt x="25602" y="0"/>
                  </a:moveTo>
                  <a:lnTo>
                    <a:pt x="2006798" y="0"/>
                  </a:lnTo>
                  <a:cubicBezTo>
                    <a:pt x="2020938" y="0"/>
                    <a:pt x="2032400" y="11462"/>
                    <a:pt x="2032400" y="25602"/>
                  </a:cubicBezTo>
                  <a:lnTo>
                    <a:pt x="2032400" y="764407"/>
                  </a:lnTo>
                  <a:cubicBezTo>
                    <a:pt x="2032400" y="778547"/>
                    <a:pt x="2020938" y="790009"/>
                    <a:pt x="2006798" y="790009"/>
                  </a:cubicBezTo>
                  <a:lnTo>
                    <a:pt x="25602" y="790009"/>
                  </a:lnTo>
                  <a:cubicBezTo>
                    <a:pt x="11462" y="790009"/>
                    <a:pt x="0" y="778547"/>
                    <a:pt x="0" y="764407"/>
                  </a:cubicBezTo>
                  <a:lnTo>
                    <a:pt x="0" y="25602"/>
                  </a:lnTo>
                  <a:cubicBezTo>
                    <a:pt x="0" y="11462"/>
                    <a:pt x="11462" y="0"/>
                    <a:pt x="25602" y="0"/>
                  </a:cubicBezTo>
                  <a:close/>
                </a:path>
              </a:pathLst>
            </a:custGeom>
            <a:solidFill>
              <a:srgbClr val="08C8A1"/>
            </a:solidFill>
          </p:spPr>
          <p:txBody>
            <a:bodyPr/>
            <a:lstStyle/>
            <a:p>
              <a:pPr algn="just">
                <a:lnSpc>
                  <a:spcPct val="150000"/>
                </a:lnSpc>
              </a:pPr>
              <a:r>
                <a:rPr lang="en-GB" sz="2900" dirty="0"/>
                <a:t>Our platform's predictive algorithms ensure that blood is delivered to the right patients at the right time, based on real-time demand.</a:t>
              </a:r>
            </a:p>
            <a:p>
              <a:pPr algn="just">
                <a:lnSpc>
                  <a:spcPct val="150000"/>
                </a:lnSpc>
              </a:pPr>
              <a:r>
                <a:rPr lang="en-GB" sz="2900" dirty="0"/>
                <a:t>Through this, we have seen a 30% increase in recurring blood donors and a 20% reduction in blood wastage. </a:t>
              </a:r>
              <a:endParaRPr lang="en-KE" sz="2900" dirty="0"/>
            </a:p>
            <a:p>
              <a:pPr algn="just">
                <a:lnSpc>
                  <a:spcPct val="150000"/>
                </a:lnSpc>
              </a:pPr>
              <a:endParaRPr lang="en-GB" sz="2900" dirty="0"/>
            </a:p>
          </p:txBody>
        </p:sp>
        <p:sp>
          <p:nvSpPr>
            <p:cNvPr id="23" name="TextBox 23"/>
            <p:cNvSpPr txBox="1"/>
            <p:nvPr/>
          </p:nvSpPr>
          <p:spPr>
            <a:xfrm>
              <a:off x="0" y="-171450"/>
              <a:ext cx="2032400" cy="961459"/>
            </a:xfrm>
            <a:prstGeom prst="rect">
              <a:avLst/>
            </a:prstGeom>
          </p:spPr>
          <p:txBody>
            <a:bodyPr lIns="50800" tIns="50800" rIns="50800" bIns="50800" rtlCol="0" anchor="ctr"/>
            <a:lstStyle/>
            <a:p>
              <a:pPr algn="ctr">
                <a:lnSpc>
                  <a:spcPts val="5220"/>
                </a:lnSpc>
              </a:pPr>
              <a:endParaRPr/>
            </a:p>
          </p:txBody>
        </p:sp>
      </p:grpSp>
      <p:sp>
        <p:nvSpPr>
          <p:cNvPr id="24" name="TextBox 24"/>
          <p:cNvSpPr txBox="1"/>
          <p:nvPr/>
        </p:nvSpPr>
        <p:spPr>
          <a:xfrm>
            <a:off x="1900272" y="1534094"/>
            <a:ext cx="7812497" cy="544829"/>
          </a:xfrm>
          <a:prstGeom prst="rect">
            <a:avLst/>
          </a:prstGeom>
        </p:spPr>
        <p:txBody>
          <a:bodyPr lIns="0" tIns="0" rIns="0" bIns="0" rtlCol="0" anchor="t">
            <a:spAutoFit/>
          </a:bodyPr>
          <a:lstStyle/>
          <a:p>
            <a:pPr algn="l">
              <a:lnSpc>
                <a:spcPts val="4680"/>
              </a:lnSpc>
            </a:pPr>
            <a:r>
              <a:rPr lang="en-US" sz="2600" b="1">
                <a:solidFill>
                  <a:srgbClr val="FFB437"/>
                </a:solidFill>
                <a:latin typeface="Open Sans Bold"/>
                <a:ea typeface="Open Sans Bold"/>
                <a:cs typeface="Open Sans Bold"/>
                <a:sym typeface="Open Sans Bold"/>
              </a:rPr>
              <a:t>Include visuals or short demos here if possible.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439143" y="741363"/>
            <a:ext cx="12860428"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4. Market Opport</a:t>
            </a:r>
            <a:r>
              <a:rPr lang="en-US" sz="4000" b="1">
                <a:solidFill>
                  <a:srgbClr val="FFFEFE"/>
                </a:solidFill>
                <a:latin typeface="League Spartan"/>
                <a:ea typeface="League Spartan"/>
                <a:cs typeface="League Spartan"/>
                <a:sym typeface="League Spartan"/>
              </a:rPr>
              <a:t>unity / Impact Potential</a:t>
            </a:r>
          </a:p>
        </p:txBody>
      </p:sp>
      <p:sp>
        <p:nvSpPr>
          <p:cNvPr id="8" name="TextBox 8"/>
          <p:cNvSpPr txBox="1"/>
          <p:nvPr/>
        </p:nvSpPr>
        <p:spPr>
          <a:xfrm>
            <a:off x="10862375" y="1536703"/>
            <a:ext cx="8467011" cy="493394"/>
          </a:xfrm>
          <a:prstGeom prst="rect">
            <a:avLst/>
          </a:prstGeom>
        </p:spPr>
        <p:txBody>
          <a:bodyPr lIns="0" tIns="0" rIns="0" bIns="0" rtlCol="0" anchor="t">
            <a:spAutoFit/>
          </a:bodyPr>
          <a:lstStyle/>
          <a:p>
            <a:pPr algn="l">
              <a:lnSpc>
                <a:spcPts val="4320"/>
              </a:lnSpc>
            </a:pPr>
            <a:r>
              <a:rPr lang="en-US" sz="2400">
                <a:solidFill>
                  <a:srgbClr val="FFFFFF"/>
                </a:solidFill>
                <a:latin typeface="Open Sans"/>
                <a:ea typeface="Open Sans"/>
                <a:cs typeface="Open Sans"/>
                <a:sym typeface="Open Sans"/>
              </a:rPr>
              <a:t>2. How many people or organizations need your solution?</a:t>
            </a:r>
          </a:p>
        </p:txBody>
      </p:sp>
      <p:sp>
        <p:nvSpPr>
          <p:cNvPr id="9" name="TextBox 9"/>
          <p:cNvSpPr txBox="1"/>
          <p:nvPr/>
        </p:nvSpPr>
        <p:spPr>
          <a:xfrm>
            <a:off x="2102768" y="1470028"/>
            <a:ext cx="7501044" cy="607695"/>
          </a:xfrm>
          <a:prstGeom prst="rect">
            <a:avLst/>
          </a:prstGeom>
        </p:spPr>
        <p:txBody>
          <a:bodyPr lIns="0" tIns="0" rIns="0" bIns="0" rtlCol="0" anchor="t">
            <a:spAutoFit/>
          </a:bodyPr>
          <a:lstStyle/>
          <a:p>
            <a:pPr marL="626111" lvl="1" indent="-313055" algn="l">
              <a:lnSpc>
                <a:spcPts val="5220"/>
              </a:lnSpc>
              <a:buAutoNum type="arabicPeriod"/>
            </a:pPr>
            <a:r>
              <a:rPr lang="en-US" sz="2900">
                <a:solidFill>
                  <a:srgbClr val="FFFFFF"/>
                </a:solidFill>
                <a:latin typeface="Open Sans"/>
                <a:ea typeface="Open Sans"/>
                <a:cs typeface="Open Sans"/>
                <a:sym typeface="Open Sans"/>
              </a:rPr>
              <a:t>How big is the opportunity or impact?</a:t>
            </a:r>
          </a:p>
        </p:txBody>
      </p:sp>
      <p:sp>
        <p:nvSpPr>
          <p:cNvPr id="10" name="TextBox 10"/>
          <p:cNvSpPr txBox="1"/>
          <p:nvPr/>
        </p:nvSpPr>
        <p:spPr>
          <a:xfrm>
            <a:off x="1915112" y="5743248"/>
            <a:ext cx="7876356"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3. What is the total addressable market (TAM) or reach?</a:t>
            </a:r>
          </a:p>
        </p:txBody>
      </p:sp>
      <p:sp>
        <p:nvSpPr>
          <p:cNvPr id="11" name="TextBox 11"/>
          <p:cNvSpPr txBox="1"/>
          <p:nvPr/>
        </p:nvSpPr>
        <p:spPr>
          <a:xfrm>
            <a:off x="10862375" y="5714346"/>
            <a:ext cx="8467011"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4. What is the size and scope of your social/environmental/economic impact?</a:t>
            </a:r>
          </a:p>
        </p:txBody>
      </p:sp>
      <p:grpSp>
        <p:nvGrpSpPr>
          <p:cNvPr id="12" name="Group 12"/>
          <p:cNvGrpSpPr/>
          <p:nvPr/>
        </p:nvGrpSpPr>
        <p:grpSpPr>
          <a:xfrm>
            <a:off x="1619784" y="2344423"/>
            <a:ext cx="8467011" cy="3303902"/>
            <a:chOff x="0" y="0"/>
            <a:chExt cx="2032400" cy="793060"/>
          </a:xfrm>
        </p:grpSpPr>
        <p:sp>
          <p:nvSpPr>
            <p:cNvPr id="13" name="Freeform 13"/>
            <p:cNvSpPr/>
            <p:nvPr/>
          </p:nvSpPr>
          <p:spPr>
            <a:xfrm>
              <a:off x="0" y="0"/>
              <a:ext cx="2032400" cy="793060"/>
            </a:xfrm>
            <a:custGeom>
              <a:avLst/>
              <a:gdLst/>
              <a:ahLst/>
              <a:cxnLst/>
              <a:rect l="l" t="t" r="r" b="b"/>
              <a:pathLst>
                <a:path w="2032400" h="793060">
                  <a:moveTo>
                    <a:pt x="25602" y="0"/>
                  </a:moveTo>
                  <a:lnTo>
                    <a:pt x="2006798" y="0"/>
                  </a:lnTo>
                  <a:cubicBezTo>
                    <a:pt x="2020938" y="0"/>
                    <a:pt x="2032400" y="11462"/>
                    <a:pt x="2032400" y="25602"/>
                  </a:cubicBezTo>
                  <a:lnTo>
                    <a:pt x="2032400" y="767458"/>
                  </a:lnTo>
                  <a:cubicBezTo>
                    <a:pt x="2032400" y="781598"/>
                    <a:pt x="2020938" y="793060"/>
                    <a:pt x="2006798" y="793060"/>
                  </a:cubicBezTo>
                  <a:lnTo>
                    <a:pt x="25602" y="793060"/>
                  </a:lnTo>
                  <a:cubicBezTo>
                    <a:pt x="11462" y="793060"/>
                    <a:pt x="0" y="781598"/>
                    <a:pt x="0" y="767458"/>
                  </a:cubicBezTo>
                  <a:lnTo>
                    <a:pt x="0" y="25602"/>
                  </a:lnTo>
                  <a:cubicBezTo>
                    <a:pt x="0" y="11462"/>
                    <a:pt x="11462" y="0"/>
                    <a:pt x="25602" y="0"/>
                  </a:cubicBezTo>
                  <a:close/>
                </a:path>
              </a:pathLst>
            </a:custGeom>
            <a:solidFill>
              <a:srgbClr val="08C8A1"/>
            </a:solidFill>
          </p:spPr>
          <p:txBody>
            <a:bodyPr/>
            <a:lstStyle/>
            <a:p>
              <a:pPr algn="just"/>
              <a:r>
                <a:rPr lang="en-US" sz="2800" dirty="0" err="1"/>
                <a:t>Uhai</a:t>
              </a:r>
              <a:r>
                <a:rPr lang="en-US" sz="2800" dirty="0"/>
                <a:t> Life Sciences directly addresses these issues through an innovative system that strengthens the blood supply chain. Our approach integrates predictive modelling, real-time inventory management, temperature-controlled storage, and targeted blood drives. This holistic model ensures a reliable and consistent blood supply, saving lives and reducing wastage.</a:t>
              </a:r>
              <a:endParaRPr lang="en-GB" sz="2800" dirty="0"/>
            </a:p>
          </p:txBody>
        </p:sp>
        <p:sp>
          <p:nvSpPr>
            <p:cNvPr id="14" name="TextBox 14"/>
            <p:cNvSpPr txBox="1"/>
            <p:nvPr/>
          </p:nvSpPr>
          <p:spPr>
            <a:xfrm>
              <a:off x="0" y="-171450"/>
              <a:ext cx="2032400" cy="964510"/>
            </a:xfrm>
            <a:prstGeom prst="rect">
              <a:avLst/>
            </a:prstGeom>
          </p:spPr>
          <p:txBody>
            <a:bodyPr lIns="50800" tIns="50800" rIns="50800" bIns="50800" rtlCol="0" anchor="ctr"/>
            <a:lstStyle/>
            <a:p>
              <a:pPr algn="ctr">
                <a:lnSpc>
                  <a:spcPts val="5220"/>
                </a:lnSpc>
              </a:pPr>
              <a:endParaRPr/>
            </a:p>
          </p:txBody>
        </p:sp>
      </p:grpSp>
      <p:grpSp>
        <p:nvGrpSpPr>
          <p:cNvPr id="15" name="Group 15"/>
          <p:cNvGrpSpPr/>
          <p:nvPr/>
        </p:nvGrpSpPr>
        <p:grpSpPr>
          <a:xfrm>
            <a:off x="10862375" y="7274541"/>
            <a:ext cx="8467011" cy="3559036"/>
            <a:chOff x="0" y="0"/>
            <a:chExt cx="2032400" cy="854302"/>
          </a:xfrm>
        </p:grpSpPr>
        <p:sp>
          <p:nvSpPr>
            <p:cNvPr id="16" name="Freeform 16"/>
            <p:cNvSpPr/>
            <p:nvPr/>
          </p:nvSpPr>
          <p:spPr>
            <a:xfrm>
              <a:off x="0" y="0"/>
              <a:ext cx="2032400" cy="854302"/>
            </a:xfrm>
            <a:custGeom>
              <a:avLst/>
              <a:gdLst/>
              <a:ahLst/>
              <a:cxnLst/>
              <a:rect l="l" t="t" r="r" b="b"/>
              <a:pathLst>
                <a:path w="2032400" h="854302">
                  <a:moveTo>
                    <a:pt x="25602" y="0"/>
                  </a:moveTo>
                  <a:lnTo>
                    <a:pt x="2006798" y="0"/>
                  </a:lnTo>
                  <a:cubicBezTo>
                    <a:pt x="2020938" y="0"/>
                    <a:pt x="2032400" y="11462"/>
                    <a:pt x="2032400" y="25602"/>
                  </a:cubicBezTo>
                  <a:lnTo>
                    <a:pt x="2032400" y="828700"/>
                  </a:lnTo>
                  <a:cubicBezTo>
                    <a:pt x="2032400" y="842840"/>
                    <a:pt x="2020938" y="854302"/>
                    <a:pt x="2006798" y="854302"/>
                  </a:cubicBezTo>
                  <a:lnTo>
                    <a:pt x="25602" y="854302"/>
                  </a:lnTo>
                  <a:cubicBezTo>
                    <a:pt x="11462" y="854302"/>
                    <a:pt x="0" y="842840"/>
                    <a:pt x="0" y="828700"/>
                  </a:cubicBezTo>
                  <a:lnTo>
                    <a:pt x="0" y="25602"/>
                  </a:lnTo>
                  <a:cubicBezTo>
                    <a:pt x="0" y="11462"/>
                    <a:pt x="11462" y="0"/>
                    <a:pt x="25602" y="0"/>
                  </a:cubicBezTo>
                  <a:close/>
                </a:path>
              </a:pathLst>
            </a:custGeom>
            <a:solidFill>
              <a:srgbClr val="08C8A1"/>
            </a:solidFill>
          </p:spPr>
          <p:txBody>
            <a:bodyPr/>
            <a:lstStyle/>
            <a:p>
              <a:pPr>
                <a:lnSpc>
                  <a:spcPct val="150000"/>
                </a:lnSpc>
              </a:pPr>
              <a:r>
                <a:rPr lang="en-GB" sz="2900" dirty="0"/>
                <a:t>We have seen a 30% increase in recurring blood donors and a 20% reduction in blood wastage. </a:t>
              </a:r>
            </a:p>
            <a:p>
              <a:pPr>
                <a:lnSpc>
                  <a:spcPct val="150000"/>
                </a:lnSpc>
              </a:pPr>
              <a:r>
                <a:rPr lang="en-GB" sz="2900" dirty="0"/>
                <a:t>We have also reduced </a:t>
              </a:r>
              <a:r>
                <a:rPr lang="en-KE" sz="2900" dirty="0"/>
                <a:t>the cost of blood drives from more than US$1,000 to as low as US$250 per drive and </a:t>
              </a:r>
              <a:r>
                <a:rPr lang="en-US" sz="2900" dirty="0"/>
                <a:t>are </a:t>
              </a:r>
              <a:r>
                <a:rPr lang="en-KE" sz="2900" dirty="0"/>
                <a:t>using behavioural incentives to retain more donors. </a:t>
              </a:r>
              <a:endParaRPr lang="en-GB" sz="2900" dirty="0"/>
            </a:p>
          </p:txBody>
        </p:sp>
        <p:sp>
          <p:nvSpPr>
            <p:cNvPr id="17" name="TextBox 17"/>
            <p:cNvSpPr txBox="1"/>
            <p:nvPr/>
          </p:nvSpPr>
          <p:spPr>
            <a:xfrm>
              <a:off x="0" y="-171450"/>
              <a:ext cx="2032400" cy="1025752"/>
            </a:xfrm>
            <a:prstGeom prst="rect">
              <a:avLst/>
            </a:prstGeom>
          </p:spPr>
          <p:txBody>
            <a:bodyPr lIns="50800" tIns="50800" rIns="50800" bIns="50800" rtlCol="0" anchor="ctr"/>
            <a:lstStyle/>
            <a:p>
              <a:pPr algn="ctr">
                <a:lnSpc>
                  <a:spcPts val="5220"/>
                </a:lnSpc>
              </a:pPr>
              <a:endParaRPr/>
            </a:p>
          </p:txBody>
        </p:sp>
      </p:grpSp>
      <p:grpSp>
        <p:nvGrpSpPr>
          <p:cNvPr id="18" name="Group 18"/>
          <p:cNvGrpSpPr/>
          <p:nvPr/>
        </p:nvGrpSpPr>
        <p:grpSpPr>
          <a:xfrm>
            <a:off x="1619784" y="7274541"/>
            <a:ext cx="8467011" cy="3516560"/>
            <a:chOff x="0" y="0"/>
            <a:chExt cx="2032400" cy="844106"/>
          </a:xfrm>
        </p:grpSpPr>
        <p:sp>
          <p:nvSpPr>
            <p:cNvPr id="19" name="Freeform 19"/>
            <p:cNvSpPr/>
            <p:nvPr/>
          </p:nvSpPr>
          <p:spPr>
            <a:xfrm>
              <a:off x="0" y="0"/>
              <a:ext cx="2032400" cy="844106"/>
            </a:xfrm>
            <a:custGeom>
              <a:avLst/>
              <a:gdLst/>
              <a:ahLst/>
              <a:cxnLst/>
              <a:rect l="l" t="t" r="r" b="b"/>
              <a:pathLst>
                <a:path w="2032400" h="844106">
                  <a:moveTo>
                    <a:pt x="25602" y="0"/>
                  </a:moveTo>
                  <a:lnTo>
                    <a:pt x="2006798" y="0"/>
                  </a:lnTo>
                  <a:cubicBezTo>
                    <a:pt x="2020938" y="0"/>
                    <a:pt x="2032400" y="11462"/>
                    <a:pt x="2032400" y="25602"/>
                  </a:cubicBezTo>
                  <a:lnTo>
                    <a:pt x="2032400" y="818504"/>
                  </a:lnTo>
                  <a:cubicBezTo>
                    <a:pt x="2032400" y="832644"/>
                    <a:pt x="2020938" y="844106"/>
                    <a:pt x="2006798" y="844106"/>
                  </a:cubicBezTo>
                  <a:lnTo>
                    <a:pt x="25602" y="844106"/>
                  </a:lnTo>
                  <a:cubicBezTo>
                    <a:pt x="11462" y="844106"/>
                    <a:pt x="0" y="832644"/>
                    <a:pt x="0" y="818504"/>
                  </a:cubicBezTo>
                  <a:lnTo>
                    <a:pt x="0" y="25602"/>
                  </a:lnTo>
                  <a:cubicBezTo>
                    <a:pt x="0" y="11462"/>
                    <a:pt x="11462" y="0"/>
                    <a:pt x="25602" y="0"/>
                  </a:cubicBezTo>
                  <a:close/>
                </a:path>
              </a:pathLst>
            </a:custGeom>
            <a:solidFill>
              <a:srgbClr val="08C8A1"/>
            </a:solidFill>
          </p:spPr>
          <p:txBody>
            <a:bodyPr/>
            <a:lstStyle/>
            <a:p>
              <a:pPr marL="571500" indent="-571500">
                <a:buFont typeface="+mj-lt"/>
                <a:buAutoNum type="romanLcPeriod"/>
              </a:pPr>
              <a:r>
                <a:rPr lang="en" sz="2900" dirty="0"/>
                <a:t>Patients of all age groups in need of blood transfusion.</a:t>
              </a:r>
            </a:p>
            <a:p>
              <a:pPr marL="571500" indent="-571500">
                <a:buFont typeface="+mj-lt"/>
                <a:buAutoNum type="romanLcPeriod"/>
              </a:pPr>
              <a:r>
                <a:rPr lang="en" sz="2900" dirty="0"/>
                <a:t>Healthcare financing institutions  and insurers</a:t>
              </a:r>
            </a:p>
            <a:p>
              <a:pPr marL="571500" indent="-571500">
                <a:buFont typeface="+mj-lt"/>
                <a:buAutoNum type="romanLcPeriod"/>
              </a:pPr>
              <a:r>
                <a:rPr lang="en" sz="2900" dirty="0"/>
                <a:t>Healthcare institutions offering care to patients in need of transfusions.</a:t>
              </a:r>
            </a:p>
            <a:p>
              <a:pPr marL="571500" indent="-571500">
                <a:buFont typeface="+mj-lt"/>
                <a:buAutoNum type="romanLcPeriod"/>
              </a:pPr>
              <a:r>
                <a:rPr lang="en" sz="2900" dirty="0"/>
                <a:t>Healthcare Professionals directly interacting with the patients.</a:t>
              </a:r>
            </a:p>
            <a:p>
              <a:pPr marL="571500" indent="-571500">
                <a:buFont typeface="+mj-lt"/>
                <a:buAutoNum type="romanLcPeriod"/>
              </a:pPr>
              <a:r>
                <a:rPr lang="en" sz="2900" dirty="0"/>
                <a:t>Blood Banks.</a:t>
              </a:r>
              <a:endParaRPr lang="en-KE" sz="2900" dirty="0"/>
            </a:p>
            <a:p>
              <a:endParaRPr lang="en-GB" sz="2900" dirty="0"/>
            </a:p>
          </p:txBody>
        </p:sp>
        <p:sp>
          <p:nvSpPr>
            <p:cNvPr id="20" name="TextBox 20"/>
            <p:cNvSpPr txBox="1"/>
            <p:nvPr/>
          </p:nvSpPr>
          <p:spPr>
            <a:xfrm>
              <a:off x="0" y="-171450"/>
              <a:ext cx="2032400" cy="1015556"/>
            </a:xfrm>
            <a:prstGeom prst="rect">
              <a:avLst/>
            </a:prstGeom>
          </p:spPr>
          <p:txBody>
            <a:bodyPr lIns="50800" tIns="50800" rIns="50800" bIns="50800" rtlCol="0" anchor="ctr"/>
            <a:lstStyle/>
            <a:p>
              <a:pPr algn="ctr">
                <a:lnSpc>
                  <a:spcPts val="5220"/>
                </a:lnSpc>
              </a:pPr>
              <a:endParaRPr/>
            </a:p>
          </p:txBody>
        </p:sp>
      </p:grpSp>
      <p:grpSp>
        <p:nvGrpSpPr>
          <p:cNvPr id="21" name="Group 21"/>
          <p:cNvGrpSpPr/>
          <p:nvPr/>
        </p:nvGrpSpPr>
        <p:grpSpPr>
          <a:xfrm>
            <a:off x="10862375" y="2344423"/>
            <a:ext cx="8467011" cy="3303902"/>
            <a:chOff x="0" y="0"/>
            <a:chExt cx="2032400" cy="793060"/>
          </a:xfrm>
        </p:grpSpPr>
        <p:sp>
          <p:nvSpPr>
            <p:cNvPr id="22" name="Freeform 22"/>
            <p:cNvSpPr/>
            <p:nvPr/>
          </p:nvSpPr>
          <p:spPr>
            <a:xfrm>
              <a:off x="0" y="0"/>
              <a:ext cx="2032400" cy="793060"/>
            </a:xfrm>
            <a:custGeom>
              <a:avLst/>
              <a:gdLst/>
              <a:ahLst/>
              <a:cxnLst/>
              <a:rect l="l" t="t" r="r" b="b"/>
              <a:pathLst>
                <a:path w="2032400" h="793060">
                  <a:moveTo>
                    <a:pt x="25602" y="0"/>
                  </a:moveTo>
                  <a:lnTo>
                    <a:pt x="2006798" y="0"/>
                  </a:lnTo>
                  <a:cubicBezTo>
                    <a:pt x="2020938" y="0"/>
                    <a:pt x="2032400" y="11462"/>
                    <a:pt x="2032400" y="25602"/>
                  </a:cubicBezTo>
                  <a:lnTo>
                    <a:pt x="2032400" y="767458"/>
                  </a:lnTo>
                  <a:cubicBezTo>
                    <a:pt x="2032400" y="781598"/>
                    <a:pt x="2020938" y="793060"/>
                    <a:pt x="2006798" y="793060"/>
                  </a:cubicBezTo>
                  <a:lnTo>
                    <a:pt x="25602" y="793060"/>
                  </a:lnTo>
                  <a:cubicBezTo>
                    <a:pt x="11462" y="793060"/>
                    <a:pt x="0" y="781598"/>
                    <a:pt x="0" y="767458"/>
                  </a:cubicBezTo>
                  <a:lnTo>
                    <a:pt x="0" y="25602"/>
                  </a:lnTo>
                  <a:cubicBezTo>
                    <a:pt x="0" y="11462"/>
                    <a:pt x="11462" y="0"/>
                    <a:pt x="25602" y="0"/>
                  </a:cubicBezTo>
                  <a:close/>
                </a:path>
              </a:pathLst>
            </a:custGeom>
            <a:solidFill>
              <a:srgbClr val="08C8A1"/>
            </a:solidFill>
          </p:spPr>
          <p:txBody>
            <a:bodyPr/>
            <a:lstStyle/>
            <a:p>
              <a:pPr algn="just"/>
              <a:r>
                <a:rPr lang="en-US" sz="2800" dirty="0"/>
                <a:t>We run blood drives in collaboration with the Eldoret blood bank, both off-site and on-site. These drives are an opportunity for players in the healthcare and allied industries (such as insurance, banking, and sports) to advertise their products. Additionally, we have created a mobile application for blood donor identification, retention, and linking patients in need of blood. </a:t>
              </a:r>
              <a:endParaRPr lang="en-GB" sz="2800" dirty="0"/>
            </a:p>
          </p:txBody>
        </p:sp>
        <p:sp>
          <p:nvSpPr>
            <p:cNvPr id="23" name="TextBox 23"/>
            <p:cNvSpPr txBox="1"/>
            <p:nvPr/>
          </p:nvSpPr>
          <p:spPr>
            <a:xfrm>
              <a:off x="0" y="-171450"/>
              <a:ext cx="2032400" cy="964510"/>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261456" y="1042987"/>
            <a:ext cx="990143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5. B</a:t>
            </a:r>
            <a:r>
              <a:rPr lang="en-US" sz="4000" b="1">
                <a:solidFill>
                  <a:srgbClr val="FFFEFE"/>
                </a:solidFill>
                <a:latin typeface="League Spartan"/>
                <a:ea typeface="League Spartan"/>
                <a:cs typeface="League Spartan"/>
                <a:sym typeface="League Spartan"/>
              </a:rPr>
              <a:t>usiness / Operating Model</a:t>
            </a:r>
          </a:p>
        </p:txBody>
      </p:sp>
      <p:sp>
        <p:nvSpPr>
          <p:cNvPr id="8" name="TextBox 8"/>
          <p:cNvSpPr txBox="1"/>
          <p:nvPr/>
        </p:nvSpPr>
        <p:spPr>
          <a:xfrm>
            <a:off x="10981609" y="1799460"/>
            <a:ext cx="8347777" cy="2579370"/>
          </a:xfrm>
          <a:prstGeom prst="rect">
            <a:avLst/>
          </a:prstGeom>
        </p:spPr>
        <p:txBody>
          <a:bodyPr lIns="0" tIns="0" rIns="0" bIns="0" rtlCol="0" anchor="t">
            <a:spAutoFit/>
          </a:bodyPr>
          <a:lstStyle/>
          <a:p>
            <a:pPr marL="626111" lvl="1" indent="-313055" algn="l">
              <a:lnSpc>
                <a:spcPts val="5220"/>
              </a:lnSpc>
              <a:buFont typeface="Arial"/>
              <a:buChar char="•"/>
            </a:pPr>
            <a:r>
              <a:rPr lang="en-US" sz="2900" b="1">
                <a:solidFill>
                  <a:srgbClr val="FFB437"/>
                </a:solidFill>
                <a:latin typeface="Open Sans Bold"/>
                <a:ea typeface="Open Sans Bold"/>
                <a:cs typeface="Open Sans Bold"/>
                <a:sym typeface="Open Sans Bold"/>
              </a:rPr>
              <a:t>For-profits:</a:t>
            </a:r>
            <a:r>
              <a:rPr lang="en-US" sz="2900">
                <a:solidFill>
                  <a:srgbClr val="FFFFFF"/>
                </a:solidFill>
                <a:latin typeface="Open Sans"/>
                <a:ea typeface="Open Sans"/>
                <a:cs typeface="Open Sans"/>
                <a:sym typeface="Open Sans"/>
              </a:rPr>
              <a:t> What’s your revenue model? (e.g., subscriptions, licensing, B2B/B2C sales)</a:t>
            </a:r>
          </a:p>
          <a:p>
            <a:pPr marL="626111" lvl="1" indent="-313055" algn="l">
              <a:lnSpc>
                <a:spcPts val="5220"/>
              </a:lnSpc>
              <a:buFont typeface="Arial"/>
              <a:buChar char="•"/>
            </a:pPr>
            <a:r>
              <a:rPr lang="en-US" sz="2900" b="1">
                <a:solidFill>
                  <a:srgbClr val="FFB437"/>
                </a:solidFill>
                <a:latin typeface="Open Sans Bold"/>
                <a:ea typeface="Open Sans Bold"/>
                <a:cs typeface="Open Sans Bold"/>
                <a:sym typeface="Open Sans Bold"/>
              </a:rPr>
              <a:t>Non-profits:</a:t>
            </a:r>
            <a:r>
              <a:rPr lang="en-US" sz="2900">
                <a:solidFill>
                  <a:srgbClr val="FFFFFF"/>
                </a:solidFill>
                <a:latin typeface="Open Sans"/>
                <a:ea typeface="Open Sans"/>
                <a:cs typeface="Open Sans"/>
                <a:sym typeface="Open Sans"/>
              </a:rPr>
              <a:t> What’s your funding model? (e.g., grants, donations, earned income)</a:t>
            </a:r>
          </a:p>
        </p:txBody>
      </p:sp>
      <p:sp>
        <p:nvSpPr>
          <p:cNvPr id="9" name="TextBox 9"/>
          <p:cNvSpPr txBox="1"/>
          <p:nvPr/>
        </p:nvSpPr>
        <p:spPr>
          <a:xfrm>
            <a:off x="1439827" y="1799460"/>
            <a:ext cx="9183667"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How does your organization function sustainably?</a:t>
            </a:r>
          </a:p>
        </p:txBody>
      </p:sp>
      <p:sp>
        <p:nvSpPr>
          <p:cNvPr id="10" name="TextBox 10"/>
          <p:cNvSpPr txBox="1"/>
          <p:nvPr/>
        </p:nvSpPr>
        <p:spPr>
          <a:xfrm>
            <a:off x="1439827" y="6486435"/>
            <a:ext cx="8823753"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 partnerships or systems support your model?</a:t>
            </a:r>
          </a:p>
        </p:txBody>
      </p:sp>
      <p:grpSp>
        <p:nvGrpSpPr>
          <p:cNvPr id="11" name="Group 11"/>
          <p:cNvGrpSpPr/>
          <p:nvPr/>
        </p:nvGrpSpPr>
        <p:grpSpPr>
          <a:xfrm>
            <a:off x="10862375" y="4647111"/>
            <a:ext cx="8467011" cy="6186466"/>
            <a:chOff x="0" y="0"/>
            <a:chExt cx="2032400" cy="1484984"/>
          </a:xfrm>
        </p:grpSpPr>
        <p:sp>
          <p:nvSpPr>
            <p:cNvPr id="12" name="Freeform 12"/>
            <p:cNvSpPr/>
            <p:nvPr/>
          </p:nvSpPr>
          <p:spPr>
            <a:xfrm>
              <a:off x="0" y="0"/>
              <a:ext cx="2032400" cy="1484984"/>
            </a:xfrm>
            <a:custGeom>
              <a:avLst/>
              <a:gdLst/>
              <a:ahLst/>
              <a:cxnLst/>
              <a:rect l="l" t="t" r="r" b="b"/>
              <a:pathLst>
                <a:path w="2032400" h="1484984">
                  <a:moveTo>
                    <a:pt x="25602" y="0"/>
                  </a:moveTo>
                  <a:lnTo>
                    <a:pt x="2006798" y="0"/>
                  </a:lnTo>
                  <a:cubicBezTo>
                    <a:pt x="2020938" y="0"/>
                    <a:pt x="2032400" y="11462"/>
                    <a:pt x="2032400" y="25602"/>
                  </a:cubicBezTo>
                  <a:lnTo>
                    <a:pt x="2032400" y="1459382"/>
                  </a:lnTo>
                  <a:cubicBezTo>
                    <a:pt x="2032400" y="1473521"/>
                    <a:pt x="2020938" y="1484984"/>
                    <a:pt x="2006798" y="1484984"/>
                  </a:cubicBezTo>
                  <a:lnTo>
                    <a:pt x="25602" y="1484984"/>
                  </a:lnTo>
                  <a:cubicBezTo>
                    <a:pt x="11462" y="1484984"/>
                    <a:pt x="0" y="1473521"/>
                    <a:pt x="0" y="1459382"/>
                  </a:cubicBezTo>
                  <a:lnTo>
                    <a:pt x="0" y="25602"/>
                  </a:lnTo>
                  <a:cubicBezTo>
                    <a:pt x="0" y="11462"/>
                    <a:pt x="11462" y="0"/>
                    <a:pt x="25602" y="0"/>
                  </a:cubicBezTo>
                  <a:close/>
                </a:path>
              </a:pathLst>
            </a:custGeom>
            <a:solidFill>
              <a:srgbClr val="08C8A1"/>
            </a:solidFill>
          </p:spPr>
          <p:txBody>
            <a:bodyPr/>
            <a:lstStyle/>
            <a:p>
              <a:pPr>
                <a:lnSpc>
                  <a:spcPct val="150000"/>
                </a:lnSpc>
              </a:pPr>
              <a:r>
                <a:rPr lang="en-GB" sz="2900" dirty="0"/>
                <a:t>We use a mixed model of grants, donations (crowd-sourcing) and earned income (from sale of merchandises –such as polo shirts, wrist bands, etc).</a:t>
              </a:r>
            </a:p>
          </p:txBody>
        </p:sp>
        <p:sp>
          <p:nvSpPr>
            <p:cNvPr id="13" name="TextBox 13"/>
            <p:cNvSpPr txBox="1"/>
            <p:nvPr/>
          </p:nvSpPr>
          <p:spPr>
            <a:xfrm>
              <a:off x="0" y="-171450"/>
              <a:ext cx="2032400" cy="1656434"/>
            </a:xfrm>
            <a:prstGeom prst="rect">
              <a:avLst/>
            </a:prstGeom>
          </p:spPr>
          <p:txBody>
            <a:bodyPr lIns="50800" tIns="50800" rIns="50800" bIns="50800" rtlCol="0" anchor="ctr"/>
            <a:lstStyle/>
            <a:p>
              <a:pPr algn="ctr">
                <a:lnSpc>
                  <a:spcPts val="5220"/>
                </a:lnSpc>
              </a:pPr>
              <a:endParaRPr/>
            </a:p>
          </p:txBody>
        </p:sp>
      </p:grpSp>
      <p:grpSp>
        <p:nvGrpSpPr>
          <p:cNvPr id="14" name="Group 14"/>
          <p:cNvGrpSpPr/>
          <p:nvPr/>
        </p:nvGrpSpPr>
        <p:grpSpPr>
          <a:xfrm>
            <a:off x="1619784" y="2664330"/>
            <a:ext cx="8467011" cy="3736379"/>
            <a:chOff x="0" y="0"/>
            <a:chExt cx="2032400" cy="896871"/>
          </a:xfrm>
        </p:grpSpPr>
        <p:sp>
          <p:nvSpPr>
            <p:cNvPr id="15" name="Freeform 15"/>
            <p:cNvSpPr/>
            <p:nvPr/>
          </p:nvSpPr>
          <p:spPr>
            <a:xfrm>
              <a:off x="0" y="0"/>
              <a:ext cx="2032400" cy="896871"/>
            </a:xfrm>
            <a:custGeom>
              <a:avLst/>
              <a:gdLst/>
              <a:ahLst/>
              <a:cxnLst/>
              <a:rect l="l" t="t" r="r" b="b"/>
              <a:pathLst>
                <a:path w="2032400" h="896871">
                  <a:moveTo>
                    <a:pt x="25602" y="0"/>
                  </a:moveTo>
                  <a:lnTo>
                    <a:pt x="2006798" y="0"/>
                  </a:lnTo>
                  <a:cubicBezTo>
                    <a:pt x="2020938" y="0"/>
                    <a:pt x="2032400" y="11462"/>
                    <a:pt x="2032400" y="25602"/>
                  </a:cubicBezTo>
                  <a:lnTo>
                    <a:pt x="2032400" y="871269"/>
                  </a:lnTo>
                  <a:cubicBezTo>
                    <a:pt x="2032400" y="885409"/>
                    <a:pt x="2020938" y="896871"/>
                    <a:pt x="2006798" y="896871"/>
                  </a:cubicBezTo>
                  <a:lnTo>
                    <a:pt x="25602" y="896871"/>
                  </a:lnTo>
                  <a:cubicBezTo>
                    <a:pt x="11462" y="896871"/>
                    <a:pt x="0" y="885409"/>
                    <a:pt x="0" y="871269"/>
                  </a:cubicBezTo>
                  <a:lnTo>
                    <a:pt x="0" y="25602"/>
                  </a:lnTo>
                  <a:cubicBezTo>
                    <a:pt x="0" y="11462"/>
                    <a:pt x="11462" y="0"/>
                    <a:pt x="25602" y="0"/>
                  </a:cubicBezTo>
                  <a:close/>
                </a:path>
              </a:pathLst>
            </a:custGeom>
            <a:solidFill>
              <a:srgbClr val="08C8A1"/>
            </a:solidFill>
          </p:spPr>
          <p:txBody>
            <a:bodyPr/>
            <a:lstStyle/>
            <a:p>
              <a:pPr algn="just"/>
              <a:r>
                <a:rPr lang="en-GB" sz="2900" dirty="0"/>
                <a:t>Through our innovative approaches, </a:t>
              </a:r>
              <a:r>
                <a:rPr lang="en-GB" sz="2900" dirty="0" err="1"/>
                <a:t>Uhai</a:t>
              </a:r>
              <a:r>
                <a:rPr lang="en-GB" sz="2900" dirty="0"/>
                <a:t> is </a:t>
              </a:r>
              <a:r>
                <a:rPr lang="en-US" sz="2900" dirty="0"/>
                <a:t>achieving</a:t>
              </a:r>
              <a:r>
                <a:rPr lang="en-KE" sz="2900" dirty="0"/>
                <a:t> </a:t>
              </a:r>
              <a:r>
                <a:rPr lang="en-US" sz="2900" dirty="0"/>
                <a:t>3</a:t>
              </a:r>
              <a:r>
                <a:rPr lang="en-KE" sz="2900" dirty="0"/>
                <a:t> United Nations Sustainable Development Goals (SDGs)</a:t>
              </a:r>
              <a:r>
                <a:rPr lang="en-US" sz="2900" dirty="0"/>
                <a:t>:</a:t>
              </a:r>
            </a:p>
            <a:p>
              <a:pPr algn="just"/>
              <a:r>
                <a:rPr lang="en-KE" sz="2900" b="1" dirty="0"/>
                <a:t>SDG 3</a:t>
              </a:r>
              <a:r>
                <a:rPr lang="en-KE" sz="2900" dirty="0"/>
                <a:t>: Good health and Wellbeing - Ensure healthy lives and promote well-being for all at all ages; </a:t>
              </a:r>
              <a:endParaRPr lang="en-US" sz="2900" dirty="0"/>
            </a:p>
            <a:p>
              <a:pPr algn="just"/>
              <a:r>
                <a:rPr lang="en-KE" sz="2900" b="1" dirty="0"/>
                <a:t>SDG 10</a:t>
              </a:r>
              <a:r>
                <a:rPr lang="en-KE" sz="2900" dirty="0"/>
                <a:t>: Reduced Inequalities within and among countries; </a:t>
              </a:r>
              <a:endParaRPr lang="en-US" sz="2900" dirty="0"/>
            </a:p>
            <a:p>
              <a:pPr algn="just"/>
              <a:r>
                <a:rPr lang="en-KE" sz="2900" b="1" dirty="0"/>
                <a:t>SDG 17: </a:t>
              </a:r>
              <a:r>
                <a:rPr lang="en-KE" sz="2900" dirty="0"/>
                <a:t>Strengthen global Partnership for implementing sustainable development goals. </a:t>
              </a:r>
            </a:p>
            <a:p>
              <a:endParaRPr lang="en-GB" dirty="0"/>
            </a:p>
          </p:txBody>
        </p:sp>
        <p:sp>
          <p:nvSpPr>
            <p:cNvPr id="16" name="TextBox 16"/>
            <p:cNvSpPr txBox="1"/>
            <p:nvPr/>
          </p:nvSpPr>
          <p:spPr>
            <a:xfrm>
              <a:off x="0" y="-171450"/>
              <a:ext cx="2032400" cy="1068321"/>
            </a:xfrm>
            <a:prstGeom prst="rect">
              <a:avLst/>
            </a:prstGeom>
          </p:spPr>
          <p:txBody>
            <a:bodyPr lIns="50800" tIns="50800" rIns="50800" bIns="50800" rtlCol="0" anchor="ctr"/>
            <a:lstStyle/>
            <a:p>
              <a:pPr algn="ctr">
                <a:lnSpc>
                  <a:spcPts val="5220"/>
                </a:lnSpc>
              </a:pPr>
              <a:endParaRPr/>
            </a:p>
          </p:txBody>
        </p:sp>
      </p:grpSp>
      <p:grpSp>
        <p:nvGrpSpPr>
          <p:cNvPr id="17" name="Group 17"/>
          <p:cNvGrpSpPr/>
          <p:nvPr/>
        </p:nvGrpSpPr>
        <p:grpSpPr>
          <a:xfrm>
            <a:off x="1618198" y="7351305"/>
            <a:ext cx="8467011" cy="3482272"/>
            <a:chOff x="0" y="0"/>
            <a:chExt cx="2032400" cy="835876"/>
          </a:xfrm>
        </p:grpSpPr>
        <p:sp>
          <p:nvSpPr>
            <p:cNvPr id="18" name="Freeform 18"/>
            <p:cNvSpPr/>
            <p:nvPr/>
          </p:nvSpPr>
          <p:spPr>
            <a:xfrm>
              <a:off x="0" y="0"/>
              <a:ext cx="2032400" cy="835876"/>
            </a:xfrm>
            <a:custGeom>
              <a:avLst/>
              <a:gdLst/>
              <a:ahLst/>
              <a:cxnLst/>
              <a:rect l="l" t="t" r="r" b="b"/>
              <a:pathLst>
                <a:path w="2032400" h="835876">
                  <a:moveTo>
                    <a:pt x="25602" y="0"/>
                  </a:moveTo>
                  <a:lnTo>
                    <a:pt x="2006798" y="0"/>
                  </a:lnTo>
                  <a:cubicBezTo>
                    <a:pt x="2020938" y="0"/>
                    <a:pt x="2032400" y="11462"/>
                    <a:pt x="2032400" y="25602"/>
                  </a:cubicBezTo>
                  <a:lnTo>
                    <a:pt x="2032400" y="810274"/>
                  </a:lnTo>
                  <a:cubicBezTo>
                    <a:pt x="2032400" y="824414"/>
                    <a:pt x="2020938" y="835876"/>
                    <a:pt x="2006798" y="835876"/>
                  </a:cubicBezTo>
                  <a:lnTo>
                    <a:pt x="25602" y="835876"/>
                  </a:lnTo>
                  <a:cubicBezTo>
                    <a:pt x="11462" y="835876"/>
                    <a:pt x="0" y="824414"/>
                    <a:pt x="0" y="810274"/>
                  </a:cubicBezTo>
                  <a:lnTo>
                    <a:pt x="0" y="25602"/>
                  </a:lnTo>
                  <a:cubicBezTo>
                    <a:pt x="0" y="11462"/>
                    <a:pt x="11462" y="0"/>
                    <a:pt x="25602" y="0"/>
                  </a:cubicBezTo>
                  <a:close/>
                </a:path>
              </a:pathLst>
            </a:custGeom>
            <a:solidFill>
              <a:srgbClr val="08C8A1"/>
            </a:solidFill>
          </p:spPr>
          <p:txBody>
            <a:bodyPr/>
            <a:lstStyle/>
            <a:p>
              <a:r>
                <a:rPr lang="en-GB" sz="2400" dirty="0" err="1"/>
                <a:t>Uhai</a:t>
              </a:r>
              <a:r>
                <a:rPr lang="en-GB" sz="2400" dirty="0"/>
                <a:t> partners with:</a:t>
              </a:r>
            </a:p>
            <a:p>
              <a:pPr marL="996950" lvl="1" indent="-400050" algn="just">
                <a:buFont typeface="+mj-lt"/>
                <a:buAutoNum type="romanUcPeriod"/>
              </a:pPr>
              <a:r>
                <a:rPr lang="en-GB" sz="2400" dirty="0"/>
                <a:t>National and County government</a:t>
              </a:r>
            </a:p>
            <a:p>
              <a:pPr marL="996950" lvl="1" indent="-400050" algn="just">
                <a:buFont typeface="+mj-lt"/>
                <a:buAutoNum type="romanUcPeriod"/>
              </a:pPr>
              <a:r>
                <a:rPr lang="en-GB" sz="2400" dirty="0"/>
                <a:t>Kenya Tissue and Transplant Services</a:t>
              </a:r>
            </a:p>
            <a:p>
              <a:pPr marL="996950" lvl="1" indent="-400050" algn="just">
                <a:buFont typeface="+mj-lt"/>
                <a:buAutoNum type="romanUcPeriod"/>
              </a:pPr>
              <a:r>
                <a:rPr lang="en-GB" sz="2400" dirty="0"/>
                <a:t>Hospitals (public and private) – </a:t>
              </a:r>
              <a:r>
                <a:rPr lang="en-GB" sz="2400" i="1" dirty="0"/>
                <a:t>MTRH, private hospitals</a:t>
              </a:r>
              <a:endParaRPr lang="en-GB" sz="2400" dirty="0"/>
            </a:p>
            <a:p>
              <a:pPr marL="996950" lvl="1" indent="-400050" algn="just">
                <a:buFont typeface="+mj-lt"/>
                <a:buAutoNum type="romanUcPeriod"/>
              </a:pPr>
              <a:r>
                <a:rPr lang="en-GB" sz="2400" dirty="0"/>
                <a:t>Training institutions (colleges and universities) </a:t>
              </a:r>
            </a:p>
            <a:p>
              <a:pPr marL="996950" lvl="1" indent="-400050" algn="just">
                <a:buFont typeface="+mj-lt"/>
                <a:buAutoNum type="romanUcPeriod"/>
              </a:pPr>
              <a:r>
                <a:rPr lang="en-GB" sz="2400" dirty="0"/>
                <a:t>Research Institutions – AMPATH, Innovative </a:t>
              </a:r>
              <a:r>
                <a:rPr lang="en-GB" sz="2400" dirty="0" err="1"/>
                <a:t>Hematology</a:t>
              </a:r>
              <a:endParaRPr lang="en-GB" sz="2400" dirty="0"/>
            </a:p>
            <a:p>
              <a:pPr marL="996950" lvl="1" indent="-400050" algn="just">
                <a:buFont typeface="+mj-lt"/>
                <a:buAutoNum type="romanUcPeriod"/>
              </a:pPr>
              <a:r>
                <a:rPr lang="en-GB" sz="2400" dirty="0"/>
                <a:t>Professional Organisations – Oncology Nurses Chapter</a:t>
              </a:r>
            </a:p>
            <a:p>
              <a:pPr marL="996950" lvl="1" indent="-400050" algn="just">
                <a:buFont typeface="+mj-lt"/>
                <a:buAutoNum type="romanUcPeriod"/>
              </a:pPr>
              <a:r>
                <a:rPr lang="en-GB" sz="2400" dirty="0"/>
                <a:t>Business Community –Bakeries, Beverage and Event companies.</a:t>
              </a:r>
            </a:p>
          </p:txBody>
        </p:sp>
        <p:sp>
          <p:nvSpPr>
            <p:cNvPr id="19" name="TextBox 19"/>
            <p:cNvSpPr txBox="1"/>
            <p:nvPr/>
          </p:nvSpPr>
          <p:spPr>
            <a:xfrm>
              <a:off x="0" y="-171450"/>
              <a:ext cx="2032400" cy="1007326"/>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4977190" y="4983543"/>
            <a:ext cx="11283953" cy="1329564"/>
          </a:xfrm>
          <a:custGeom>
            <a:avLst/>
            <a:gdLst/>
            <a:ahLst/>
            <a:cxnLst/>
            <a:rect l="l" t="t" r="r" b="b"/>
            <a:pathLst>
              <a:path w="11283953" h="1329564">
                <a:moveTo>
                  <a:pt x="0" y="0"/>
                </a:moveTo>
                <a:lnTo>
                  <a:pt x="11283954" y="0"/>
                </a:lnTo>
                <a:lnTo>
                  <a:pt x="11283954" y="1329564"/>
                </a:lnTo>
                <a:lnTo>
                  <a:pt x="0" y="1329564"/>
                </a:lnTo>
                <a:lnTo>
                  <a:pt x="0" y="0"/>
                </a:lnTo>
                <a:close/>
              </a:path>
            </a:pathLst>
          </a:custGeom>
          <a:blipFill>
            <a:blip r:embed="rId6"/>
            <a:stretch>
              <a:fillRect t="-364503" r="-112" b="-385146"/>
            </a:stretch>
          </a:blipFill>
        </p:spPr>
        <p:txBody>
          <a:bodyPr/>
          <a:lstStyle/>
          <a:p>
            <a:endParaRPr lang="en-GB"/>
          </a:p>
        </p:txBody>
      </p:sp>
      <p:sp>
        <p:nvSpPr>
          <p:cNvPr id="7" name="TextBox 7"/>
          <p:cNvSpPr txBox="1"/>
          <p:nvPr/>
        </p:nvSpPr>
        <p:spPr>
          <a:xfrm>
            <a:off x="1619784" y="741363"/>
            <a:ext cx="12860428"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6. Tractio</a:t>
            </a:r>
            <a:r>
              <a:rPr lang="en-US" sz="4000" b="1">
                <a:solidFill>
                  <a:srgbClr val="FFFEFE"/>
                </a:solidFill>
                <a:latin typeface="League Spartan"/>
                <a:ea typeface="League Spartan"/>
                <a:cs typeface="League Spartan"/>
                <a:sym typeface="League Spartan"/>
              </a:rPr>
              <a:t>n / Results So Far</a:t>
            </a:r>
          </a:p>
        </p:txBody>
      </p:sp>
      <p:sp>
        <p:nvSpPr>
          <p:cNvPr id="8" name="TextBox 8"/>
          <p:cNvSpPr txBox="1"/>
          <p:nvPr/>
        </p:nvSpPr>
        <p:spPr>
          <a:xfrm>
            <a:off x="10862375" y="1495428"/>
            <a:ext cx="8467011" cy="12680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2. How many customers, users, or beneficiaries have you reached?</a:t>
            </a:r>
          </a:p>
        </p:txBody>
      </p:sp>
      <p:sp>
        <p:nvSpPr>
          <p:cNvPr id="9" name="TextBox 9"/>
          <p:cNvSpPr txBox="1"/>
          <p:nvPr/>
        </p:nvSpPr>
        <p:spPr>
          <a:xfrm>
            <a:off x="2102768" y="1470028"/>
            <a:ext cx="7501044" cy="607695"/>
          </a:xfrm>
          <a:prstGeom prst="rect">
            <a:avLst/>
          </a:prstGeom>
        </p:spPr>
        <p:txBody>
          <a:bodyPr lIns="0" tIns="0" rIns="0" bIns="0" rtlCol="0" anchor="t">
            <a:spAutoFit/>
          </a:bodyPr>
          <a:lstStyle/>
          <a:p>
            <a:pPr marL="626111" lvl="1" indent="-313055" algn="l">
              <a:lnSpc>
                <a:spcPts val="5220"/>
              </a:lnSpc>
              <a:buAutoNum type="arabicPeriod"/>
            </a:pPr>
            <a:r>
              <a:rPr lang="en-US" sz="2900">
                <a:solidFill>
                  <a:srgbClr val="FFFFFF"/>
                </a:solidFill>
                <a:latin typeface="Open Sans"/>
                <a:ea typeface="Open Sans"/>
                <a:cs typeface="Open Sans"/>
                <a:sym typeface="Open Sans"/>
              </a:rPr>
              <a:t>What have you achieved already?</a:t>
            </a:r>
          </a:p>
        </p:txBody>
      </p:sp>
      <p:sp>
        <p:nvSpPr>
          <p:cNvPr id="10" name="TextBox 10"/>
          <p:cNvSpPr txBox="1"/>
          <p:nvPr/>
        </p:nvSpPr>
        <p:spPr>
          <a:xfrm>
            <a:off x="1915112" y="5743248"/>
            <a:ext cx="7876356"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3. What are key metrics (revenue, user growth, impact outcomes)?</a:t>
            </a:r>
          </a:p>
        </p:txBody>
      </p:sp>
      <p:sp>
        <p:nvSpPr>
          <p:cNvPr id="11" name="TextBox 11"/>
          <p:cNvSpPr txBox="1"/>
          <p:nvPr/>
        </p:nvSpPr>
        <p:spPr>
          <a:xfrm>
            <a:off x="10862375" y="5714346"/>
            <a:ext cx="8467011"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4. What success stories or testimonials can you share?</a:t>
            </a:r>
          </a:p>
        </p:txBody>
      </p:sp>
      <p:grpSp>
        <p:nvGrpSpPr>
          <p:cNvPr id="12" name="Group 12"/>
          <p:cNvGrpSpPr/>
          <p:nvPr/>
        </p:nvGrpSpPr>
        <p:grpSpPr>
          <a:xfrm>
            <a:off x="1428750" y="2077723"/>
            <a:ext cx="8658045" cy="3570602"/>
            <a:chOff x="0" y="0"/>
            <a:chExt cx="2032400" cy="793060"/>
          </a:xfrm>
        </p:grpSpPr>
        <p:sp>
          <p:nvSpPr>
            <p:cNvPr id="13" name="Freeform 13"/>
            <p:cNvSpPr/>
            <p:nvPr/>
          </p:nvSpPr>
          <p:spPr>
            <a:xfrm>
              <a:off x="0" y="0"/>
              <a:ext cx="2032400" cy="793060"/>
            </a:xfrm>
            <a:custGeom>
              <a:avLst/>
              <a:gdLst/>
              <a:ahLst/>
              <a:cxnLst/>
              <a:rect l="l" t="t" r="r" b="b"/>
              <a:pathLst>
                <a:path w="2032400" h="793060">
                  <a:moveTo>
                    <a:pt x="25602" y="0"/>
                  </a:moveTo>
                  <a:lnTo>
                    <a:pt x="2006798" y="0"/>
                  </a:lnTo>
                  <a:cubicBezTo>
                    <a:pt x="2020938" y="0"/>
                    <a:pt x="2032400" y="11462"/>
                    <a:pt x="2032400" y="25602"/>
                  </a:cubicBezTo>
                  <a:lnTo>
                    <a:pt x="2032400" y="767458"/>
                  </a:lnTo>
                  <a:cubicBezTo>
                    <a:pt x="2032400" y="781598"/>
                    <a:pt x="2020938" y="793060"/>
                    <a:pt x="2006798" y="793060"/>
                  </a:cubicBezTo>
                  <a:lnTo>
                    <a:pt x="25602" y="793060"/>
                  </a:lnTo>
                  <a:cubicBezTo>
                    <a:pt x="11462" y="793060"/>
                    <a:pt x="0" y="781598"/>
                    <a:pt x="0" y="767458"/>
                  </a:cubicBezTo>
                  <a:lnTo>
                    <a:pt x="0" y="25602"/>
                  </a:lnTo>
                  <a:cubicBezTo>
                    <a:pt x="0" y="11462"/>
                    <a:pt x="11462" y="0"/>
                    <a:pt x="25602" y="0"/>
                  </a:cubicBezTo>
                  <a:close/>
                </a:path>
              </a:pathLst>
            </a:custGeom>
            <a:solidFill>
              <a:srgbClr val="08C8A1"/>
            </a:solidFill>
          </p:spPr>
          <p:txBody>
            <a:bodyPr/>
            <a:lstStyle/>
            <a:p>
              <a:r>
                <a:rPr lang="en-GB" sz="2800" dirty="0"/>
                <a:t>We have:</a:t>
              </a:r>
            </a:p>
            <a:p>
              <a:pPr marL="571500" indent="-571500">
                <a:buFont typeface="+mj-lt"/>
                <a:buAutoNum type="romanLcPeriod"/>
              </a:pPr>
              <a:r>
                <a:rPr lang="en-GB" sz="2800" dirty="0"/>
                <a:t>Run more than 20 outdoor and 15 in-house blood drives. </a:t>
              </a:r>
            </a:p>
            <a:p>
              <a:pPr marL="571500" indent="-571500">
                <a:buFont typeface="+mj-lt"/>
                <a:buAutoNum type="romanLcPeriod"/>
              </a:pPr>
              <a:r>
                <a:rPr lang="en-GB" sz="2800" dirty="0"/>
                <a:t>Cumulatively raised more than 3,000 pints of blood that </a:t>
              </a:r>
              <a:r>
                <a:rPr lang="en-GB" sz="2800"/>
                <a:t>saved 12,000 </a:t>
              </a:r>
              <a:r>
                <a:rPr lang="en-GB" sz="2800" dirty="0"/>
                <a:t>patients.</a:t>
              </a:r>
            </a:p>
            <a:p>
              <a:pPr marL="571500" indent="-571500">
                <a:buFont typeface="+mj-lt"/>
                <a:buAutoNum type="romanLcPeriod"/>
              </a:pPr>
              <a:r>
                <a:rPr lang="en-GB" sz="2800" dirty="0"/>
                <a:t>Carried out a mix of physical, conventional and social media outreach, awareness and advocacy campaigns. </a:t>
              </a:r>
            </a:p>
          </p:txBody>
        </p:sp>
        <p:sp>
          <p:nvSpPr>
            <p:cNvPr id="14" name="TextBox 14"/>
            <p:cNvSpPr txBox="1"/>
            <p:nvPr/>
          </p:nvSpPr>
          <p:spPr>
            <a:xfrm>
              <a:off x="0" y="-171450"/>
              <a:ext cx="2032400" cy="964510"/>
            </a:xfrm>
            <a:prstGeom prst="rect">
              <a:avLst/>
            </a:prstGeom>
          </p:spPr>
          <p:txBody>
            <a:bodyPr lIns="50800" tIns="50800" rIns="50800" bIns="50800" rtlCol="0" anchor="ctr"/>
            <a:lstStyle/>
            <a:p>
              <a:pPr algn="ctr">
                <a:lnSpc>
                  <a:spcPts val="5220"/>
                </a:lnSpc>
              </a:pPr>
              <a:endParaRPr/>
            </a:p>
          </p:txBody>
        </p:sp>
      </p:grpSp>
      <p:grpSp>
        <p:nvGrpSpPr>
          <p:cNvPr id="15" name="Group 15"/>
          <p:cNvGrpSpPr/>
          <p:nvPr/>
        </p:nvGrpSpPr>
        <p:grpSpPr>
          <a:xfrm>
            <a:off x="10648950" y="6175560"/>
            <a:ext cx="9143999" cy="4658017"/>
            <a:chOff x="0" y="-171450"/>
            <a:chExt cx="2032400" cy="1025752"/>
          </a:xfrm>
        </p:grpSpPr>
        <p:sp>
          <p:nvSpPr>
            <p:cNvPr id="16" name="Freeform 16"/>
            <p:cNvSpPr/>
            <p:nvPr/>
          </p:nvSpPr>
          <p:spPr>
            <a:xfrm>
              <a:off x="30632" y="0"/>
              <a:ext cx="1967896" cy="854302"/>
            </a:xfrm>
            <a:custGeom>
              <a:avLst/>
              <a:gdLst/>
              <a:ahLst/>
              <a:cxnLst/>
              <a:rect l="l" t="t" r="r" b="b"/>
              <a:pathLst>
                <a:path w="2032400" h="854302">
                  <a:moveTo>
                    <a:pt x="25602" y="0"/>
                  </a:moveTo>
                  <a:lnTo>
                    <a:pt x="2006798" y="0"/>
                  </a:lnTo>
                  <a:cubicBezTo>
                    <a:pt x="2020938" y="0"/>
                    <a:pt x="2032400" y="11462"/>
                    <a:pt x="2032400" y="25602"/>
                  </a:cubicBezTo>
                  <a:lnTo>
                    <a:pt x="2032400" y="828700"/>
                  </a:lnTo>
                  <a:cubicBezTo>
                    <a:pt x="2032400" y="842840"/>
                    <a:pt x="2020938" y="854302"/>
                    <a:pt x="2006798" y="854302"/>
                  </a:cubicBezTo>
                  <a:lnTo>
                    <a:pt x="25602" y="854302"/>
                  </a:lnTo>
                  <a:cubicBezTo>
                    <a:pt x="11462" y="854302"/>
                    <a:pt x="0" y="842840"/>
                    <a:pt x="0" y="828700"/>
                  </a:cubicBezTo>
                  <a:lnTo>
                    <a:pt x="0" y="25602"/>
                  </a:lnTo>
                  <a:cubicBezTo>
                    <a:pt x="0" y="11462"/>
                    <a:pt x="11462" y="0"/>
                    <a:pt x="25602" y="0"/>
                  </a:cubicBezTo>
                  <a:close/>
                </a:path>
              </a:pathLst>
            </a:custGeom>
            <a:solidFill>
              <a:srgbClr val="08C8A1"/>
            </a:solidFill>
          </p:spPr>
          <p:txBody>
            <a:bodyPr/>
            <a:lstStyle/>
            <a:p>
              <a:pPr marL="514350" indent="-400050">
                <a:buFont typeface="+mj-lt"/>
                <a:buAutoNum type="romanLcPeriod"/>
              </a:pPr>
              <a:r>
                <a:rPr lang="en-GB" sz="2400" b="1" dirty="0"/>
                <a:t>World Childhood Cancer September 2024 (Citizen TV) </a:t>
              </a:r>
              <a:r>
                <a:rPr lang="da-DK" sz="2000" dirty="0">
                  <a:hlinkClick r:id="rId7"/>
                </a:rPr>
                <a:t>Ugonjwa umeongezeka miongoni mwa watoto Bonde la Ufa (youtube.com)</a:t>
              </a:r>
              <a:r>
                <a:rPr lang="da-DK" sz="2000" dirty="0"/>
                <a:t> </a:t>
              </a:r>
            </a:p>
            <a:p>
              <a:pPr marL="857250" lvl="1" indent="-285750"/>
              <a:r>
                <a:rPr lang="da-DK" sz="2000" dirty="0">
                  <a:hlinkClick r:id="rId8"/>
                </a:rPr>
                <a:t>(2) Wanafunzi wa chuo kikuu cha Moi waisherehekea siku ya 'Valentine's' kwa kuchangisha damu - YouTube</a:t>
              </a:r>
              <a:endParaRPr lang="da-DK" sz="2000" dirty="0"/>
            </a:p>
            <a:p>
              <a:pPr marL="514350" indent="-400050">
                <a:buFont typeface="+mj-lt"/>
                <a:buAutoNum type="romanLcPeriod"/>
              </a:pPr>
              <a:r>
                <a:rPr lang="da-DK" sz="2400" b="1" dirty="0"/>
                <a:t>Partnership with Oncology Nurses Chapter Kenya (K24 TV)</a:t>
              </a:r>
              <a:r>
                <a:rPr lang="da-DK" sz="2400" dirty="0"/>
                <a:t> </a:t>
              </a:r>
              <a:r>
                <a:rPr lang="da-DK" sz="2000" dirty="0">
                  <a:hlinkClick r:id="rId9"/>
                </a:rPr>
                <a:t>K24 TV LIVE| Habari kutoka kaunti mbali mbali kwenye #K24Mashinani (youtube.com)</a:t>
              </a:r>
              <a:endParaRPr lang="da-DK" sz="2000" dirty="0"/>
            </a:p>
            <a:p>
              <a:pPr marL="514350" indent="-400050">
                <a:buFont typeface="+mj-lt"/>
                <a:buAutoNum type="romanLcPeriod"/>
              </a:pPr>
              <a:r>
                <a:rPr lang="da-DK" sz="2400" b="1" dirty="0"/>
                <a:t>Valentine’s Day (14th February) 2025 </a:t>
              </a:r>
              <a:r>
                <a:rPr lang="en-GB" sz="2400" b="1" dirty="0"/>
                <a:t>(Citizen TV) </a:t>
              </a:r>
              <a:r>
                <a:rPr lang="da-DK" sz="2000" dirty="0">
                  <a:hlinkClick r:id="rId8"/>
                </a:rPr>
                <a:t>Wanafunzi wa chuo kikuu cha Moi waisherehekea siku ya 'Valentine's' kwa kuchangisha damu</a:t>
              </a:r>
              <a:endParaRPr lang="da-DK" sz="2400" b="1" dirty="0"/>
            </a:p>
            <a:p>
              <a:pPr marL="514350" indent="-400050">
                <a:buFont typeface="+mj-lt"/>
                <a:buAutoNum type="romanLcPeriod"/>
              </a:pPr>
              <a:r>
                <a:rPr lang="da-DK" sz="2400" b="1" dirty="0"/>
                <a:t>World Sicklecell Day Biketrain 19th June 2025 (Nation TV) </a:t>
              </a:r>
              <a:r>
                <a:rPr lang="da-DK" sz="2000" dirty="0">
                  <a:hlinkClick r:id="rId10"/>
                </a:rPr>
                <a:t>https://youtu.be/ZZ-FM548zYE?si=C0FMM52yiFN9PcTI</a:t>
              </a:r>
              <a:r>
                <a:rPr lang="da-DK" sz="2000" dirty="0"/>
                <a:t> </a:t>
              </a:r>
              <a:endParaRPr lang="da-DK" sz="2400" dirty="0"/>
            </a:p>
            <a:p>
              <a:endParaRPr lang="en-GB" sz="2400" dirty="0"/>
            </a:p>
          </p:txBody>
        </p:sp>
        <p:sp>
          <p:nvSpPr>
            <p:cNvPr id="17" name="TextBox 17"/>
            <p:cNvSpPr txBox="1"/>
            <p:nvPr/>
          </p:nvSpPr>
          <p:spPr>
            <a:xfrm>
              <a:off x="0" y="-171450"/>
              <a:ext cx="2032400" cy="1025752"/>
            </a:xfrm>
            <a:prstGeom prst="rect">
              <a:avLst/>
            </a:prstGeom>
          </p:spPr>
          <p:txBody>
            <a:bodyPr lIns="50800" tIns="50800" rIns="50800" bIns="50800" rtlCol="0" anchor="ctr"/>
            <a:lstStyle/>
            <a:p>
              <a:pPr algn="ctr">
                <a:lnSpc>
                  <a:spcPts val="5220"/>
                </a:lnSpc>
              </a:pPr>
              <a:endParaRPr/>
            </a:p>
          </p:txBody>
        </p:sp>
      </p:grpSp>
      <p:grpSp>
        <p:nvGrpSpPr>
          <p:cNvPr id="18" name="Group 18"/>
          <p:cNvGrpSpPr/>
          <p:nvPr/>
        </p:nvGrpSpPr>
        <p:grpSpPr>
          <a:xfrm>
            <a:off x="1619784" y="6954127"/>
            <a:ext cx="8876766" cy="3836974"/>
            <a:chOff x="0" y="0"/>
            <a:chExt cx="2032400" cy="844106"/>
          </a:xfrm>
        </p:grpSpPr>
        <p:sp>
          <p:nvSpPr>
            <p:cNvPr id="19" name="Freeform 19"/>
            <p:cNvSpPr/>
            <p:nvPr/>
          </p:nvSpPr>
          <p:spPr>
            <a:xfrm>
              <a:off x="0" y="0"/>
              <a:ext cx="2032400" cy="844106"/>
            </a:xfrm>
            <a:custGeom>
              <a:avLst/>
              <a:gdLst/>
              <a:ahLst/>
              <a:cxnLst/>
              <a:rect l="l" t="t" r="r" b="b"/>
              <a:pathLst>
                <a:path w="2032400" h="844106">
                  <a:moveTo>
                    <a:pt x="25602" y="0"/>
                  </a:moveTo>
                  <a:lnTo>
                    <a:pt x="2006798" y="0"/>
                  </a:lnTo>
                  <a:cubicBezTo>
                    <a:pt x="2020938" y="0"/>
                    <a:pt x="2032400" y="11462"/>
                    <a:pt x="2032400" y="25602"/>
                  </a:cubicBezTo>
                  <a:lnTo>
                    <a:pt x="2032400" y="818504"/>
                  </a:lnTo>
                  <a:cubicBezTo>
                    <a:pt x="2032400" y="832644"/>
                    <a:pt x="2020938" y="844106"/>
                    <a:pt x="2006798" y="844106"/>
                  </a:cubicBezTo>
                  <a:lnTo>
                    <a:pt x="25602" y="844106"/>
                  </a:lnTo>
                  <a:cubicBezTo>
                    <a:pt x="11462" y="844106"/>
                    <a:pt x="0" y="832644"/>
                    <a:pt x="0" y="818504"/>
                  </a:cubicBezTo>
                  <a:lnTo>
                    <a:pt x="0" y="25602"/>
                  </a:lnTo>
                  <a:cubicBezTo>
                    <a:pt x="0" y="11462"/>
                    <a:pt x="11462" y="0"/>
                    <a:pt x="25602" y="0"/>
                  </a:cubicBezTo>
                  <a:close/>
                </a:path>
              </a:pathLst>
            </a:custGeom>
            <a:solidFill>
              <a:srgbClr val="08C8A1"/>
            </a:solidFill>
          </p:spPr>
          <p:txBody>
            <a:bodyPr/>
            <a:lstStyle/>
            <a:p>
              <a:pPr marL="342900" indent="-342900" algn="just">
                <a:buFont typeface="Arial" panose="020B0604020202020204" pitchFamily="34" charset="0"/>
                <a:buChar char="•"/>
              </a:pPr>
              <a:r>
                <a:rPr lang="en-GB" sz="2500" dirty="0">
                  <a:latin typeface="+mj-lt"/>
                </a:rPr>
                <a:t>Our success is measured by key indicators:  30% increase in recurring blood donors and a 20% reduction in blood wastage. </a:t>
              </a:r>
            </a:p>
            <a:p>
              <a:pPr marL="342900" indent="-342900" algn="just">
                <a:buFont typeface="Arial" panose="020B0604020202020204" pitchFamily="34" charset="0"/>
                <a:buChar char="•"/>
              </a:pPr>
              <a:r>
                <a:rPr lang="en-GB" sz="2500" dirty="0">
                  <a:latin typeface="+mj-lt"/>
                </a:rPr>
                <a:t>Our platform's predictive algorithms ensure that blood is delivered to the right patients at the right time, based on real-time demand. </a:t>
              </a:r>
              <a:endParaRPr lang="en-KE" sz="2500" dirty="0">
                <a:latin typeface="+mj-lt"/>
              </a:endParaRPr>
            </a:p>
            <a:p>
              <a:pPr algn="just"/>
              <a:r>
                <a:rPr lang="en-GB" sz="2500" dirty="0">
                  <a:latin typeface="+mj-lt"/>
                </a:rPr>
                <a:t>We have:</a:t>
              </a:r>
            </a:p>
            <a:p>
              <a:pPr marL="1028700" marR="1270" lvl="1" indent="-571500" algn="just">
                <a:spcAft>
                  <a:spcPts val="1000"/>
                </a:spcAft>
                <a:buFont typeface="+mj-lt"/>
                <a:buAutoNum type="romanUcPeriod"/>
              </a:pPr>
              <a:r>
                <a:rPr lang="en-GB" sz="2500" dirty="0">
                  <a:latin typeface="+mj-lt"/>
                </a:rPr>
                <a:t> Developed a </a:t>
              </a:r>
              <a:r>
                <a:rPr lang="en-US" sz="2500" dirty="0">
                  <a:solidFill>
                    <a:srgbClr val="000000"/>
                  </a:solidFill>
                  <a:latin typeface="+mj-lt"/>
                  <a:ea typeface="Open Sans" panose="020B0606030504020204" pitchFamily="34" charset="0"/>
                  <a:cs typeface="Open Sans" panose="020B0606030504020204" pitchFamily="34" charset="0"/>
                </a:rPr>
                <a:t>working Predictive Model algorithm.</a:t>
              </a:r>
            </a:p>
            <a:p>
              <a:pPr marL="1028700" marR="1270" lvl="1" indent="-571500" algn="just">
                <a:spcAft>
                  <a:spcPts val="1000"/>
                </a:spcAft>
                <a:buFont typeface="+mj-lt"/>
                <a:buAutoNum type="romanUcPeriod"/>
              </a:pPr>
              <a:r>
                <a:rPr lang="en-US" sz="2500" dirty="0">
                  <a:solidFill>
                    <a:srgbClr val="000000"/>
                  </a:solidFill>
                  <a:latin typeface="+mj-lt"/>
                  <a:ea typeface="Open Sans" panose="020B0606030504020204" pitchFamily="34" charset="0"/>
                  <a:cs typeface="Open Sans" panose="020B0606030504020204" pitchFamily="34" charset="0"/>
                </a:rPr>
                <a:t>Determined the number of target blood drive sites.</a:t>
              </a:r>
            </a:p>
            <a:p>
              <a:pPr marL="1028700" marR="1270" lvl="1" indent="-571500" algn="just">
                <a:spcAft>
                  <a:spcPts val="1000"/>
                </a:spcAft>
                <a:buFont typeface="+mj-lt"/>
                <a:buAutoNum type="romanUcPeriod"/>
              </a:pPr>
              <a:r>
                <a:rPr lang="en-US" sz="2500" dirty="0">
                  <a:solidFill>
                    <a:srgbClr val="000000"/>
                  </a:solidFill>
                  <a:latin typeface="+mj-lt"/>
                  <a:ea typeface="Open Sans" panose="020B0606030504020204" pitchFamily="34" charset="0"/>
                  <a:cs typeface="Open Sans" panose="020B0606030504020204" pitchFamily="34" charset="0"/>
                </a:rPr>
                <a:t>Number of recurrent donors. </a:t>
              </a:r>
            </a:p>
            <a:p>
              <a:pPr algn="just"/>
              <a:endParaRPr lang="en-GB" sz="2500" dirty="0">
                <a:latin typeface="+mj-lt"/>
              </a:endParaRPr>
            </a:p>
          </p:txBody>
        </p:sp>
        <p:sp>
          <p:nvSpPr>
            <p:cNvPr id="20" name="TextBox 20"/>
            <p:cNvSpPr txBox="1"/>
            <p:nvPr/>
          </p:nvSpPr>
          <p:spPr>
            <a:xfrm>
              <a:off x="0" y="-171450"/>
              <a:ext cx="2032400" cy="1015556"/>
            </a:xfrm>
            <a:prstGeom prst="rect">
              <a:avLst/>
            </a:prstGeom>
          </p:spPr>
          <p:txBody>
            <a:bodyPr lIns="50800" tIns="50800" rIns="50800" bIns="50800" rtlCol="0" anchor="ctr"/>
            <a:lstStyle/>
            <a:p>
              <a:pPr algn="ctr">
                <a:lnSpc>
                  <a:spcPts val="5220"/>
                </a:lnSpc>
              </a:pPr>
              <a:endParaRPr/>
            </a:p>
          </p:txBody>
        </p:sp>
      </p:grpSp>
      <p:grpSp>
        <p:nvGrpSpPr>
          <p:cNvPr id="21" name="Group 21"/>
          <p:cNvGrpSpPr/>
          <p:nvPr/>
        </p:nvGrpSpPr>
        <p:grpSpPr>
          <a:xfrm>
            <a:off x="10862375" y="2763523"/>
            <a:ext cx="8930575" cy="2884803"/>
            <a:chOff x="0" y="0"/>
            <a:chExt cx="2032400" cy="635302"/>
          </a:xfrm>
        </p:grpSpPr>
        <p:sp>
          <p:nvSpPr>
            <p:cNvPr id="22" name="Freeform 22"/>
            <p:cNvSpPr/>
            <p:nvPr/>
          </p:nvSpPr>
          <p:spPr>
            <a:xfrm>
              <a:off x="0" y="0"/>
              <a:ext cx="2032400" cy="635302"/>
            </a:xfrm>
            <a:custGeom>
              <a:avLst/>
              <a:gdLst/>
              <a:ahLst/>
              <a:cxnLst/>
              <a:rect l="l" t="t" r="r" b="b"/>
              <a:pathLst>
                <a:path w="2032400" h="635302">
                  <a:moveTo>
                    <a:pt x="25602" y="0"/>
                  </a:moveTo>
                  <a:lnTo>
                    <a:pt x="2006798" y="0"/>
                  </a:lnTo>
                  <a:cubicBezTo>
                    <a:pt x="2020938" y="0"/>
                    <a:pt x="2032400" y="11462"/>
                    <a:pt x="2032400" y="25602"/>
                  </a:cubicBezTo>
                  <a:lnTo>
                    <a:pt x="2032400" y="609700"/>
                  </a:lnTo>
                  <a:cubicBezTo>
                    <a:pt x="2032400" y="623839"/>
                    <a:pt x="2020938" y="635302"/>
                    <a:pt x="2006798" y="635302"/>
                  </a:cubicBezTo>
                  <a:lnTo>
                    <a:pt x="25602" y="635302"/>
                  </a:lnTo>
                  <a:cubicBezTo>
                    <a:pt x="11462" y="635302"/>
                    <a:pt x="0" y="623839"/>
                    <a:pt x="0" y="609700"/>
                  </a:cubicBezTo>
                  <a:lnTo>
                    <a:pt x="0" y="25602"/>
                  </a:lnTo>
                  <a:cubicBezTo>
                    <a:pt x="0" y="11462"/>
                    <a:pt x="11462" y="0"/>
                    <a:pt x="25602" y="0"/>
                  </a:cubicBezTo>
                  <a:close/>
                </a:path>
              </a:pathLst>
            </a:custGeom>
            <a:solidFill>
              <a:srgbClr val="08C8A1"/>
            </a:solidFill>
          </p:spPr>
          <p:txBody>
            <a:bodyPr/>
            <a:lstStyle/>
            <a:p>
              <a:pPr marL="400050" indent="-400050">
                <a:lnSpc>
                  <a:spcPct val="150000"/>
                </a:lnSpc>
                <a:buFont typeface="+mj-lt"/>
                <a:buAutoNum type="romanLcPeriod"/>
              </a:pPr>
              <a:r>
                <a:rPr lang="en-GB" sz="2900" dirty="0"/>
                <a:t>We have served oncology patients from Moi Teaching and Referral Hospital (MTRH)</a:t>
              </a:r>
            </a:p>
            <a:p>
              <a:pPr marL="400050" indent="-400050">
                <a:lnSpc>
                  <a:spcPct val="150000"/>
                </a:lnSpc>
                <a:buFont typeface="+mj-lt"/>
                <a:buAutoNum type="romanLcPeriod"/>
              </a:pPr>
              <a:r>
                <a:rPr lang="en-GB" sz="2900" dirty="0"/>
                <a:t>Sickle Cell Disease and Haemophilia from the Academic Model Providing Access to Healthcare.</a:t>
              </a:r>
            </a:p>
            <a:p>
              <a:pPr marL="400050" indent="-400050">
                <a:lnSpc>
                  <a:spcPct val="150000"/>
                </a:lnSpc>
                <a:buFont typeface="+mj-lt"/>
                <a:buAutoNum type="romanLcPeriod"/>
              </a:pPr>
              <a:endParaRPr lang="en-GB" sz="2900" dirty="0"/>
            </a:p>
          </p:txBody>
        </p:sp>
        <p:sp>
          <p:nvSpPr>
            <p:cNvPr id="23" name="TextBox 23"/>
            <p:cNvSpPr txBox="1"/>
            <p:nvPr/>
          </p:nvSpPr>
          <p:spPr>
            <a:xfrm>
              <a:off x="0" y="-171450"/>
              <a:ext cx="2032400" cy="806752"/>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900272" y="759395"/>
            <a:ext cx="10904103"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7. Theory of Change / Vis</a:t>
            </a:r>
            <a:r>
              <a:rPr lang="en-US" sz="4000" b="1">
                <a:solidFill>
                  <a:srgbClr val="FFFEFE"/>
                </a:solidFill>
                <a:latin typeface="League Spartan"/>
                <a:ea typeface="League Spartan"/>
                <a:cs typeface="League Spartan"/>
                <a:sym typeface="League Spartan"/>
              </a:rPr>
              <a:t>ion for Impact</a:t>
            </a:r>
          </a:p>
        </p:txBody>
      </p:sp>
      <p:sp>
        <p:nvSpPr>
          <p:cNvPr id="8" name="TextBox 8"/>
          <p:cNvSpPr txBox="1"/>
          <p:nvPr/>
        </p:nvSpPr>
        <p:spPr>
          <a:xfrm>
            <a:off x="1900272" y="1617533"/>
            <a:ext cx="17059241" cy="12680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 change will you create long-term, and how? What is your long-term goal or vision? What outcomes or transformations do you aim for? How will you measure success over time?</a:t>
            </a:r>
          </a:p>
        </p:txBody>
      </p:sp>
      <p:grpSp>
        <p:nvGrpSpPr>
          <p:cNvPr id="9" name="Group 9"/>
          <p:cNvGrpSpPr/>
          <p:nvPr/>
        </p:nvGrpSpPr>
        <p:grpSpPr>
          <a:xfrm>
            <a:off x="1900272" y="3228528"/>
            <a:ext cx="17059241" cy="7268799"/>
            <a:chOff x="0" y="0"/>
            <a:chExt cx="4094858" cy="1744784"/>
          </a:xfrm>
        </p:grpSpPr>
        <p:sp>
          <p:nvSpPr>
            <p:cNvPr id="10" name="Freeform 10"/>
            <p:cNvSpPr/>
            <p:nvPr/>
          </p:nvSpPr>
          <p:spPr>
            <a:xfrm>
              <a:off x="0" y="0"/>
              <a:ext cx="4094858" cy="1744784"/>
            </a:xfrm>
            <a:custGeom>
              <a:avLst/>
              <a:gdLst/>
              <a:ahLst/>
              <a:cxnLst/>
              <a:rect l="l" t="t" r="r" b="b"/>
              <a:pathLst>
                <a:path w="4094858" h="1744784">
                  <a:moveTo>
                    <a:pt x="12707" y="0"/>
                  </a:moveTo>
                  <a:lnTo>
                    <a:pt x="4082151" y="0"/>
                  </a:lnTo>
                  <a:cubicBezTo>
                    <a:pt x="4085521" y="0"/>
                    <a:pt x="4088753" y="1339"/>
                    <a:pt x="4091136" y="3722"/>
                  </a:cubicBezTo>
                  <a:cubicBezTo>
                    <a:pt x="4093519" y="6105"/>
                    <a:pt x="4094858" y="9337"/>
                    <a:pt x="4094858" y="12707"/>
                  </a:cubicBezTo>
                  <a:lnTo>
                    <a:pt x="4094858" y="1732077"/>
                  </a:lnTo>
                  <a:cubicBezTo>
                    <a:pt x="4094858" y="1739095"/>
                    <a:pt x="4089169" y="1744784"/>
                    <a:pt x="4082151" y="1744784"/>
                  </a:cubicBezTo>
                  <a:lnTo>
                    <a:pt x="12707" y="1744784"/>
                  </a:lnTo>
                  <a:cubicBezTo>
                    <a:pt x="5689" y="1744784"/>
                    <a:pt x="0" y="1739095"/>
                    <a:pt x="0" y="1732077"/>
                  </a:cubicBezTo>
                  <a:lnTo>
                    <a:pt x="0" y="12707"/>
                  </a:lnTo>
                  <a:cubicBezTo>
                    <a:pt x="0" y="5689"/>
                    <a:pt x="5689" y="0"/>
                    <a:pt x="12707" y="0"/>
                  </a:cubicBezTo>
                  <a:close/>
                </a:path>
              </a:pathLst>
            </a:custGeom>
            <a:solidFill>
              <a:srgbClr val="08C8A1"/>
            </a:solidFill>
          </p:spPr>
          <p:txBody>
            <a:bodyPr/>
            <a:lstStyle/>
            <a:p>
              <a:endParaRPr lang="en-GB"/>
            </a:p>
          </p:txBody>
        </p:sp>
        <p:sp>
          <p:nvSpPr>
            <p:cNvPr id="11" name="TextBox 11"/>
            <p:cNvSpPr txBox="1"/>
            <p:nvPr/>
          </p:nvSpPr>
          <p:spPr>
            <a:xfrm>
              <a:off x="0" y="-171450"/>
              <a:ext cx="4094858" cy="1916234"/>
            </a:xfrm>
            <a:prstGeom prst="rect">
              <a:avLst/>
            </a:prstGeom>
          </p:spPr>
          <p:txBody>
            <a:bodyPr lIns="50800" tIns="50800" rIns="50800" bIns="50800" rtlCol="0" anchor="ctr"/>
            <a:lstStyle/>
            <a:p>
              <a:pPr algn="ctr">
                <a:lnSpc>
                  <a:spcPts val="5220"/>
                </a:lnSpc>
              </a:pPr>
              <a:endParaRPr/>
            </a:p>
          </p:txBody>
        </p:sp>
      </p:grpSp>
      <p:grpSp>
        <p:nvGrpSpPr>
          <p:cNvPr id="12" name="Group 11">
            <a:extLst>
              <a:ext uri="{FF2B5EF4-FFF2-40B4-BE49-F238E27FC236}">
                <a16:creationId xmlns:a16="http://schemas.microsoft.com/office/drawing/2014/main" id="{6C30EA61-A164-6A36-F27E-A4BA57DA742F}"/>
              </a:ext>
            </a:extLst>
          </p:cNvPr>
          <p:cNvGrpSpPr/>
          <p:nvPr/>
        </p:nvGrpSpPr>
        <p:grpSpPr>
          <a:xfrm>
            <a:off x="1517984" y="2885628"/>
            <a:ext cx="17441529" cy="7594533"/>
            <a:chOff x="851410" y="2463173"/>
            <a:chExt cx="10489180" cy="3576092"/>
          </a:xfrm>
        </p:grpSpPr>
        <p:sp>
          <p:nvSpPr>
            <p:cNvPr id="13" name="Freeform: Shape 2">
              <a:extLst>
                <a:ext uri="{FF2B5EF4-FFF2-40B4-BE49-F238E27FC236}">
                  <a16:creationId xmlns:a16="http://schemas.microsoft.com/office/drawing/2014/main" id="{96327D9D-0891-2963-9346-682AFCB28953}"/>
                </a:ext>
              </a:extLst>
            </p:cNvPr>
            <p:cNvSpPr/>
            <p:nvPr/>
          </p:nvSpPr>
          <p:spPr>
            <a:xfrm>
              <a:off x="851410" y="2463173"/>
              <a:ext cx="1874245"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ea typeface="+mn-ea"/>
                  <a:cs typeface="Aharoni" panose="02010803020104030203" pitchFamily="2" charset="-79"/>
                </a:rPr>
                <a:t>Inputs</a:t>
              </a:r>
            </a:p>
          </p:txBody>
        </p:sp>
        <p:sp>
          <p:nvSpPr>
            <p:cNvPr id="14" name="Freeform: Shape 4">
              <a:extLst>
                <a:ext uri="{FF2B5EF4-FFF2-40B4-BE49-F238E27FC236}">
                  <a16:creationId xmlns:a16="http://schemas.microsoft.com/office/drawing/2014/main" id="{01A88558-6671-A101-D087-80D3F186507B}"/>
                </a:ext>
              </a:extLst>
            </p:cNvPr>
            <p:cNvSpPr/>
            <p:nvPr/>
          </p:nvSpPr>
          <p:spPr>
            <a:xfrm>
              <a:off x="851410" y="2967868"/>
              <a:ext cx="1887317"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People</a:t>
              </a:r>
            </a:p>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Funding</a:t>
              </a:r>
            </a:p>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Technologies</a:t>
              </a:r>
            </a:p>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Partnerships and Stakeholders.</a:t>
              </a:r>
            </a:p>
            <a:p>
              <a:pPr marL="57150" lvl="1" indent="-57150" algn="l" defTabSz="488950">
                <a:lnSpc>
                  <a:spcPct val="90000"/>
                </a:lnSpc>
                <a:spcBef>
                  <a:spcPct val="0"/>
                </a:spcBef>
                <a:spcAft>
                  <a:spcPct val="15000"/>
                </a:spcAft>
                <a:buChar char="•"/>
              </a:pPr>
              <a:endParaRPr lang="en-US" sz="3900" kern="1200" dirty="0"/>
            </a:p>
          </p:txBody>
        </p:sp>
        <p:sp>
          <p:nvSpPr>
            <p:cNvPr id="15" name="Freeform: Shape 7">
              <a:extLst>
                <a:ext uri="{FF2B5EF4-FFF2-40B4-BE49-F238E27FC236}">
                  <a16:creationId xmlns:a16="http://schemas.microsoft.com/office/drawing/2014/main" id="{7CF4DE48-8AF1-3F53-B746-63E90C527C5E}"/>
                </a:ext>
              </a:extLst>
            </p:cNvPr>
            <p:cNvSpPr/>
            <p:nvPr/>
          </p:nvSpPr>
          <p:spPr>
            <a:xfrm>
              <a:off x="2712583" y="2463173"/>
              <a:ext cx="2523037"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ea typeface="+mn-ea"/>
                  <a:cs typeface="Aharoni" panose="02010803020104030203" pitchFamily="2" charset="-79"/>
                </a:rPr>
                <a:t>Activities</a:t>
              </a:r>
            </a:p>
          </p:txBody>
        </p:sp>
        <p:sp>
          <p:nvSpPr>
            <p:cNvPr id="16" name="Freeform: Shape 9">
              <a:extLst>
                <a:ext uri="{FF2B5EF4-FFF2-40B4-BE49-F238E27FC236}">
                  <a16:creationId xmlns:a16="http://schemas.microsoft.com/office/drawing/2014/main" id="{3DBA471E-31DE-291C-BBD4-88658BCDF007}"/>
                </a:ext>
              </a:extLst>
            </p:cNvPr>
            <p:cNvSpPr/>
            <p:nvPr/>
          </p:nvSpPr>
          <p:spPr>
            <a:xfrm>
              <a:off x="2725655" y="2967868"/>
              <a:ext cx="2470748"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lnSpcReduction="10000"/>
            </a:bodyPr>
            <a:lstStyle/>
            <a:p>
              <a:pPr>
                <a:lnSpc>
                  <a:spcPct val="150000"/>
                </a:lnSpc>
              </a:pPr>
              <a:r>
                <a:rPr lang="en-GB" sz="1761" b="1" dirty="0">
                  <a:latin typeface="Open Sans" panose="020B0606030504020204" pitchFamily="34" charset="0"/>
                  <a:ea typeface="Open Sans" panose="020B0606030504020204" pitchFamily="34" charset="0"/>
                  <a:cs typeface="Open Sans" panose="020B0606030504020204" pitchFamily="34" charset="0"/>
                </a:rPr>
                <a:t>ACCESS:</a:t>
              </a:r>
            </a:p>
            <a:p>
              <a:pPr marL="520522" marR="771" lvl="1" indent="-242910" algn="just">
                <a:lnSpc>
                  <a:spcPct val="150000"/>
                </a:lnSpc>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Predictive modeling for blood volumes donated. </a:t>
              </a:r>
              <a:endParaRPr lang="en-KE"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a:lnSpc>
                  <a:spcPct val="150000"/>
                </a:lnSpc>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Sending targeted messages to previous blood donors on upcoming blood drives. </a:t>
              </a:r>
            </a:p>
            <a:p>
              <a:pPr marL="520522" marR="771" lvl="1" indent="-242910" algn="just">
                <a:lnSpc>
                  <a:spcPct val="150000"/>
                </a:lnSpc>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Creating a behavioral reward system using digital medals.</a:t>
              </a:r>
            </a:p>
            <a:p>
              <a:pPr marL="520522" marR="771" lvl="1" indent="-242910" algn="just">
                <a:lnSpc>
                  <a:spcPct val="150000"/>
                </a:lnSpc>
                <a:buFont typeface="+mj-lt"/>
                <a:buAutoNum type="romanLcPeriod"/>
              </a:pPr>
              <a:endPar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indent="-179588" algn="just">
                <a:lnSpc>
                  <a:spcPct val="150000"/>
                </a:lnSpc>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a:t>
              </a:r>
            </a:p>
            <a:p>
              <a:pPr marL="57150" lvl="1" indent="-57150" defTabSz="488950">
                <a:lnSpc>
                  <a:spcPct val="150000"/>
                </a:lnSpc>
                <a:spcBef>
                  <a:spcPct val="0"/>
                </a:spcBef>
                <a:spcAft>
                  <a:spcPct val="15000"/>
                </a:spcAft>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 Linking the </a:t>
              </a:r>
              <a:r>
                <a:rPr lang="en-US" sz="1600" i="1"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Uhai</a:t>
              </a: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 portal to a temperature monitoring system to assess temperature fluctuation during long-term storage and transportation. </a:t>
              </a:r>
              <a:endParaRPr lang="en-US" sz="1600" kern="1200" dirty="0"/>
            </a:p>
            <a:p>
              <a:pPr marL="0" lvl="1" algn="l" defTabSz="488950">
                <a:lnSpc>
                  <a:spcPct val="150000"/>
                </a:lnSpc>
                <a:spcBef>
                  <a:spcPct val="0"/>
                </a:spcBef>
                <a:spcAft>
                  <a:spcPct val="15000"/>
                </a:spcAft>
              </a:pPr>
              <a:r>
                <a:rPr lang="en-US" sz="1600" b="1" dirty="0"/>
                <a:t>DISTRIBUTION</a:t>
              </a:r>
              <a:endParaRPr lang="en-US" sz="1600" b="1" kern="1200" dirty="0"/>
            </a:p>
            <a:p>
              <a:pPr marL="57150" lvl="1" indent="-57150" defTabSz="488950">
                <a:lnSpc>
                  <a:spcPct val="150000"/>
                </a:lnSpc>
                <a:spcBef>
                  <a:spcPct val="0"/>
                </a:spcBef>
                <a:spcAft>
                  <a:spcPct val="15000"/>
                </a:spcAft>
                <a:buFont typeface="+mj-lt"/>
                <a:buAutoNum type="romanLcPeriod"/>
              </a:pPr>
              <a:r>
                <a:rPr lang="en-US" sz="1600" kern="1200" dirty="0"/>
                <a:t>Create </a:t>
              </a: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a consolidated database of available quantities of blood.</a:t>
              </a:r>
              <a:endParaRPr lang="en-KE" sz="16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7150" lvl="1" indent="-57150" algn="l" defTabSz="488950">
                <a:lnSpc>
                  <a:spcPct val="90000"/>
                </a:lnSpc>
                <a:spcBef>
                  <a:spcPct val="0"/>
                </a:spcBef>
                <a:spcAft>
                  <a:spcPct val="15000"/>
                </a:spcAft>
                <a:buFont typeface="+mj-lt"/>
                <a:buAutoNum type="romanLcPeriod"/>
              </a:pPr>
              <a:endParaRPr lang="en-US" sz="1600" kern="1200" dirty="0"/>
            </a:p>
          </p:txBody>
        </p:sp>
        <p:sp>
          <p:nvSpPr>
            <p:cNvPr id="17" name="Freeform: Shape 10">
              <a:extLst>
                <a:ext uri="{FF2B5EF4-FFF2-40B4-BE49-F238E27FC236}">
                  <a16:creationId xmlns:a16="http://schemas.microsoft.com/office/drawing/2014/main" id="{4B1C16D9-3E54-074E-FF1A-298D1A76B05E}"/>
                </a:ext>
              </a:extLst>
            </p:cNvPr>
            <p:cNvSpPr/>
            <p:nvPr/>
          </p:nvSpPr>
          <p:spPr>
            <a:xfrm>
              <a:off x="5222549" y="2463173"/>
              <a:ext cx="2548589"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cs typeface="Aharoni" panose="02010803020104030203" pitchFamily="2" charset="-79"/>
                </a:rPr>
                <a:t>Outputs</a:t>
              </a:r>
            </a:p>
          </p:txBody>
        </p:sp>
        <p:sp>
          <p:nvSpPr>
            <p:cNvPr id="18" name="Freeform: Shape 11">
              <a:extLst>
                <a:ext uri="{FF2B5EF4-FFF2-40B4-BE49-F238E27FC236}">
                  <a16:creationId xmlns:a16="http://schemas.microsoft.com/office/drawing/2014/main" id="{88D11EB7-BA19-D489-3835-3BBB75CBA4B5}"/>
                </a:ext>
              </a:extLst>
            </p:cNvPr>
            <p:cNvSpPr/>
            <p:nvPr/>
          </p:nvSpPr>
          <p:spPr>
            <a:xfrm>
              <a:off x="5196403" y="2967868"/>
              <a:ext cx="2574735"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marR="771" algn="just" defTabSz="555224">
                <a:lnSpc>
                  <a:spcPct val="150000"/>
                </a:lnSpc>
                <a:spcAft>
                  <a:spcPts val="607"/>
                </a:spcAft>
                <a:tabLst>
                  <a:tab pos="152687" algn="l"/>
                </a:tabLst>
              </a:pPr>
              <a:r>
                <a:rPr lang="en-GB" sz="1761" b="1" dirty="0">
                  <a:solidFill>
                    <a:prstClr val="black"/>
                  </a:solidFill>
                  <a:latin typeface="Open Sans" panose="020B0606030504020204" pitchFamily="34" charset="0"/>
                  <a:ea typeface="Open Sans" panose="020B0606030504020204" pitchFamily="34" charset="0"/>
                  <a:cs typeface="Open Sans" panose="020B0606030504020204" pitchFamily="34" charset="0"/>
                </a:rPr>
                <a:t>ACCESS:</a:t>
              </a:r>
            </a:p>
            <a:p>
              <a:pPr marL="520522" marR="771" lvl="1" indent="-242910" algn="just" defTabSz="555224">
                <a:lnSpc>
                  <a:spcPct val="150000"/>
                </a:lnSpc>
                <a:spcAft>
                  <a:spcPts val="607"/>
                </a:spcAft>
                <a:buFont typeface="+mj-lt"/>
                <a:buAutoNum type="romanUcPeriod"/>
                <a:tabLst>
                  <a:tab pos="152687"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Predictive model for blood donation drives.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defTabSz="555224">
                <a:lnSpc>
                  <a:spcPct val="150000"/>
                </a:lnSpc>
                <a:spcAft>
                  <a:spcPts val="607"/>
                </a:spcAft>
                <a:buFont typeface="+mj-lt"/>
                <a:buAutoNum type="romanUcPeriod"/>
                <a:tabLst>
                  <a:tab pos="121841"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Targeted messages sent and feedback.</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defTabSz="555224">
                <a:lnSpc>
                  <a:spcPct val="150000"/>
                </a:lnSpc>
                <a:spcAft>
                  <a:spcPts val="607"/>
                </a:spcAft>
                <a:buFont typeface="+mj-lt"/>
                <a:buAutoNum type="romanUcPeriod"/>
                <a:tabLst>
                  <a:tab pos="121841"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Recurrent blood donors.</a:t>
              </a:r>
            </a:p>
            <a:p>
              <a:pPr marR="771" algn="just" defTabSz="555224">
                <a:lnSpc>
                  <a:spcPct val="15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a:t>
              </a:r>
            </a:p>
            <a:p>
              <a:pPr marL="520522" marR="771" lvl="1" indent="-242910" algn="just" defTabSz="555224">
                <a:lnSpc>
                  <a:spcPct val="150000"/>
                </a:lnSpc>
                <a:spcAft>
                  <a:spcPts val="607"/>
                </a:spcAft>
                <a:buFont typeface="+mj-lt"/>
                <a:buAutoNum type="romanUcPeriod"/>
                <a:tabLst>
                  <a:tab pos="121841"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temperature fluctuation of blood refrigerators.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algn="just" defTabSz="555224">
                <a:lnSpc>
                  <a:spcPct val="15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DISTRIBUTION: </a:t>
              </a: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Standard inventory of blood products.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defTabSz="555224">
                <a:lnSpc>
                  <a:spcPct val="200000"/>
                </a:lnSpc>
                <a:spcAft>
                  <a:spcPts val="607"/>
                </a:spcAft>
                <a:buFont typeface="+mj-lt"/>
                <a:buAutoNum type="romanUcPeriod"/>
                <a:tabLst>
                  <a:tab pos="121841" algn="l"/>
                </a:tabLst>
              </a:pPr>
              <a:endParaRPr lang="en-US" sz="1761" dirty="0">
                <a:solidFill>
                  <a:srgbClr val="000000"/>
                </a:solidFill>
                <a:highlight>
                  <a:srgbClr val="FFFF00"/>
                </a:highlight>
                <a:latin typeface="Open Sans" panose="020B0606030504020204" pitchFamily="34" charset="0"/>
                <a:ea typeface="Open Sans" panose="020B0606030504020204" pitchFamily="34" charset="0"/>
                <a:cs typeface="Open Sans" panose="020B0606030504020204" pitchFamily="34" charset="0"/>
              </a:endParaRPr>
            </a:p>
            <a:p>
              <a:pPr marL="57150" lvl="1" indent="-57150" algn="l" defTabSz="488950">
                <a:lnSpc>
                  <a:spcPct val="90000"/>
                </a:lnSpc>
                <a:spcBef>
                  <a:spcPct val="0"/>
                </a:spcBef>
                <a:spcAft>
                  <a:spcPct val="15000"/>
                </a:spcAft>
                <a:buChar char="•"/>
              </a:pPr>
              <a:endParaRPr lang="en-US" sz="900" kern="1200" dirty="0">
                <a:highlight>
                  <a:srgbClr val="FFFF00"/>
                </a:highlight>
              </a:endParaRPr>
            </a:p>
          </p:txBody>
        </p:sp>
        <p:sp>
          <p:nvSpPr>
            <p:cNvPr id="19" name="Freeform: Shape 12">
              <a:extLst>
                <a:ext uri="{FF2B5EF4-FFF2-40B4-BE49-F238E27FC236}">
                  <a16:creationId xmlns:a16="http://schemas.microsoft.com/office/drawing/2014/main" id="{9D1E63C3-A747-880C-1A5C-E1E40EC09085}"/>
                </a:ext>
              </a:extLst>
            </p:cNvPr>
            <p:cNvSpPr/>
            <p:nvPr/>
          </p:nvSpPr>
          <p:spPr>
            <a:xfrm>
              <a:off x="7786652" y="2463173"/>
              <a:ext cx="1817975"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cs typeface="Aharoni" panose="02010803020104030203" pitchFamily="2" charset="-79"/>
                </a:rPr>
                <a:t>Outcome</a:t>
              </a:r>
            </a:p>
          </p:txBody>
        </p:sp>
        <p:sp>
          <p:nvSpPr>
            <p:cNvPr id="20" name="Freeform: Shape 13">
              <a:extLst>
                <a:ext uri="{FF2B5EF4-FFF2-40B4-BE49-F238E27FC236}">
                  <a16:creationId xmlns:a16="http://schemas.microsoft.com/office/drawing/2014/main" id="{29B3E4A3-6D93-CB02-F4F0-1EB798AC3377}"/>
                </a:ext>
              </a:extLst>
            </p:cNvPr>
            <p:cNvSpPr/>
            <p:nvPr/>
          </p:nvSpPr>
          <p:spPr>
            <a:xfrm>
              <a:off x="7791000" y="2967868"/>
              <a:ext cx="1833209"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6">
                <a:tint val="40000"/>
                <a:alpha val="90000"/>
                <a:hueOff val="0"/>
                <a:satOff val="0"/>
                <a:lumOff val="0"/>
                <a:alphaOff val="0"/>
              </a:schemeClr>
            </a:lnRef>
            <a:fillRef idx="1">
              <a:schemeClr val="accent6">
                <a:tint val="40000"/>
                <a:alpha val="90000"/>
                <a:hueOff val="0"/>
                <a:satOff val="0"/>
                <a:lumOff val="0"/>
                <a:alphaOff val="0"/>
              </a:schemeClr>
            </a:fillRef>
            <a:effectRef idx="0">
              <a:schemeClr val="accent6">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lnSpcReduction="10000"/>
            </a:bodyPr>
            <a:lstStyle/>
            <a:p>
              <a:pPr marR="771" algn="just" defTabSz="555224">
                <a:lnSpc>
                  <a:spcPct val="120000"/>
                </a:lnSpc>
                <a:spcAft>
                  <a:spcPts val="607"/>
                </a:spcAft>
                <a:tabLst>
                  <a:tab pos="152687" algn="l"/>
                </a:tabLst>
              </a:pPr>
              <a:r>
                <a:rPr lang="en-GB" sz="1761" b="1" dirty="0">
                  <a:solidFill>
                    <a:prstClr val="black"/>
                  </a:solidFill>
                  <a:latin typeface="Open Sans" panose="020B0606030504020204" pitchFamily="34" charset="0"/>
                  <a:ea typeface="Open Sans" panose="020B0606030504020204" pitchFamily="34" charset="0"/>
                  <a:cs typeface="Open Sans" panose="020B0606030504020204" pitchFamily="34" charset="0"/>
                </a:rPr>
                <a:t>ACCESS:</a:t>
              </a:r>
            </a:p>
            <a:p>
              <a:pPr marL="624627" marR="771" lvl="1" indent="-347015" algn="just" defTabSz="555224">
                <a:lnSpc>
                  <a:spcPct val="120000"/>
                </a:lnSpc>
                <a:spcAft>
                  <a:spcPts val="607"/>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Adequate donations during blood drives.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624627" marR="771" lvl="1" indent="-347015" algn="just" defTabSz="555224">
                <a:lnSpc>
                  <a:spcPct val="120000"/>
                </a:lnSpc>
                <a:spcAft>
                  <a:spcPts val="607"/>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A recurrent pool of donors built. </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624627" marR="771" lvl="1" indent="-347015" algn="just" defTabSz="555224">
                <a:lnSpc>
                  <a:spcPct val="120000"/>
                </a:lnSpc>
                <a:spcAft>
                  <a:spcPts val="607"/>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Sustainable and adequate quantities of blood.</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algn="just" defTabSz="555224">
                <a:lnSpc>
                  <a:spcPct val="12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 </a:t>
              </a: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Stability of blood and blood products.</a:t>
              </a:r>
              <a:endPar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algn="just" defTabSz="555224">
                <a:lnSpc>
                  <a:spcPct val="12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DISTRIBUTION:</a:t>
              </a:r>
            </a:p>
            <a:p>
              <a:pPr marL="347015" marR="771" indent="-347015" algn="just" defTabSz="555224">
                <a:lnSpc>
                  <a:spcPct val="120000"/>
                </a:lnSpc>
                <a:spcAft>
                  <a:spcPts val="30"/>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Knowledge of available quantities for better planning.</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347015" marR="771" indent="-347015" algn="just" defTabSz="555224">
                <a:lnSpc>
                  <a:spcPct val="120000"/>
                </a:lnSpc>
                <a:spcAft>
                  <a:spcPts val="30"/>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human interference and bias in the blood product consumption supply chain</a:t>
              </a:r>
              <a:r>
                <a:rPr lang="en-US" sz="1761" dirty="0">
                  <a:solidFill>
                    <a:srgbClr val="000000"/>
                  </a:solidFill>
                  <a:ea typeface="Times New Roman" panose="02020603050405020304" pitchFamily="18" charset="0"/>
                </a:rPr>
                <a:t>.</a:t>
              </a:r>
              <a:endParaRPr lang="en-KE" sz="1761" dirty="0">
                <a:solidFill>
                  <a:srgbClr val="000000"/>
                </a:solidFill>
                <a:ea typeface="Times New Roman" panose="02020603050405020304" pitchFamily="18" charset="0"/>
              </a:endParaRPr>
            </a:p>
          </p:txBody>
        </p:sp>
        <p:sp>
          <p:nvSpPr>
            <p:cNvPr id="21" name="Freeform: Shape 14">
              <a:extLst>
                <a:ext uri="{FF2B5EF4-FFF2-40B4-BE49-F238E27FC236}">
                  <a16:creationId xmlns:a16="http://schemas.microsoft.com/office/drawing/2014/main" id="{4F246CDC-5D25-E6DA-5693-FBD8C20EE6C1}"/>
                </a:ext>
              </a:extLst>
            </p:cNvPr>
            <p:cNvSpPr/>
            <p:nvPr/>
          </p:nvSpPr>
          <p:spPr>
            <a:xfrm>
              <a:off x="9618298" y="2463173"/>
              <a:ext cx="1722292"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solidFill>
                    <a:schemeClr val="tx1"/>
                  </a:solidFill>
                  <a:latin typeface="Aharoni" panose="02010803020104030203" pitchFamily="2" charset="-79"/>
                  <a:cs typeface="Aharoni" panose="02010803020104030203" pitchFamily="2" charset="-79"/>
                </a:rPr>
                <a:t>Impact</a:t>
              </a:r>
            </a:p>
          </p:txBody>
        </p:sp>
        <p:sp>
          <p:nvSpPr>
            <p:cNvPr id="22" name="Freeform: Shape 15">
              <a:extLst>
                <a:ext uri="{FF2B5EF4-FFF2-40B4-BE49-F238E27FC236}">
                  <a16:creationId xmlns:a16="http://schemas.microsoft.com/office/drawing/2014/main" id="{59FE37B1-0AA8-7674-CBB7-386EBEF192BB}"/>
                </a:ext>
              </a:extLst>
            </p:cNvPr>
            <p:cNvSpPr/>
            <p:nvPr/>
          </p:nvSpPr>
          <p:spPr>
            <a:xfrm>
              <a:off x="9645635" y="2967868"/>
              <a:ext cx="1694954"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marL="57150" lvl="1" indent="-57150" algn="l" defTabSz="488950">
                <a:lnSpc>
                  <a:spcPct val="150000"/>
                </a:lnSpc>
                <a:spcBef>
                  <a:spcPct val="0"/>
                </a:spcBef>
                <a:spcAft>
                  <a:spcPct val="15000"/>
                </a:spcAft>
                <a:buFont typeface="+mj-lt"/>
                <a:buAutoNum type="romanLcPeriod"/>
              </a:pPr>
              <a:r>
                <a:rPr lang="en-US" sz="1760" kern="1200" dirty="0">
                  <a:latin typeface="Open Sans" panose="020B0606030504020204" pitchFamily="34" charset="0"/>
                  <a:ea typeface="Open Sans" panose="020B0606030504020204" pitchFamily="34" charset="0"/>
                  <a:cs typeface="Open Sans" panose="020B0606030504020204" pitchFamily="34" charset="0"/>
                </a:rPr>
                <a:t>Reduction in blood shortages.</a:t>
              </a:r>
            </a:p>
            <a:p>
              <a:pPr marL="57150" lvl="1" indent="-57150" algn="l" defTabSz="488950">
                <a:lnSpc>
                  <a:spcPct val="150000"/>
                </a:lnSpc>
                <a:spcBef>
                  <a:spcPct val="0"/>
                </a:spcBef>
                <a:spcAft>
                  <a:spcPct val="15000"/>
                </a:spcAft>
                <a:buFont typeface="+mj-lt"/>
                <a:buAutoNum type="romanLcPeriod"/>
              </a:pPr>
              <a:r>
                <a:rPr lang="en-US" sz="1760" dirty="0">
                  <a:latin typeface="Open Sans" panose="020B0606030504020204" pitchFamily="34" charset="0"/>
                  <a:ea typeface="Open Sans" panose="020B0606030504020204" pitchFamily="34" charset="0"/>
                  <a:cs typeface="Open Sans" panose="020B0606030504020204" pitchFamily="34" charset="0"/>
                </a:rPr>
                <a:t>Sufficient number of safe blood units for transfusion.</a:t>
              </a:r>
              <a:endParaRPr lang="en-US" sz="1760" kern="1200" dirty="0">
                <a:latin typeface="Open Sans" panose="020B0606030504020204" pitchFamily="34" charset="0"/>
                <a:ea typeface="Open Sans" panose="020B0606030504020204" pitchFamily="34" charset="0"/>
                <a:cs typeface="Open Sans" panose="020B0606030504020204" pitchFamily="34" charset="0"/>
              </a:endParaRPr>
            </a:p>
            <a:p>
              <a:pPr marL="57150" lvl="1" indent="-57150" algn="l" defTabSz="488950">
                <a:lnSpc>
                  <a:spcPct val="150000"/>
                </a:lnSpc>
                <a:spcBef>
                  <a:spcPct val="0"/>
                </a:spcBef>
                <a:spcAft>
                  <a:spcPct val="15000"/>
                </a:spcAft>
                <a:buFont typeface="+mj-lt"/>
                <a:buAutoNum type="romanLcPeriod"/>
              </a:pPr>
              <a:r>
                <a:rPr lang="en-US" sz="1760" dirty="0">
                  <a:latin typeface="Open Sans" panose="020B0606030504020204" pitchFamily="34" charset="0"/>
                  <a:ea typeface="Open Sans" panose="020B0606030504020204" pitchFamily="34" charset="0"/>
                  <a:cs typeface="Open Sans" panose="020B0606030504020204" pitchFamily="34" charset="0"/>
                </a:rPr>
                <a:t>Increased number of lives saved.</a:t>
              </a:r>
            </a:p>
            <a:p>
              <a:pPr marL="57150" lvl="1" indent="-57150" algn="l" defTabSz="488950">
                <a:lnSpc>
                  <a:spcPct val="150000"/>
                </a:lnSpc>
                <a:spcBef>
                  <a:spcPct val="0"/>
                </a:spcBef>
                <a:spcAft>
                  <a:spcPct val="15000"/>
                </a:spcAft>
                <a:buFont typeface="+mj-lt"/>
                <a:buAutoNum type="romanLcPeriod"/>
              </a:pPr>
              <a:r>
                <a:rPr lang="en-US" sz="1760" kern="1200" dirty="0">
                  <a:latin typeface="Open Sans" panose="020B0606030504020204" pitchFamily="34" charset="0"/>
                  <a:ea typeface="Open Sans" panose="020B0606030504020204" pitchFamily="34" charset="0"/>
                  <a:cs typeface="Open Sans" panose="020B0606030504020204" pitchFamily="34" charset="0"/>
                </a:rPr>
                <a:t>Reduced Hospital Stay</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439143" y="741363"/>
            <a:ext cx="3091572"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8. T</a:t>
            </a:r>
            <a:r>
              <a:rPr lang="en-US" sz="4000" b="1">
                <a:solidFill>
                  <a:srgbClr val="FFFEFE"/>
                </a:solidFill>
                <a:latin typeface="League Spartan"/>
                <a:ea typeface="League Spartan"/>
                <a:cs typeface="League Spartan"/>
                <a:sym typeface="League Spartan"/>
              </a:rPr>
              <a:t>eam</a:t>
            </a:r>
          </a:p>
        </p:txBody>
      </p:sp>
      <p:sp>
        <p:nvSpPr>
          <p:cNvPr id="8" name="TextBox 8"/>
          <p:cNvSpPr txBox="1"/>
          <p:nvPr/>
        </p:nvSpPr>
        <p:spPr>
          <a:xfrm>
            <a:off x="11197296" y="1498603"/>
            <a:ext cx="7206514"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Who are your co-founders or core team?</a:t>
            </a:r>
          </a:p>
        </p:txBody>
      </p:sp>
      <p:sp>
        <p:nvSpPr>
          <p:cNvPr id="9" name="TextBox 9"/>
          <p:cNvSpPr txBox="1"/>
          <p:nvPr/>
        </p:nvSpPr>
        <p:spPr>
          <a:xfrm>
            <a:off x="1619784" y="1498603"/>
            <a:ext cx="7501044"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Who is leading this, and why are they the right people?</a:t>
            </a:r>
          </a:p>
        </p:txBody>
      </p:sp>
      <p:sp>
        <p:nvSpPr>
          <p:cNvPr id="10" name="TextBox 10"/>
          <p:cNvSpPr txBox="1"/>
          <p:nvPr/>
        </p:nvSpPr>
        <p:spPr>
          <a:xfrm>
            <a:off x="11197296" y="2135825"/>
            <a:ext cx="7876356"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 expertise or experience do they bring?</a:t>
            </a:r>
          </a:p>
        </p:txBody>
      </p:sp>
      <p:sp>
        <p:nvSpPr>
          <p:cNvPr id="11" name="TextBox 11"/>
          <p:cNvSpPr txBox="1"/>
          <p:nvPr/>
        </p:nvSpPr>
        <p:spPr>
          <a:xfrm>
            <a:off x="1619784" y="5743248"/>
            <a:ext cx="8467011"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 advisors or partners strengthen your capacity?</a:t>
            </a:r>
          </a:p>
        </p:txBody>
      </p:sp>
      <p:grpSp>
        <p:nvGrpSpPr>
          <p:cNvPr id="12" name="Group 12"/>
          <p:cNvGrpSpPr/>
          <p:nvPr/>
        </p:nvGrpSpPr>
        <p:grpSpPr>
          <a:xfrm>
            <a:off x="1619784" y="2944498"/>
            <a:ext cx="8467011" cy="2703827"/>
            <a:chOff x="0" y="0"/>
            <a:chExt cx="2032400" cy="649020"/>
          </a:xfrm>
        </p:grpSpPr>
        <p:sp>
          <p:nvSpPr>
            <p:cNvPr id="13" name="Freeform 13"/>
            <p:cNvSpPr/>
            <p:nvPr/>
          </p:nvSpPr>
          <p:spPr>
            <a:xfrm>
              <a:off x="0" y="0"/>
              <a:ext cx="2032400" cy="649020"/>
            </a:xfrm>
            <a:custGeom>
              <a:avLst/>
              <a:gdLst/>
              <a:ahLst/>
              <a:cxnLst/>
              <a:rect l="l" t="t" r="r" b="b"/>
              <a:pathLst>
                <a:path w="2032400" h="649020">
                  <a:moveTo>
                    <a:pt x="25602" y="0"/>
                  </a:moveTo>
                  <a:lnTo>
                    <a:pt x="2006798" y="0"/>
                  </a:lnTo>
                  <a:cubicBezTo>
                    <a:pt x="2020938" y="0"/>
                    <a:pt x="2032400" y="11462"/>
                    <a:pt x="2032400" y="25602"/>
                  </a:cubicBezTo>
                  <a:lnTo>
                    <a:pt x="2032400" y="623418"/>
                  </a:lnTo>
                  <a:cubicBezTo>
                    <a:pt x="2032400" y="637557"/>
                    <a:pt x="2020938" y="649020"/>
                    <a:pt x="2006798" y="649020"/>
                  </a:cubicBezTo>
                  <a:lnTo>
                    <a:pt x="25602" y="649020"/>
                  </a:lnTo>
                  <a:cubicBezTo>
                    <a:pt x="11462" y="649020"/>
                    <a:pt x="0" y="637557"/>
                    <a:pt x="0" y="623418"/>
                  </a:cubicBezTo>
                  <a:lnTo>
                    <a:pt x="0" y="25602"/>
                  </a:lnTo>
                  <a:cubicBezTo>
                    <a:pt x="0" y="11462"/>
                    <a:pt x="11462" y="0"/>
                    <a:pt x="25602" y="0"/>
                  </a:cubicBezTo>
                  <a:close/>
                </a:path>
              </a:pathLst>
            </a:custGeom>
            <a:solidFill>
              <a:srgbClr val="08C8A1"/>
            </a:solidFill>
          </p:spPr>
          <p:txBody>
            <a:bodyPr/>
            <a:lstStyle/>
            <a:p>
              <a:pPr algn="just"/>
              <a:r>
                <a:rPr lang="en-US" sz="2500" dirty="0"/>
                <a:t>Gerald Lwande has worked in multiple clinical laboratories both in Kenya and Finland where blood and blood products were screened and stored prior to transfusion. Additionally, he studied two undergraduate majors (Biomedical Sciences and Information technology) which integrates life sciences and information technology approaches to solving clinical laboratory challenges. </a:t>
              </a:r>
              <a:endParaRPr lang="en-GB" sz="2500" dirty="0"/>
            </a:p>
          </p:txBody>
        </p:sp>
        <p:sp>
          <p:nvSpPr>
            <p:cNvPr id="14" name="TextBox 14"/>
            <p:cNvSpPr txBox="1"/>
            <p:nvPr/>
          </p:nvSpPr>
          <p:spPr>
            <a:xfrm>
              <a:off x="0" y="-171450"/>
              <a:ext cx="2032400" cy="820470"/>
            </a:xfrm>
            <a:prstGeom prst="rect">
              <a:avLst/>
            </a:prstGeom>
          </p:spPr>
          <p:txBody>
            <a:bodyPr lIns="50800" tIns="50800" rIns="50800" bIns="50800" rtlCol="0" anchor="ctr"/>
            <a:lstStyle/>
            <a:p>
              <a:pPr algn="ctr">
                <a:lnSpc>
                  <a:spcPts val="5220"/>
                </a:lnSpc>
              </a:pPr>
              <a:endParaRPr/>
            </a:p>
          </p:txBody>
        </p:sp>
      </p:grpSp>
      <p:grpSp>
        <p:nvGrpSpPr>
          <p:cNvPr id="15" name="Group 15"/>
          <p:cNvGrpSpPr/>
          <p:nvPr/>
        </p:nvGrpSpPr>
        <p:grpSpPr>
          <a:xfrm>
            <a:off x="1619784" y="7274541"/>
            <a:ext cx="8467011" cy="3516560"/>
            <a:chOff x="0" y="0"/>
            <a:chExt cx="2032400" cy="844106"/>
          </a:xfrm>
        </p:grpSpPr>
        <p:sp>
          <p:nvSpPr>
            <p:cNvPr id="16" name="Freeform 16"/>
            <p:cNvSpPr/>
            <p:nvPr/>
          </p:nvSpPr>
          <p:spPr>
            <a:xfrm>
              <a:off x="0" y="0"/>
              <a:ext cx="2032400" cy="844106"/>
            </a:xfrm>
            <a:custGeom>
              <a:avLst/>
              <a:gdLst/>
              <a:ahLst/>
              <a:cxnLst/>
              <a:rect l="l" t="t" r="r" b="b"/>
              <a:pathLst>
                <a:path w="2032400" h="844106">
                  <a:moveTo>
                    <a:pt x="25602" y="0"/>
                  </a:moveTo>
                  <a:lnTo>
                    <a:pt x="2006798" y="0"/>
                  </a:lnTo>
                  <a:cubicBezTo>
                    <a:pt x="2020938" y="0"/>
                    <a:pt x="2032400" y="11462"/>
                    <a:pt x="2032400" y="25602"/>
                  </a:cubicBezTo>
                  <a:lnTo>
                    <a:pt x="2032400" y="818504"/>
                  </a:lnTo>
                  <a:cubicBezTo>
                    <a:pt x="2032400" y="832644"/>
                    <a:pt x="2020938" y="844106"/>
                    <a:pt x="2006798" y="844106"/>
                  </a:cubicBezTo>
                  <a:lnTo>
                    <a:pt x="25602" y="844106"/>
                  </a:lnTo>
                  <a:cubicBezTo>
                    <a:pt x="11462" y="844106"/>
                    <a:pt x="0" y="832644"/>
                    <a:pt x="0" y="818504"/>
                  </a:cubicBezTo>
                  <a:lnTo>
                    <a:pt x="0" y="25602"/>
                  </a:lnTo>
                  <a:cubicBezTo>
                    <a:pt x="0" y="11462"/>
                    <a:pt x="11462" y="0"/>
                    <a:pt x="25602" y="0"/>
                  </a:cubicBezTo>
                  <a:close/>
                </a:path>
              </a:pathLst>
            </a:custGeom>
            <a:solidFill>
              <a:srgbClr val="08C8A1"/>
            </a:solidFill>
          </p:spPr>
          <p:txBody>
            <a:bodyPr/>
            <a:lstStyle/>
            <a:p>
              <a:pPr algn="just"/>
              <a:r>
                <a:rPr lang="en-US" sz="2500" dirty="0"/>
                <a:t>Prof. Innocent </a:t>
              </a:r>
              <a:r>
                <a:rPr lang="en-US" sz="2500" dirty="0" err="1"/>
                <a:t>Edagha</a:t>
              </a:r>
              <a:r>
                <a:rPr lang="en-US" sz="2500" dirty="0"/>
                <a:t> has worked in the clinical space in both Nigeria and the United States of America. As a research scientist, he is bringing on board his experiential  knowledge on the challenges and localized solutions that they were able to adopt. Furthermore, his work at the United States of America health system exposed him to platforms for sharing blood products and human organs for transfusion and transplantation.</a:t>
              </a:r>
              <a:endParaRPr lang="en-GB" sz="2500" dirty="0"/>
            </a:p>
          </p:txBody>
        </p:sp>
        <p:sp>
          <p:nvSpPr>
            <p:cNvPr id="17" name="TextBox 17"/>
            <p:cNvSpPr txBox="1"/>
            <p:nvPr/>
          </p:nvSpPr>
          <p:spPr>
            <a:xfrm>
              <a:off x="0" y="-171450"/>
              <a:ext cx="2032400" cy="1015556"/>
            </a:xfrm>
            <a:prstGeom prst="rect">
              <a:avLst/>
            </a:prstGeom>
          </p:spPr>
          <p:txBody>
            <a:bodyPr lIns="50800" tIns="50800" rIns="50800" bIns="50800" rtlCol="0" anchor="ctr"/>
            <a:lstStyle/>
            <a:p>
              <a:pPr algn="ctr">
                <a:lnSpc>
                  <a:spcPts val="5220"/>
                </a:lnSpc>
              </a:pPr>
              <a:endParaRPr/>
            </a:p>
          </p:txBody>
        </p:sp>
      </p:grpSp>
      <p:grpSp>
        <p:nvGrpSpPr>
          <p:cNvPr id="18" name="Group 18"/>
          <p:cNvGrpSpPr/>
          <p:nvPr/>
        </p:nvGrpSpPr>
        <p:grpSpPr>
          <a:xfrm>
            <a:off x="10862375" y="2944498"/>
            <a:ext cx="8467011" cy="7846603"/>
            <a:chOff x="0" y="0"/>
            <a:chExt cx="2032400" cy="1883479"/>
          </a:xfrm>
        </p:grpSpPr>
        <p:sp>
          <p:nvSpPr>
            <p:cNvPr id="19" name="Freeform 19"/>
            <p:cNvSpPr/>
            <p:nvPr/>
          </p:nvSpPr>
          <p:spPr>
            <a:xfrm>
              <a:off x="0" y="0"/>
              <a:ext cx="2032400" cy="1883479"/>
            </a:xfrm>
            <a:custGeom>
              <a:avLst/>
              <a:gdLst/>
              <a:ahLst/>
              <a:cxnLst/>
              <a:rect l="l" t="t" r="r" b="b"/>
              <a:pathLst>
                <a:path w="2032400" h="1883479">
                  <a:moveTo>
                    <a:pt x="25602" y="0"/>
                  </a:moveTo>
                  <a:lnTo>
                    <a:pt x="2006798" y="0"/>
                  </a:lnTo>
                  <a:cubicBezTo>
                    <a:pt x="2020938" y="0"/>
                    <a:pt x="2032400" y="11462"/>
                    <a:pt x="2032400" y="25602"/>
                  </a:cubicBezTo>
                  <a:lnTo>
                    <a:pt x="2032400" y="1857877"/>
                  </a:lnTo>
                  <a:cubicBezTo>
                    <a:pt x="2032400" y="1872017"/>
                    <a:pt x="2020938" y="1883479"/>
                    <a:pt x="2006798" y="1883479"/>
                  </a:cubicBezTo>
                  <a:lnTo>
                    <a:pt x="25602" y="1883479"/>
                  </a:lnTo>
                  <a:cubicBezTo>
                    <a:pt x="11462" y="1883479"/>
                    <a:pt x="0" y="1872017"/>
                    <a:pt x="0" y="1857877"/>
                  </a:cubicBezTo>
                  <a:lnTo>
                    <a:pt x="0" y="25602"/>
                  </a:lnTo>
                  <a:cubicBezTo>
                    <a:pt x="0" y="11462"/>
                    <a:pt x="11462" y="0"/>
                    <a:pt x="25602" y="0"/>
                  </a:cubicBezTo>
                  <a:close/>
                </a:path>
              </a:pathLst>
            </a:custGeom>
            <a:solidFill>
              <a:srgbClr val="08C8A1"/>
            </a:solidFill>
          </p:spPr>
          <p:txBody>
            <a:bodyPr/>
            <a:lstStyle/>
            <a:p>
              <a:pPr marL="514350" indent="-514350" algn="just">
                <a:lnSpc>
                  <a:spcPct val="150000"/>
                </a:lnSpc>
                <a:buFont typeface="+mj-lt"/>
                <a:buAutoNum type="romanUcPeriod"/>
              </a:pPr>
              <a:r>
                <a:rPr lang="en-GB" sz="2500" b="1" dirty="0"/>
                <a:t>Benjamin </a:t>
              </a:r>
              <a:r>
                <a:rPr lang="en-GB" sz="2500" b="1" dirty="0" err="1"/>
                <a:t>Mogusu</a:t>
              </a:r>
              <a:r>
                <a:rPr lang="en-GB" sz="2500" dirty="0"/>
                <a:t> – Sixth-year medical student who has been both a student leader and,  team leader at Equity Leadership Scholars</a:t>
              </a:r>
            </a:p>
            <a:p>
              <a:pPr marL="514350" indent="-514350" algn="just">
                <a:lnSpc>
                  <a:spcPct val="150000"/>
                </a:lnSpc>
                <a:buFont typeface="+mj-lt"/>
                <a:buAutoNum type="romanUcPeriod"/>
              </a:pPr>
              <a:endParaRPr lang="en-GB" sz="2500" dirty="0"/>
            </a:p>
            <a:p>
              <a:pPr marL="514350" indent="-514350" algn="just">
                <a:lnSpc>
                  <a:spcPct val="150000"/>
                </a:lnSpc>
                <a:buFont typeface="+mj-lt"/>
                <a:buAutoNum type="romanUcPeriod"/>
              </a:pPr>
              <a:r>
                <a:rPr lang="en-GB" sz="2500" b="1" dirty="0"/>
                <a:t>Mary Jerop </a:t>
              </a:r>
              <a:r>
                <a:rPr lang="en-GB" sz="2500" dirty="0"/>
                <a:t>– Fourth-year medical student who has been involved in reproductive health campaigns, where blood is a critical health commodity.</a:t>
              </a:r>
            </a:p>
            <a:p>
              <a:pPr marL="514350" indent="-514350" algn="just">
                <a:lnSpc>
                  <a:spcPct val="150000"/>
                </a:lnSpc>
                <a:buFont typeface="+mj-lt"/>
                <a:buAutoNum type="romanUcPeriod"/>
              </a:pPr>
              <a:endParaRPr lang="en-GB" sz="2500" dirty="0"/>
            </a:p>
            <a:p>
              <a:pPr marL="514350" indent="-514350" algn="just">
                <a:lnSpc>
                  <a:spcPct val="150000"/>
                </a:lnSpc>
                <a:buFont typeface="+mj-lt"/>
                <a:buAutoNum type="romanUcPeriod"/>
              </a:pPr>
              <a:r>
                <a:rPr lang="en-GB" sz="2500" b="1" dirty="0"/>
                <a:t>Dr. Samuel </a:t>
              </a:r>
              <a:r>
                <a:rPr lang="en-GB" sz="2500" b="1" dirty="0" err="1"/>
                <a:t>Mbunya</a:t>
              </a:r>
              <a:r>
                <a:rPr lang="en-GB" sz="2500" b="1" dirty="0"/>
                <a:t>-</a:t>
              </a:r>
              <a:r>
                <a:rPr lang="en-GB" sz="2500" dirty="0"/>
                <a:t>  An advocacy expert on blood and blood disorders with over 10 years experience.</a:t>
              </a:r>
            </a:p>
          </p:txBody>
        </p:sp>
        <p:sp>
          <p:nvSpPr>
            <p:cNvPr id="20" name="TextBox 20"/>
            <p:cNvSpPr txBox="1"/>
            <p:nvPr/>
          </p:nvSpPr>
          <p:spPr>
            <a:xfrm>
              <a:off x="0" y="-171450"/>
              <a:ext cx="2032400" cy="2054929"/>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439827" y="1015236"/>
            <a:ext cx="990143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9. F</a:t>
            </a:r>
            <a:r>
              <a:rPr lang="en-US" sz="4000" b="1">
                <a:solidFill>
                  <a:srgbClr val="FFFEFE"/>
                </a:solidFill>
                <a:latin typeface="League Spartan"/>
                <a:ea typeface="League Spartan"/>
                <a:cs typeface="League Spartan"/>
                <a:sym typeface="League Spartan"/>
              </a:rPr>
              <a:t>inancials &amp; Sustainability</a:t>
            </a:r>
          </a:p>
        </p:txBody>
      </p:sp>
      <p:sp>
        <p:nvSpPr>
          <p:cNvPr id="8" name="TextBox 8"/>
          <p:cNvSpPr txBox="1"/>
          <p:nvPr/>
        </p:nvSpPr>
        <p:spPr>
          <a:xfrm>
            <a:off x="10981609" y="1799460"/>
            <a:ext cx="8347777" cy="2579370"/>
          </a:xfrm>
          <a:prstGeom prst="rect">
            <a:avLst/>
          </a:prstGeom>
        </p:spPr>
        <p:txBody>
          <a:bodyPr lIns="0" tIns="0" rIns="0" bIns="0" rtlCol="0" anchor="t">
            <a:spAutoFit/>
          </a:bodyPr>
          <a:lstStyle/>
          <a:p>
            <a:pPr marL="626111" lvl="1" indent="-313055" algn="l">
              <a:lnSpc>
                <a:spcPts val="5220"/>
              </a:lnSpc>
              <a:buFont typeface="Arial"/>
              <a:buChar char="•"/>
            </a:pPr>
            <a:r>
              <a:rPr lang="en-US" sz="2900" b="1">
                <a:solidFill>
                  <a:srgbClr val="FFB437"/>
                </a:solidFill>
                <a:latin typeface="Open Sans Bold"/>
                <a:ea typeface="Open Sans Bold"/>
                <a:cs typeface="Open Sans Bold"/>
                <a:sym typeface="Open Sans Bold"/>
              </a:rPr>
              <a:t>For-profits:</a:t>
            </a:r>
            <a:r>
              <a:rPr lang="en-US" sz="2900">
                <a:solidFill>
                  <a:srgbClr val="FFFFFF"/>
                </a:solidFill>
                <a:latin typeface="Open Sans"/>
                <a:ea typeface="Open Sans"/>
                <a:cs typeface="Open Sans"/>
                <a:sym typeface="Open Sans"/>
              </a:rPr>
              <a:t> Revenue projections, unit economics, fundraising rounds</a:t>
            </a:r>
          </a:p>
          <a:p>
            <a:pPr marL="626111" lvl="1" indent="-313055" algn="l">
              <a:lnSpc>
                <a:spcPts val="5220"/>
              </a:lnSpc>
              <a:buFont typeface="Arial"/>
              <a:buChar char="•"/>
            </a:pPr>
            <a:r>
              <a:rPr lang="en-US" sz="2900" b="1">
                <a:solidFill>
                  <a:srgbClr val="FFB437"/>
                </a:solidFill>
                <a:latin typeface="Open Sans Bold"/>
                <a:ea typeface="Open Sans Bold"/>
                <a:cs typeface="Open Sans Bold"/>
                <a:sym typeface="Open Sans Bold"/>
              </a:rPr>
              <a:t>Non-profits:</a:t>
            </a:r>
            <a:r>
              <a:rPr lang="en-US" sz="2900">
                <a:solidFill>
                  <a:srgbClr val="FFFFFF"/>
                </a:solidFill>
                <a:latin typeface="Open Sans"/>
                <a:ea typeface="Open Sans"/>
                <a:cs typeface="Open Sans"/>
                <a:sym typeface="Open Sans"/>
              </a:rPr>
              <a:t> Annual budget, current funding sources, sustainability plans.</a:t>
            </a:r>
          </a:p>
        </p:txBody>
      </p:sp>
      <p:sp>
        <p:nvSpPr>
          <p:cNvPr id="9" name="TextBox 9"/>
          <p:cNvSpPr txBox="1"/>
          <p:nvPr/>
        </p:nvSpPr>
        <p:spPr>
          <a:xfrm>
            <a:off x="1618198" y="1794698"/>
            <a:ext cx="9183667"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 are your numbers and financial plans?</a:t>
            </a:r>
          </a:p>
        </p:txBody>
      </p:sp>
      <p:sp>
        <p:nvSpPr>
          <p:cNvPr id="10" name="TextBox 10"/>
          <p:cNvSpPr txBox="1"/>
          <p:nvPr/>
        </p:nvSpPr>
        <p:spPr>
          <a:xfrm>
            <a:off x="1839252" y="6110242"/>
            <a:ext cx="8245957"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 is your ask? (How much are you raising and for what?)</a:t>
            </a:r>
          </a:p>
        </p:txBody>
      </p:sp>
      <p:grpSp>
        <p:nvGrpSpPr>
          <p:cNvPr id="11" name="Group 11"/>
          <p:cNvGrpSpPr/>
          <p:nvPr/>
        </p:nvGrpSpPr>
        <p:grpSpPr>
          <a:xfrm>
            <a:off x="10862375" y="4647111"/>
            <a:ext cx="8467011" cy="6186466"/>
            <a:chOff x="0" y="0"/>
            <a:chExt cx="2032400" cy="1484984"/>
          </a:xfrm>
        </p:grpSpPr>
        <p:sp>
          <p:nvSpPr>
            <p:cNvPr id="12" name="Freeform 12"/>
            <p:cNvSpPr/>
            <p:nvPr/>
          </p:nvSpPr>
          <p:spPr>
            <a:xfrm>
              <a:off x="0" y="0"/>
              <a:ext cx="2032400" cy="1484984"/>
            </a:xfrm>
            <a:custGeom>
              <a:avLst/>
              <a:gdLst/>
              <a:ahLst/>
              <a:cxnLst/>
              <a:rect l="l" t="t" r="r" b="b"/>
              <a:pathLst>
                <a:path w="2032400" h="1484984">
                  <a:moveTo>
                    <a:pt x="25602" y="0"/>
                  </a:moveTo>
                  <a:lnTo>
                    <a:pt x="2006798" y="0"/>
                  </a:lnTo>
                  <a:cubicBezTo>
                    <a:pt x="2020938" y="0"/>
                    <a:pt x="2032400" y="11462"/>
                    <a:pt x="2032400" y="25602"/>
                  </a:cubicBezTo>
                  <a:lnTo>
                    <a:pt x="2032400" y="1459382"/>
                  </a:lnTo>
                  <a:cubicBezTo>
                    <a:pt x="2032400" y="1473521"/>
                    <a:pt x="2020938" y="1484984"/>
                    <a:pt x="2006798" y="1484984"/>
                  </a:cubicBezTo>
                  <a:lnTo>
                    <a:pt x="25602" y="1484984"/>
                  </a:lnTo>
                  <a:cubicBezTo>
                    <a:pt x="11462" y="1484984"/>
                    <a:pt x="0" y="1473521"/>
                    <a:pt x="0" y="1459382"/>
                  </a:cubicBezTo>
                  <a:lnTo>
                    <a:pt x="0" y="25602"/>
                  </a:lnTo>
                  <a:cubicBezTo>
                    <a:pt x="0" y="11462"/>
                    <a:pt x="11462" y="0"/>
                    <a:pt x="25602" y="0"/>
                  </a:cubicBezTo>
                  <a:close/>
                </a:path>
              </a:pathLst>
            </a:custGeom>
            <a:solidFill>
              <a:srgbClr val="08C8A1"/>
            </a:solidFill>
          </p:spPr>
          <p:txBody>
            <a:bodyPr/>
            <a:lstStyle/>
            <a:p>
              <a:pPr algn="just">
                <a:lnSpc>
                  <a:spcPct val="150000"/>
                </a:lnSpc>
              </a:pPr>
              <a:r>
                <a:rPr lang="en-GB" sz="2900" dirty="0"/>
                <a:t>We use a mixed model of grants, donations (crowd-sourcing) and earned income (from sale of merchandises –such as polo shirts, wrist bands, etc).</a:t>
              </a:r>
            </a:p>
            <a:p>
              <a:pPr algn="just">
                <a:lnSpc>
                  <a:spcPct val="150000"/>
                </a:lnSpc>
              </a:pPr>
              <a:endParaRPr lang="en-GB" sz="2900" dirty="0"/>
            </a:p>
          </p:txBody>
        </p:sp>
        <p:sp>
          <p:nvSpPr>
            <p:cNvPr id="13" name="TextBox 13"/>
            <p:cNvSpPr txBox="1"/>
            <p:nvPr/>
          </p:nvSpPr>
          <p:spPr>
            <a:xfrm>
              <a:off x="0" y="-171450"/>
              <a:ext cx="2032400" cy="1656434"/>
            </a:xfrm>
            <a:prstGeom prst="rect">
              <a:avLst/>
            </a:prstGeom>
          </p:spPr>
          <p:txBody>
            <a:bodyPr lIns="50800" tIns="50800" rIns="50800" bIns="50800" rtlCol="0" anchor="ctr"/>
            <a:lstStyle/>
            <a:p>
              <a:pPr algn="ctr">
                <a:lnSpc>
                  <a:spcPts val="5220"/>
                </a:lnSpc>
              </a:pPr>
              <a:endParaRPr/>
            </a:p>
          </p:txBody>
        </p:sp>
      </p:grpSp>
      <p:grpSp>
        <p:nvGrpSpPr>
          <p:cNvPr id="14" name="Group 14"/>
          <p:cNvGrpSpPr/>
          <p:nvPr/>
        </p:nvGrpSpPr>
        <p:grpSpPr>
          <a:xfrm>
            <a:off x="1619784" y="2664330"/>
            <a:ext cx="8467011" cy="3350662"/>
            <a:chOff x="0" y="0"/>
            <a:chExt cx="2032400" cy="804285"/>
          </a:xfrm>
        </p:grpSpPr>
        <p:sp>
          <p:nvSpPr>
            <p:cNvPr id="15" name="Freeform 15"/>
            <p:cNvSpPr/>
            <p:nvPr/>
          </p:nvSpPr>
          <p:spPr>
            <a:xfrm>
              <a:off x="0" y="0"/>
              <a:ext cx="2032400" cy="804285"/>
            </a:xfrm>
            <a:custGeom>
              <a:avLst/>
              <a:gdLst/>
              <a:ahLst/>
              <a:cxnLst/>
              <a:rect l="l" t="t" r="r" b="b"/>
              <a:pathLst>
                <a:path w="2032400" h="804285">
                  <a:moveTo>
                    <a:pt x="25602" y="0"/>
                  </a:moveTo>
                  <a:lnTo>
                    <a:pt x="2006798" y="0"/>
                  </a:lnTo>
                  <a:cubicBezTo>
                    <a:pt x="2020938" y="0"/>
                    <a:pt x="2032400" y="11462"/>
                    <a:pt x="2032400" y="25602"/>
                  </a:cubicBezTo>
                  <a:lnTo>
                    <a:pt x="2032400" y="778682"/>
                  </a:lnTo>
                  <a:cubicBezTo>
                    <a:pt x="2032400" y="792822"/>
                    <a:pt x="2020938" y="804285"/>
                    <a:pt x="2006798" y="804285"/>
                  </a:cubicBezTo>
                  <a:lnTo>
                    <a:pt x="25602" y="804285"/>
                  </a:lnTo>
                  <a:cubicBezTo>
                    <a:pt x="11462" y="804285"/>
                    <a:pt x="0" y="792822"/>
                    <a:pt x="0" y="778682"/>
                  </a:cubicBezTo>
                  <a:lnTo>
                    <a:pt x="0" y="25602"/>
                  </a:lnTo>
                  <a:cubicBezTo>
                    <a:pt x="0" y="11462"/>
                    <a:pt x="11462" y="0"/>
                    <a:pt x="25602" y="0"/>
                  </a:cubicBezTo>
                  <a:close/>
                </a:path>
              </a:pathLst>
            </a:custGeom>
            <a:solidFill>
              <a:srgbClr val="08C8A1"/>
            </a:solidFill>
          </p:spPr>
          <p:txBody>
            <a:bodyPr/>
            <a:lstStyle/>
            <a:p>
              <a:r>
                <a:rPr lang="en-GB" sz="2900" dirty="0"/>
                <a:t>Currently we have fundraised US$5,000.</a:t>
              </a:r>
            </a:p>
          </p:txBody>
        </p:sp>
        <p:sp>
          <p:nvSpPr>
            <p:cNvPr id="16" name="TextBox 16"/>
            <p:cNvSpPr txBox="1"/>
            <p:nvPr/>
          </p:nvSpPr>
          <p:spPr>
            <a:xfrm>
              <a:off x="0" y="-171450"/>
              <a:ext cx="2032400" cy="975735"/>
            </a:xfrm>
            <a:prstGeom prst="rect">
              <a:avLst/>
            </a:prstGeom>
          </p:spPr>
          <p:txBody>
            <a:bodyPr lIns="50800" tIns="50800" rIns="50800" bIns="50800" rtlCol="0" anchor="ctr"/>
            <a:lstStyle/>
            <a:p>
              <a:pPr algn="ctr">
                <a:lnSpc>
                  <a:spcPts val="5220"/>
                </a:lnSpc>
              </a:pPr>
              <a:endParaRPr/>
            </a:p>
          </p:txBody>
        </p:sp>
      </p:grpSp>
      <p:grpSp>
        <p:nvGrpSpPr>
          <p:cNvPr id="17" name="Group 17"/>
          <p:cNvGrpSpPr/>
          <p:nvPr/>
        </p:nvGrpSpPr>
        <p:grpSpPr>
          <a:xfrm>
            <a:off x="1618198" y="7641862"/>
            <a:ext cx="8467011" cy="3191715"/>
            <a:chOff x="0" y="0"/>
            <a:chExt cx="2032400" cy="766131"/>
          </a:xfrm>
        </p:grpSpPr>
        <p:sp>
          <p:nvSpPr>
            <p:cNvPr id="18" name="Freeform 18"/>
            <p:cNvSpPr/>
            <p:nvPr/>
          </p:nvSpPr>
          <p:spPr>
            <a:xfrm>
              <a:off x="0" y="0"/>
              <a:ext cx="2032400" cy="766131"/>
            </a:xfrm>
            <a:custGeom>
              <a:avLst/>
              <a:gdLst/>
              <a:ahLst/>
              <a:cxnLst/>
              <a:rect l="l" t="t" r="r" b="b"/>
              <a:pathLst>
                <a:path w="2032400" h="766131">
                  <a:moveTo>
                    <a:pt x="25602" y="0"/>
                  </a:moveTo>
                  <a:lnTo>
                    <a:pt x="2006798" y="0"/>
                  </a:lnTo>
                  <a:cubicBezTo>
                    <a:pt x="2020938" y="0"/>
                    <a:pt x="2032400" y="11462"/>
                    <a:pt x="2032400" y="25602"/>
                  </a:cubicBezTo>
                  <a:lnTo>
                    <a:pt x="2032400" y="740529"/>
                  </a:lnTo>
                  <a:cubicBezTo>
                    <a:pt x="2032400" y="754669"/>
                    <a:pt x="2020938" y="766131"/>
                    <a:pt x="2006798" y="766131"/>
                  </a:cubicBezTo>
                  <a:lnTo>
                    <a:pt x="25602" y="766131"/>
                  </a:lnTo>
                  <a:cubicBezTo>
                    <a:pt x="11462" y="766131"/>
                    <a:pt x="0" y="754669"/>
                    <a:pt x="0" y="740529"/>
                  </a:cubicBezTo>
                  <a:lnTo>
                    <a:pt x="0" y="25602"/>
                  </a:lnTo>
                  <a:cubicBezTo>
                    <a:pt x="0" y="11462"/>
                    <a:pt x="11462" y="0"/>
                    <a:pt x="25602" y="0"/>
                  </a:cubicBezTo>
                  <a:close/>
                </a:path>
              </a:pathLst>
            </a:custGeom>
            <a:solidFill>
              <a:srgbClr val="08C8A1"/>
            </a:solidFill>
          </p:spPr>
          <p:txBody>
            <a:bodyPr/>
            <a:lstStyle/>
            <a:p>
              <a:pPr algn="just"/>
              <a:r>
                <a:rPr lang="en-GB" sz="2900" i="1" dirty="0"/>
                <a:t>We invite you to join us in revolutionizing blood supply systems in Kenya. With your support, we can conduct a pilot project in Western Kenya, reduce transfusion costs, and create a sustainable model for blood supply that can be replicated across Africa.</a:t>
              </a:r>
            </a:p>
            <a:p>
              <a:pPr algn="just"/>
              <a:r>
                <a:rPr lang="en-GB" sz="2900" dirty="0"/>
                <a:t>We are seeking to fundraise an additional US$20,000 on our road to 10,000 pints of donated blood.</a:t>
              </a:r>
              <a:endParaRPr lang="en-KE" sz="2900" dirty="0"/>
            </a:p>
            <a:p>
              <a:pPr algn="just"/>
              <a:endParaRPr lang="en-GB" sz="2900" dirty="0"/>
            </a:p>
          </p:txBody>
        </p:sp>
        <p:sp>
          <p:nvSpPr>
            <p:cNvPr id="19" name="TextBox 19"/>
            <p:cNvSpPr txBox="1"/>
            <p:nvPr/>
          </p:nvSpPr>
          <p:spPr>
            <a:xfrm>
              <a:off x="0" y="-171450"/>
              <a:ext cx="2032400" cy="937581"/>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900272" y="759395"/>
            <a:ext cx="10904103"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10. Call to Act</a:t>
            </a:r>
            <a:r>
              <a:rPr lang="en-US" sz="4000" b="1">
                <a:solidFill>
                  <a:srgbClr val="FFFEFE"/>
                </a:solidFill>
                <a:latin typeface="League Spartan"/>
                <a:ea typeface="League Spartan"/>
                <a:cs typeface="League Spartan"/>
                <a:sym typeface="League Spartan"/>
              </a:rPr>
              <a:t>ion / The Ask</a:t>
            </a:r>
          </a:p>
        </p:txBody>
      </p:sp>
      <p:sp>
        <p:nvSpPr>
          <p:cNvPr id="8" name="TextBox 8"/>
          <p:cNvSpPr txBox="1"/>
          <p:nvPr/>
        </p:nvSpPr>
        <p:spPr>
          <a:xfrm>
            <a:off x="1900272" y="1564640"/>
            <a:ext cx="17059241" cy="2579370"/>
          </a:xfrm>
          <a:prstGeom prst="rect">
            <a:avLst/>
          </a:prstGeom>
        </p:spPr>
        <p:txBody>
          <a:bodyPr lIns="0" tIns="0" rIns="0" bIns="0" rtlCol="0" anchor="t">
            <a:spAutoFit/>
          </a:bodyPr>
          <a:lstStyle/>
          <a:p>
            <a:pPr marL="626111" lvl="1" indent="-313055" algn="l">
              <a:lnSpc>
                <a:spcPts val="5220"/>
              </a:lnSpc>
              <a:buFont typeface="Arial"/>
              <a:buChar char="•"/>
            </a:pPr>
            <a:r>
              <a:rPr lang="en-US" sz="2900">
                <a:solidFill>
                  <a:srgbClr val="FFFFFF"/>
                </a:solidFill>
                <a:latin typeface="Open Sans"/>
                <a:ea typeface="Open Sans"/>
                <a:cs typeface="Open Sans"/>
                <a:sym typeface="Open Sans"/>
              </a:rPr>
              <a:t>What are you asking for from the audience?</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For-profits: “We are raising $500,000 in seed funding to expand to three new markets.”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Non-profits: “We are seeking $250,000 to scale our literacy program to 10,000 learners.”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What support, partnership, or investment do you need right now?</a:t>
            </a:r>
          </a:p>
        </p:txBody>
      </p:sp>
      <p:grpSp>
        <p:nvGrpSpPr>
          <p:cNvPr id="9" name="Group 9"/>
          <p:cNvGrpSpPr/>
          <p:nvPr/>
        </p:nvGrpSpPr>
        <p:grpSpPr>
          <a:xfrm>
            <a:off x="1900272" y="4431730"/>
            <a:ext cx="17059241" cy="6065597"/>
            <a:chOff x="0" y="0"/>
            <a:chExt cx="4094858" cy="1455971"/>
          </a:xfrm>
        </p:grpSpPr>
        <p:sp>
          <p:nvSpPr>
            <p:cNvPr id="10" name="Freeform 10"/>
            <p:cNvSpPr/>
            <p:nvPr/>
          </p:nvSpPr>
          <p:spPr>
            <a:xfrm>
              <a:off x="0" y="0"/>
              <a:ext cx="4094858" cy="1455971"/>
            </a:xfrm>
            <a:custGeom>
              <a:avLst/>
              <a:gdLst/>
              <a:ahLst/>
              <a:cxnLst/>
              <a:rect l="l" t="t" r="r" b="b"/>
              <a:pathLst>
                <a:path w="4094858" h="1455971">
                  <a:moveTo>
                    <a:pt x="12707" y="0"/>
                  </a:moveTo>
                  <a:lnTo>
                    <a:pt x="4082151" y="0"/>
                  </a:lnTo>
                  <a:cubicBezTo>
                    <a:pt x="4085521" y="0"/>
                    <a:pt x="4088753" y="1339"/>
                    <a:pt x="4091136" y="3722"/>
                  </a:cubicBezTo>
                  <a:cubicBezTo>
                    <a:pt x="4093519" y="6105"/>
                    <a:pt x="4094858" y="9337"/>
                    <a:pt x="4094858" y="12707"/>
                  </a:cubicBezTo>
                  <a:lnTo>
                    <a:pt x="4094858" y="1443264"/>
                  </a:lnTo>
                  <a:cubicBezTo>
                    <a:pt x="4094858" y="1450282"/>
                    <a:pt x="4089169" y="1455971"/>
                    <a:pt x="4082151" y="1455971"/>
                  </a:cubicBezTo>
                  <a:lnTo>
                    <a:pt x="12707" y="1455971"/>
                  </a:lnTo>
                  <a:cubicBezTo>
                    <a:pt x="9337" y="1455971"/>
                    <a:pt x="6105" y="1454632"/>
                    <a:pt x="3722" y="1452249"/>
                  </a:cubicBezTo>
                  <a:cubicBezTo>
                    <a:pt x="1339" y="1449866"/>
                    <a:pt x="0" y="1446634"/>
                    <a:pt x="0" y="1443264"/>
                  </a:cubicBezTo>
                  <a:lnTo>
                    <a:pt x="0" y="12707"/>
                  </a:lnTo>
                  <a:cubicBezTo>
                    <a:pt x="0" y="5689"/>
                    <a:pt x="5689" y="0"/>
                    <a:pt x="12707" y="0"/>
                  </a:cubicBezTo>
                  <a:close/>
                </a:path>
              </a:pathLst>
            </a:custGeom>
            <a:solidFill>
              <a:srgbClr val="08C8A1"/>
            </a:solidFill>
          </p:spPr>
          <p:txBody>
            <a:bodyPr/>
            <a:lstStyle/>
            <a:p>
              <a:pPr algn="ctr"/>
              <a:r>
                <a:rPr lang="en-GB" sz="2900" dirty="0"/>
                <a:t>We are seeking to fundraise an additional US$20,000 on our road to 10,000 pints of donated blood.</a:t>
              </a:r>
              <a:endParaRPr lang="en-KE" sz="2900" dirty="0"/>
            </a:p>
            <a:p>
              <a:pPr algn="ctr"/>
              <a:endParaRPr lang="en-GB" sz="2900" dirty="0"/>
            </a:p>
          </p:txBody>
        </p:sp>
        <p:sp>
          <p:nvSpPr>
            <p:cNvPr id="11" name="TextBox 11"/>
            <p:cNvSpPr txBox="1"/>
            <p:nvPr/>
          </p:nvSpPr>
          <p:spPr>
            <a:xfrm>
              <a:off x="0" y="-171450"/>
              <a:ext cx="4094858" cy="1627421"/>
            </a:xfrm>
            <a:prstGeom prst="rect">
              <a:avLst/>
            </a:prstGeom>
          </p:spPr>
          <p:txBody>
            <a:bodyPr lIns="50800" tIns="50800" rIns="50800" bIns="50800" rtlCol="0" anchor="ctr"/>
            <a:lstStyle/>
            <a:p>
              <a:pPr algn="ctr">
                <a:lnSpc>
                  <a:spcPts val="5220"/>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2296640" y="1358112"/>
            <a:ext cx="11820828"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Optional Slid</a:t>
            </a:r>
            <a:r>
              <a:rPr lang="en-US" sz="4000" b="1">
                <a:solidFill>
                  <a:srgbClr val="FFFEFE"/>
                </a:solidFill>
                <a:latin typeface="League Spartan"/>
                <a:ea typeface="League Spartan"/>
                <a:cs typeface="League Spartan"/>
                <a:sym typeface="League Spartan"/>
              </a:rPr>
              <a:t>es</a:t>
            </a:r>
          </a:p>
        </p:txBody>
      </p:sp>
      <p:sp>
        <p:nvSpPr>
          <p:cNvPr id="8" name="TextBox 8"/>
          <p:cNvSpPr txBox="1"/>
          <p:nvPr/>
        </p:nvSpPr>
        <p:spPr>
          <a:xfrm>
            <a:off x="2296640" y="2207604"/>
            <a:ext cx="11611137" cy="2579370"/>
          </a:xfrm>
          <a:prstGeom prst="rect">
            <a:avLst/>
          </a:prstGeom>
        </p:spPr>
        <p:txBody>
          <a:bodyPr lIns="0" tIns="0" rIns="0" bIns="0" rtlCol="0" anchor="t">
            <a:spAutoFit/>
          </a:bodyPr>
          <a:lstStyle/>
          <a:p>
            <a:pPr marL="626111" lvl="1" indent="-313055" algn="l">
              <a:lnSpc>
                <a:spcPts val="5220"/>
              </a:lnSpc>
              <a:buFont typeface="Arial"/>
              <a:buChar char="•"/>
            </a:pPr>
            <a:r>
              <a:rPr lang="en-US" sz="2900">
                <a:solidFill>
                  <a:srgbClr val="FFFFFF"/>
                </a:solidFill>
                <a:latin typeface="Open Sans"/>
                <a:ea typeface="Open Sans"/>
                <a:cs typeface="Open Sans"/>
                <a:sym typeface="Open Sans"/>
              </a:rPr>
              <a:t>Testimonials / Quotes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Product Demo / Program Video</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Impact Metrics / SDG Alignment</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Roadmap / Timeline</a:t>
            </a:r>
          </a:p>
        </p:txBody>
      </p:sp>
      <p:sp>
        <p:nvSpPr>
          <p:cNvPr id="9" name="TextBox 9"/>
          <p:cNvSpPr txBox="1"/>
          <p:nvPr/>
        </p:nvSpPr>
        <p:spPr>
          <a:xfrm>
            <a:off x="2296640" y="6120646"/>
            <a:ext cx="12814339" cy="3236595"/>
          </a:xfrm>
          <a:prstGeom prst="rect">
            <a:avLst/>
          </a:prstGeom>
        </p:spPr>
        <p:txBody>
          <a:bodyPr lIns="0" tIns="0" rIns="0" bIns="0" rtlCol="0" anchor="t">
            <a:spAutoFit/>
          </a:bodyPr>
          <a:lstStyle/>
          <a:p>
            <a:pPr marL="626111" lvl="1" indent="-313055" algn="l">
              <a:lnSpc>
                <a:spcPts val="5220"/>
              </a:lnSpc>
              <a:buFont typeface="Arial"/>
              <a:buChar char="•"/>
            </a:pPr>
            <a:r>
              <a:rPr lang="en-US" sz="2900">
                <a:solidFill>
                  <a:srgbClr val="FFFFFF"/>
                </a:solidFill>
                <a:latin typeface="Open Sans"/>
                <a:ea typeface="Open Sans"/>
                <a:cs typeface="Open Sans"/>
                <a:sym typeface="Open Sans"/>
              </a:rPr>
              <a:t>Keep it under 12 slides.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Use visuals, charts, and bold headings.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Tailor your tone: use business language for investors, mission-driven language for donors.</a:t>
            </a:r>
          </a:p>
          <a:p>
            <a:pPr marL="626111" lvl="1" indent="-313055" algn="l">
              <a:lnSpc>
                <a:spcPts val="5220"/>
              </a:lnSpc>
              <a:buFont typeface="Arial"/>
              <a:buChar char="•"/>
            </a:pPr>
            <a:r>
              <a:rPr lang="en-US" sz="2900">
                <a:solidFill>
                  <a:srgbClr val="FFFFFF"/>
                </a:solidFill>
                <a:latin typeface="Open Sans"/>
                <a:ea typeface="Open Sans"/>
                <a:cs typeface="Open Sans"/>
                <a:sym typeface="Open Sans"/>
              </a:rPr>
              <a:t>Rehearse your story—clarity and passion matter as much as content.</a:t>
            </a:r>
          </a:p>
        </p:txBody>
      </p:sp>
      <p:sp>
        <p:nvSpPr>
          <p:cNvPr id="10" name="TextBox 10"/>
          <p:cNvSpPr txBox="1"/>
          <p:nvPr/>
        </p:nvSpPr>
        <p:spPr>
          <a:xfrm>
            <a:off x="2296640" y="5269746"/>
            <a:ext cx="5805569"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Final Tip</a:t>
            </a:r>
            <a:r>
              <a:rPr lang="en-US" sz="4000" b="1">
                <a:solidFill>
                  <a:srgbClr val="FFFEFE"/>
                </a:solidFill>
                <a:latin typeface="League Spartan"/>
                <a:ea typeface="League Spartan"/>
                <a:cs typeface="League Spartan"/>
                <a:sym typeface="League Spartan"/>
              </a:rPr>
              <a: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307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a:off x="4012948" y="8539591"/>
            <a:ext cx="2399728" cy="1618821"/>
          </a:xfrm>
          <a:custGeom>
            <a:avLst/>
            <a:gdLst/>
            <a:ahLst/>
            <a:cxnLst/>
            <a:rect l="l" t="t" r="r" b="b"/>
            <a:pathLst>
              <a:path w="2399728" h="1618821">
                <a:moveTo>
                  <a:pt x="0" y="0"/>
                </a:moveTo>
                <a:lnTo>
                  <a:pt x="2399729" y="0"/>
                </a:lnTo>
                <a:lnTo>
                  <a:pt x="2399729" y="1618821"/>
                </a:lnTo>
                <a:lnTo>
                  <a:pt x="0" y="16188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7" name="Freeform 7"/>
          <p:cNvSpPr/>
          <p:nvPr/>
        </p:nvSpPr>
        <p:spPr>
          <a:xfrm>
            <a:off x="7398638" y="8539591"/>
            <a:ext cx="2958246" cy="1618821"/>
          </a:xfrm>
          <a:custGeom>
            <a:avLst/>
            <a:gdLst/>
            <a:ahLst/>
            <a:cxnLst/>
            <a:rect l="l" t="t" r="r" b="b"/>
            <a:pathLst>
              <a:path w="2958246" h="1618821">
                <a:moveTo>
                  <a:pt x="0" y="0"/>
                </a:moveTo>
                <a:lnTo>
                  <a:pt x="2958246" y="0"/>
                </a:lnTo>
                <a:lnTo>
                  <a:pt x="2958246" y="1618821"/>
                </a:lnTo>
                <a:lnTo>
                  <a:pt x="0" y="16188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8" name="Freeform 8"/>
          <p:cNvSpPr/>
          <p:nvPr/>
        </p:nvSpPr>
        <p:spPr>
          <a:xfrm>
            <a:off x="4012948" y="8379970"/>
            <a:ext cx="2623641" cy="1769870"/>
          </a:xfrm>
          <a:custGeom>
            <a:avLst/>
            <a:gdLst/>
            <a:ahLst/>
            <a:cxnLst/>
            <a:rect l="l" t="t" r="r" b="b"/>
            <a:pathLst>
              <a:path w="2623641" h="1769870">
                <a:moveTo>
                  <a:pt x="0" y="0"/>
                </a:moveTo>
                <a:lnTo>
                  <a:pt x="2623642" y="0"/>
                </a:lnTo>
                <a:lnTo>
                  <a:pt x="2623642" y="1769870"/>
                </a:lnTo>
                <a:lnTo>
                  <a:pt x="0" y="1769870"/>
                </a:lnTo>
                <a:lnTo>
                  <a:pt x="0" y="0"/>
                </a:lnTo>
                <a:close/>
              </a:path>
            </a:pathLst>
          </a:custGeom>
          <a:blipFill>
            <a:blip r:embed="rId10"/>
            <a:stretch>
              <a:fillRect/>
            </a:stretch>
          </a:blipFill>
        </p:spPr>
        <p:txBody>
          <a:bodyPr/>
          <a:lstStyle/>
          <a:p>
            <a:endParaRPr lang="en-GB"/>
          </a:p>
        </p:txBody>
      </p:sp>
      <p:sp>
        <p:nvSpPr>
          <p:cNvPr id="9" name="Freeform 9"/>
          <p:cNvSpPr/>
          <p:nvPr/>
        </p:nvSpPr>
        <p:spPr>
          <a:xfrm>
            <a:off x="7398638" y="8379970"/>
            <a:ext cx="3249938" cy="1778442"/>
          </a:xfrm>
          <a:custGeom>
            <a:avLst/>
            <a:gdLst/>
            <a:ahLst/>
            <a:cxnLst/>
            <a:rect l="l" t="t" r="r" b="b"/>
            <a:pathLst>
              <a:path w="3249938" h="1778442">
                <a:moveTo>
                  <a:pt x="0" y="0"/>
                </a:moveTo>
                <a:lnTo>
                  <a:pt x="3249938" y="0"/>
                </a:lnTo>
                <a:lnTo>
                  <a:pt x="3249938" y="1778442"/>
                </a:lnTo>
                <a:lnTo>
                  <a:pt x="0" y="1778442"/>
                </a:lnTo>
                <a:lnTo>
                  <a:pt x="0" y="0"/>
                </a:lnTo>
                <a:close/>
              </a:path>
            </a:pathLst>
          </a:custGeom>
          <a:blipFill>
            <a:blip r:embed="rId11"/>
            <a:stretch>
              <a:fillRect/>
            </a:stretch>
          </a:blipFill>
        </p:spPr>
        <p:txBody>
          <a:bodyPr/>
          <a:lstStyle/>
          <a:p>
            <a:endParaRPr lang="en-GB"/>
          </a:p>
        </p:txBody>
      </p:sp>
      <p:sp>
        <p:nvSpPr>
          <p:cNvPr id="10" name="Freeform 10"/>
          <p:cNvSpPr/>
          <p:nvPr/>
        </p:nvSpPr>
        <p:spPr>
          <a:xfrm>
            <a:off x="11459923" y="8705619"/>
            <a:ext cx="4615354" cy="1444221"/>
          </a:xfrm>
          <a:custGeom>
            <a:avLst/>
            <a:gdLst/>
            <a:ahLst/>
            <a:cxnLst/>
            <a:rect l="l" t="t" r="r" b="b"/>
            <a:pathLst>
              <a:path w="4615354" h="1444221">
                <a:moveTo>
                  <a:pt x="0" y="0"/>
                </a:moveTo>
                <a:lnTo>
                  <a:pt x="4615354" y="0"/>
                </a:lnTo>
                <a:lnTo>
                  <a:pt x="4615354" y="1444221"/>
                </a:lnTo>
                <a:lnTo>
                  <a:pt x="0" y="1444221"/>
                </a:lnTo>
                <a:lnTo>
                  <a:pt x="0" y="0"/>
                </a:lnTo>
                <a:close/>
              </a:path>
            </a:pathLst>
          </a:custGeom>
          <a:blipFill>
            <a:blip r:embed="rId12"/>
            <a:stretch>
              <a:fillRect/>
            </a:stretch>
          </a:blipFill>
        </p:spPr>
        <p:txBody>
          <a:bodyPr/>
          <a:lstStyle/>
          <a:p>
            <a:endParaRPr lang="en-GB"/>
          </a:p>
        </p:txBody>
      </p:sp>
      <p:sp>
        <p:nvSpPr>
          <p:cNvPr id="11" name="TextBox 11"/>
          <p:cNvSpPr txBox="1"/>
          <p:nvPr/>
        </p:nvSpPr>
        <p:spPr>
          <a:xfrm>
            <a:off x="6253162" y="3861434"/>
            <a:ext cx="7581900" cy="1783714"/>
          </a:xfrm>
          <a:prstGeom prst="rect">
            <a:avLst/>
          </a:prstGeom>
        </p:spPr>
        <p:txBody>
          <a:bodyPr lIns="0" tIns="0" rIns="0" bIns="0" rtlCol="0" anchor="t">
            <a:spAutoFit/>
          </a:bodyPr>
          <a:lstStyle/>
          <a:p>
            <a:pPr algn="ctr">
              <a:lnSpc>
                <a:spcPts val="14560"/>
              </a:lnSpc>
            </a:pPr>
            <a:r>
              <a:rPr lang="en-US" sz="10400">
                <a:solidFill>
                  <a:srgbClr val="FFFFFF"/>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2186</Words>
  <Application>Microsoft Office PowerPoint</Application>
  <PresentationFormat>Custom</PresentationFormat>
  <Paragraphs>176</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League Spartan</vt:lpstr>
      <vt:lpstr>Calibri</vt:lpstr>
      <vt:lpstr>Open Sans</vt:lpstr>
      <vt:lpstr>Aharoni</vt:lpstr>
      <vt:lpstr>Open Sans Semi-Bold</vt:lpstr>
      <vt:lpstr>Times New Roman</vt:lpstr>
      <vt:lpstr>Arial</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dc:title>
  <dc:creator>Gerald Lwande</dc:creator>
  <cp:lastModifiedBy>Gerald Lwande</cp:lastModifiedBy>
  <cp:revision>1</cp:revision>
  <dcterms:created xsi:type="dcterms:W3CDTF">2006-08-16T00:00:00Z</dcterms:created>
  <dcterms:modified xsi:type="dcterms:W3CDTF">2025-09-30T11:05:25Z</dcterms:modified>
  <dc:identifier>DAGsHD2u1_o</dc:identifier>
</cp:coreProperties>
</file>