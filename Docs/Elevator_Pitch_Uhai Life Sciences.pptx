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20078700" cy="11277600"/>
  <p:notesSz cx="6858000" cy="9144000"/>
  <p:embeddedFontLst>
    <p:embeddedFont>
      <p:font typeface="League Spartan" panose="020B0604020202020204" charset="0"/>
      <p:regular r:id="rId14"/>
    </p:embeddedFont>
    <p:embeddedFont>
      <p:font typeface="Open Sans" panose="020B0606030504020204" pitchFamily="34" charset="0"/>
      <p:regular r:id="rId15"/>
      <p:bold r:id="rId16"/>
      <p:italic r:id="rId17"/>
      <p:boldItalic r:id="rId18"/>
    </p:embeddedFont>
    <p:embeddedFont>
      <p:font typeface="Open Sans Bold" panose="020B0806030504020204" pitchFamily="34" charset="0"/>
      <p:regular r:id="rId19"/>
      <p:bold r:id="rId20"/>
    </p:embeddedFont>
    <p:embeddedFont>
      <p:font typeface="Open Sans Semi-Bold" panose="020B0604020202020204" charset="0"/>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F8E8733-7BD6-48A5-AD93-358F8537842A}" v="23" dt="2025-07-24T11:37:50.72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3" d="100"/>
          <a:sy n="53" d="100"/>
        </p:scale>
        <p:origin x="432"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5.fntdata"/><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erald Lwande" userId="b7c99195fc78e91f" providerId="LiveId" clId="{3F8E8733-7BD6-48A5-AD93-358F8537842A}"/>
    <pc:docChg chg="custSel modSld">
      <pc:chgData name="Gerald Lwande" userId="b7c99195fc78e91f" providerId="LiveId" clId="{3F8E8733-7BD6-48A5-AD93-358F8537842A}" dt="2025-07-24T11:38:06.453" v="935" actId="113"/>
      <pc:docMkLst>
        <pc:docMk/>
      </pc:docMkLst>
      <pc:sldChg chg="modSp mod">
        <pc:chgData name="Gerald Lwande" userId="b7c99195fc78e91f" providerId="LiveId" clId="{3F8E8733-7BD6-48A5-AD93-358F8537842A}" dt="2025-07-24T11:38:06.453" v="935" actId="113"/>
        <pc:sldMkLst>
          <pc:docMk/>
          <pc:sldMk cId="0" sldId="265"/>
        </pc:sldMkLst>
        <pc:spChg chg="mod">
          <ac:chgData name="Gerald Lwande" userId="b7c99195fc78e91f" providerId="LiveId" clId="{3F8E8733-7BD6-48A5-AD93-358F8537842A}" dt="2025-07-24T11:30:33.920" v="866" actId="20577"/>
          <ac:spMkLst>
            <pc:docMk/>
            <pc:sldMk cId="0" sldId="265"/>
            <ac:spMk id="8" creationId="{00000000-0000-0000-0000-000000000000}"/>
          </ac:spMkLst>
        </pc:spChg>
        <pc:spChg chg="mod">
          <ac:chgData name="Gerald Lwande" userId="b7c99195fc78e91f" providerId="LiveId" clId="{3F8E8733-7BD6-48A5-AD93-358F8537842A}" dt="2025-07-24T11:28:54.008" v="844" actId="20577"/>
          <ac:spMkLst>
            <pc:docMk/>
            <pc:sldMk cId="0" sldId="265"/>
            <ac:spMk id="13" creationId="{00000000-0000-0000-0000-000000000000}"/>
          </ac:spMkLst>
        </pc:spChg>
        <pc:spChg chg="mod">
          <ac:chgData name="Gerald Lwande" userId="b7c99195fc78e91f" providerId="LiveId" clId="{3F8E8733-7BD6-48A5-AD93-358F8537842A}" dt="2025-07-24T11:38:06.453" v="935" actId="113"/>
          <ac:spMkLst>
            <pc:docMk/>
            <pc:sldMk cId="0" sldId="265"/>
            <ac:spMk id="17" creationId="{00000000-0000-0000-0000-000000000000}"/>
          </ac:spMkLst>
        </pc:spChg>
        <pc:spChg chg="mod">
          <ac:chgData name="Gerald Lwande" userId="b7c99195fc78e91f" providerId="LiveId" clId="{3F8E8733-7BD6-48A5-AD93-358F8537842A}" dt="2025-07-24T11:18:01.270" v="420" actId="2710"/>
          <ac:spMkLst>
            <pc:docMk/>
            <pc:sldMk cId="0" sldId="265"/>
            <ac:spMk id="21" creationId="{00000000-0000-0000-0000-000000000000}"/>
          </ac:spMkLst>
        </pc:spChg>
        <pc:grpChg chg="mod">
          <ac:chgData name="Gerald Lwande" userId="b7c99195fc78e91f" providerId="LiveId" clId="{3F8E8733-7BD6-48A5-AD93-358F8537842A}" dt="2025-07-24T11:30:12.675" v="850" actId="14100"/>
          <ac:grpSpMkLst>
            <pc:docMk/>
            <pc:sldMk cId="0" sldId="265"/>
            <ac:grpSpMk id="7" creationId="{00000000-0000-0000-0000-000000000000}"/>
          </ac:grpSpMkLst>
        </pc:grpChg>
        <pc:grpChg chg="mod">
          <ac:chgData name="Gerald Lwande" userId="b7c99195fc78e91f" providerId="LiveId" clId="{3F8E8733-7BD6-48A5-AD93-358F8537842A}" dt="2025-07-24T11:13:40.537" v="388" actId="14100"/>
          <ac:grpSpMkLst>
            <pc:docMk/>
            <pc:sldMk cId="0" sldId="265"/>
            <ac:grpSpMk id="12" creationId="{00000000-0000-0000-0000-000000000000}"/>
          </ac:grpSpMkLst>
        </pc:grpChg>
        <pc:grpChg chg="mod">
          <ac:chgData name="Gerald Lwande" userId="b7c99195fc78e91f" providerId="LiveId" clId="{3F8E8733-7BD6-48A5-AD93-358F8537842A}" dt="2025-07-24T11:16:22.592" v="415" actId="14100"/>
          <ac:grpSpMkLst>
            <pc:docMk/>
            <pc:sldMk cId="0" sldId="265"/>
            <ac:grpSpMk id="16" creationId="{00000000-0000-0000-0000-000000000000}"/>
          </ac:grpSpMkLst>
        </pc:grpChg>
        <pc:grpChg chg="mod">
          <ac:chgData name="Gerald Lwande" userId="b7c99195fc78e91f" providerId="LiveId" clId="{3F8E8733-7BD6-48A5-AD93-358F8537842A}" dt="2025-07-24T11:18:05.266" v="421" actId="14100"/>
          <ac:grpSpMkLst>
            <pc:docMk/>
            <pc:sldMk cId="0" sldId="265"/>
            <ac:grpSpMk id="20" creationId="{00000000-0000-0000-0000-000000000000}"/>
          </ac:grpSpMkLst>
        </pc:grpChg>
      </pc:sldChg>
      <pc:sldChg chg="modSp mod">
        <pc:chgData name="Gerald Lwande" userId="b7c99195fc78e91f" providerId="LiveId" clId="{3F8E8733-7BD6-48A5-AD93-358F8537842A}" dt="2025-07-24T11:32:43.839" v="920" actId="20577"/>
        <pc:sldMkLst>
          <pc:docMk/>
          <pc:sldMk cId="0" sldId="266"/>
        </pc:sldMkLst>
        <pc:spChg chg="mod">
          <ac:chgData name="Gerald Lwande" userId="b7c99195fc78e91f" providerId="LiveId" clId="{3F8E8733-7BD6-48A5-AD93-358F8537842A}" dt="2025-07-24T11:21:54.459" v="837" actId="123"/>
          <ac:spMkLst>
            <pc:docMk/>
            <pc:sldMk cId="0" sldId="266"/>
            <ac:spMk id="8" creationId="{00000000-0000-0000-0000-000000000000}"/>
          </ac:spMkLst>
        </pc:spChg>
        <pc:spChg chg="mod">
          <ac:chgData name="Gerald Lwande" userId="b7c99195fc78e91f" providerId="LiveId" clId="{3F8E8733-7BD6-48A5-AD93-358F8537842A}" dt="2025-07-24T11:31:26.232" v="871" actId="2710"/>
          <ac:spMkLst>
            <pc:docMk/>
            <pc:sldMk cId="0" sldId="266"/>
            <ac:spMk id="13" creationId="{00000000-0000-0000-0000-000000000000}"/>
          </ac:spMkLst>
        </pc:spChg>
        <pc:spChg chg="mod">
          <ac:chgData name="Gerald Lwande" userId="b7c99195fc78e91f" providerId="LiveId" clId="{3F8E8733-7BD6-48A5-AD93-358F8537842A}" dt="2025-07-24T11:32:43.839" v="920" actId="20577"/>
          <ac:spMkLst>
            <pc:docMk/>
            <pc:sldMk cId="0" sldId="266"/>
            <ac:spMk id="17" creationId="{00000000-0000-0000-0000-000000000000}"/>
          </ac:spMkLst>
        </pc:spChg>
        <pc:grpChg chg="mod">
          <ac:chgData name="Gerald Lwande" userId="b7c99195fc78e91f" providerId="LiveId" clId="{3F8E8733-7BD6-48A5-AD93-358F8537842A}" dt="2025-07-24T11:24:12.407" v="840" actId="14100"/>
          <ac:grpSpMkLst>
            <pc:docMk/>
            <pc:sldMk cId="0" sldId="266"/>
            <ac:grpSpMk id="7" creationId="{00000000-0000-0000-0000-000000000000}"/>
          </ac:grpSpMkLst>
        </pc:gr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7/24/2025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7/24/2025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7/24/2025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7/24/2025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7/24/2025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7/24/2025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jpeg"/><Relationship Id="rId5" Type="http://schemas.openxmlformats.org/officeDocument/2006/relationships/image" Target="../media/image4.jpeg"/><Relationship Id="rId10" Type="http://schemas.openxmlformats.org/officeDocument/2006/relationships/image" Target="../media/image9.png"/><Relationship Id="rId4" Type="http://schemas.openxmlformats.org/officeDocument/2006/relationships/image" Target="../media/image3.svg"/><Relationship Id="rId9" Type="http://schemas.openxmlformats.org/officeDocument/2006/relationships/image" Target="../media/image8.jpe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image" Target="../media/image3.sv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image" Target="../media/image3.sv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image" Target="../media/image3.sv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image" Target="../media/image3.sv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image" Target="../media/image3.sv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image" Target="../media/image3.sv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image" Target="../media/image3.sv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image" Target="../media/image3.sv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image" Target="../media/image3.svg"/></Relationships>
</file>

<file path=ppt/slides/_rels/slide12.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2.png"/><Relationship Id="rId7" Type="http://schemas.openxmlformats.org/officeDocument/2006/relationships/image" Target="../media/image13.svg"/><Relationship Id="rId12"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2.png"/><Relationship Id="rId11" Type="http://schemas.openxmlformats.org/officeDocument/2006/relationships/image" Target="../media/image10.jpeg"/><Relationship Id="rId5" Type="http://schemas.openxmlformats.org/officeDocument/2006/relationships/image" Target="../media/image4.jpeg"/><Relationship Id="rId10" Type="http://schemas.openxmlformats.org/officeDocument/2006/relationships/image" Target="../media/image9.png"/><Relationship Id="rId4" Type="http://schemas.openxmlformats.org/officeDocument/2006/relationships/image" Target="../media/image3.svg"/><Relationship Id="rId9" Type="http://schemas.openxmlformats.org/officeDocument/2006/relationships/image" Target="../media/image15.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20091397" cy="11290297"/>
          </a:xfrm>
          <a:custGeom>
            <a:avLst/>
            <a:gdLst/>
            <a:ahLst/>
            <a:cxnLst/>
            <a:rect l="l" t="t" r="r" b="b"/>
            <a:pathLst>
              <a:path w="20091397" h="11290297">
                <a:moveTo>
                  <a:pt x="0" y="0"/>
                </a:moveTo>
                <a:lnTo>
                  <a:pt x="20091397" y="0"/>
                </a:lnTo>
                <a:lnTo>
                  <a:pt x="20091397" y="11290297"/>
                </a:lnTo>
                <a:lnTo>
                  <a:pt x="0" y="11290297"/>
                </a:lnTo>
                <a:lnTo>
                  <a:pt x="0" y="0"/>
                </a:lnTo>
                <a:close/>
              </a:path>
            </a:pathLst>
          </a:custGeom>
          <a:blipFill>
            <a:blip r:embed="rId2"/>
            <a:stretch>
              <a:fillRect r="-63" b="-168"/>
            </a:stretch>
          </a:blipFill>
        </p:spPr>
        <p:txBody>
          <a:bodyPr/>
          <a:lstStyle/>
          <a:p>
            <a:endParaRPr lang="en-GB"/>
          </a:p>
        </p:txBody>
      </p:sp>
      <p:sp>
        <p:nvSpPr>
          <p:cNvPr id="3" name="Freeform 3"/>
          <p:cNvSpPr/>
          <p:nvPr/>
        </p:nvSpPr>
        <p:spPr>
          <a:xfrm>
            <a:off x="0" y="0"/>
            <a:ext cx="20091397" cy="11290297"/>
          </a:xfrm>
          <a:custGeom>
            <a:avLst/>
            <a:gdLst/>
            <a:ahLst/>
            <a:cxnLst/>
            <a:rect l="l" t="t" r="r" b="b"/>
            <a:pathLst>
              <a:path w="20091397" h="11290297">
                <a:moveTo>
                  <a:pt x="0" y="0"/>
                </a:moveTo>
                <a:lnTo>
                  <a:pt x="20091397" y="0"/>
                </a:lnTo>
                <a:lnTo>
                  <a:pt x="20091397" y="11290297"/>
                </a:lnTo>
                <a:lnTo>
                  <a:pt x="0" y="1129029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4" name="Freeform 4"/>
          <p:cNvSpPr/>
          <p:nvPr/>
        </p:nvSpPr>
        <p:spPr>
          <a:xfrm>
            <a:off x="0" y="0"/>
            <a:ext cx="20091397" cy="11290297"/>
          </a:xfrm>
          <a:custGeom>
            <a:avLst/>
            <a:gdLst/>
            <a:ahLst/>
            <a:cxnLst/>
            <a:rect l="l" t="t" r="r" b="b"/>
            <a:pathLst>
              <a:path w="20091397" h="11290297">
                <a:moveTo>
                  <a:pt x="0" y="0"/>
                </a:moveTo>
                <a:lnTo>
                  <a:pt x="20091397" y="0"/>
                </a:lnTo>
                <a:lnTo>
                  <a:pt x="20091397" y="11290297"/>
                </a:lnTo>
                <a:lnTo>
                  <a:pt x="0" y="11290297"/>
                </a:lnTo>
                <a:lnTo>
                  <a:pt x="0" y="0"/>
                </a:lnTo>
                <a:close/>
              </a:path>
            </a:pathLst>
          </a:custGeom>
          <a:blipFill>
            <a:blip r:embed="rId5"/>
            <a:stretch>
              <a:fillRect t="-2332" r="-12070" b="-90"/>
            </a:stretch>
          </a:blipFill>
        </p:spPr>
        <p:txBody>
          <a:bodyPr/>
          <a:lstStyle/>
          <a:p>
            <a:endParaRPr lang="en-GB"/>
          </a:p>
        </p:txBody>
      </p:sp>
      <p:sp>
        <p:nvSpPr>
          <p:cNvPr id="5" name="Freeform 5"/>
          <p:cNvSpPr/>
          <p:nvPr/>
        </p:nvSpPr>
        <p:spPr>
          <a:xfrm>
            <a:off x="0" y="0"/>
            <a:ext cx="20091397" cy="11290297"/>
          </a:xfrm>
          <a:custGeom>
            <a:avLst/>
            <a:gdLst/>
            <a:ahLst/>
            <a:cxnLst/>
            <a:rect l="l" t="t" r="r" b="b"/>
            <a:pathLst>
              <a:path w="20091397" h="11290297">
                <a:moveTo>
                  <a:pt x="0" y="0"/>
                </a:moveTo>
                <a:lnTo>
                  <a:pt x="20091397" y="0"/>
                </a:lnTo>
                <a:lnTo>
                  <a:pt x="20091397" y="11290297"/>
                </a:lnTo>
                <a:lnTo>
                  <a:pt x="0" y="1129029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6" name="Freeform 6"/>
          <p:cNvSpPr/>
          <p:nvPr/>
        </p:nvSpPr>
        <p:spPr>
          <a:xfrm rot="5400000">
            <a:off x="-5080792" y="5080792"/>
            <a:ext cx="11290297" cy="1128712"/>
          </a:xfrm>
          <a:custGeom>
            <a:avLst/>
            <a:gdLst/>
            <a:ahLst/>
            <a:cxnLst/>
            <a:rect l="l" t="t" r="r" b="b"/>
            <a:pathLst>
              <a:path w="11290297" h="1128712">
                <a:moveTo>
                  <a:pt x="0" y="0"/>
                </a:moveTo>
                <a:lnTo>
                  <a:pt x="11290297" y="0"/>
                </a:lnTo>
                <a:lnTo>
                  <a:pt x="11290297" y="1128713"/>
                </a:lnTo>
                <a:lnTo>
                  <a:pt x="0" y="1128713"/>
                </a:lnTo>
                <a:lnTo>
                  <a:pt x="0" y="0"/>
                </a:lnTo>
                <a:close/>
              </a:path>
            </a:pathLst>
          </a:custGeom>
          <a:blipFill>
            <a:blip r:embed="rId6"/>
            <a:stretch>
              <a:fillRect t="-451106" r="-56" b="-449737"/>
            </a:stretch>
          </a:blipFill>
        </p:spPr>
        <p:txBody>
          <a:bodyPr/>
          <a:lstStyle/>
          <a:p>
            <a:endParaRPr lang="en-GB"/>
          </a:p>
        </p:txBody>
      </p:sp>
      <p:sp>
        <p:nvSpPr>
          <p:cNvPr id="7" name="Freeform 7"/>
          <p:cNvSpPr/>
          <p:nvPr/>
        </p:nvSpPr>
        <p:spPr>
          <a:xfrm>
            <a:off x="2739504" y="8731778"/>
            <a:ext cx="4339323" cy="1150801"/>
          </a:xfrm>
          <a:custGeom>
            <a:avLst/>
            <a:gdLst/>
            <a:ahLst/>
            <a:cxnLst/>
            <a:rect l="l" t="t" r="r" b="b"/>
            <a:pathLst>
              <a:path w="4339323" h="1150801">
                <a:moveTo>
                  <a:pt x="0" y="0"/>
                </a:moveTo>
                <a:lnTo>
                  <a:pt x="4339324" y="0"/>
                </a:lnTo>
                <a:lnTo>
                  <a:pt x="4339324" y="1150801"/>
                </a:lnTo>
                <a:lnTo>
                  <a:pt x="0" y="1150801"/>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GB"/>
          </a:p>
        </p:txBody>
      </p:sp>
      <p:sp>
        <p:nvSpPr>
          <p:cNvPr id="8" name="TextBox 8"/>
          <p:cNvSpPr txBox="1"/>
          <p:nvPr/>
        </p:nvSpPr>
        <p:spPr>
          <a:xfrm>
            <a:off x="5956954" y="3465843"/>
            <a:ext cx="233429" cy="1261615"/>
          </a:xfrm>
          <a:prstGeom prst="rect">
            <a:avLst/>
          </a:prstGeom>
        </p:spPr>
        <p:txBody>
          <a:bodyPr lIns="0" tIns="0" rIns="0" bIns="0" rtlCol="0" anchor="t">
            <a:spAutoFit/>
          </a:bodyPr>
          <a:lstStyle/>
          <a:p>
            <a:pPr algn="l">
              <a:lnSpc>
                <a:spcPts val="11192"/>
              </a:lnSpc>
            </a:pPr>
            <a:r>
              <a:rPr lang="en-US" sz="6800" b="1">
                <a:solidFill>
                  <a:srgbClr val="F79646"/>
                </a:solidFill>
                <a:latin typeface="League Spartan"/>
                <a:ea typeface="League Spartan"/>
                <a:cs typeface="League Spartan"/>
                <a:sym typeface="League Spartan"/>
              </a:rPr>
              <a:t> </a:t>
            </a:r>
          </a:p>
        </p:txBody>
      </p:sp>
      <p:sp>
        <p:nvSpPr>
          <p:cNvPr id="9" name="Freeform 9"/>
          <p:cNvSpPr/>
          <p:nvPr/>
        </p:nvSpPr>
        <p:spPr>
          <a:xfrm>
            <a:off x="12558485" y="0"/>
            <a:ext cx="7532912" cy="11290297"/>
          </a:xfrm>
          <a:custGeom>
            <a:avLst/>
            <a:gdLst/>
            <a:ahLst/>
            <a:cxnLst/>
            <a:rect l="l" t="t" r="r" b="b"/>
            <a:pathLst>
              <a:path w="7532912" h="11290297">
                <a:moveTo>
                  <a:pt x="0" y="0"/>
                </a:moveTo>
                <a:lnTo>
                  <a:pt x="7532912" y="0"/>
                </a:lnTo>
                <a:lnTo>
                  <a:pt x="7532912" y="11290297"/>
                </a:lnTo>
                <a:lnTo>
                  <a:pt x="0" y="11290297"/>
                </a:lnTo>
                <a:lnTo>
                  <a:pt x="0" y="0"/>
                </a:lnTo>
                <a:close/>
              </a:path>
            </a:pathLst>
          </a:custGeom>
          <a:blipFill>
            <a:blip r:embed="rId9"/>
            <a:stretch>
              <a:fillRect l="-53733" r="-78637"/>
            </a:stretch>
          </a:blipFill>
        </p:spPr>
        <p:txBody>
          <a:bodyPr/>
          <a:lstStyle/>
          <a:p>
            <a:endParaRPr lang="en-GB"/>
          </a:p>
        </p:txBody>
      </p:sp>
      <p:sp>
        <p:nvSpPr>
          <p:cNvPr id="10" name="TextBox 10"/>
          <p:cNvSpPr txBox="1"/>
          <p:nvPr/>
        </p:nvSpPr>
        <p:spPr>
          <a:xfrm>
            <a:off x="1659675" y="2780547"/>
            <a:ext cx="7150322" cy="1946910"/>
          </a:xfrm>
          <a:prstGeom prst="rect">
            <a:avLst/>
          </a:prstGeom>
        </p:spPr>
        <p:txBody>
          <a:bodyPr lIns="0" tIns="0" rIns="0" bIns="0" rtlCol="0" anchor="t">
            <a:spAutoFit/>
          </a:bodyPr>
          <a:lstStyle/>
          <a:p>
            <a:pPr algn="l">
              <a:lnSpc>
                <a:spcPts val="7769"/>
              </a:lnSpc>
            </a:pPr>
            <a:r>
              <a:rPr lang="en-US" sz="5999" b="1">
                <a:solidFill>
                  <a:srgbClr val="FFFFFF"/>
                </a:solidFill>
                <a:latin typeface="League Spartan"/>
                <a:ea typeface="League Spartan"/>
                <a:cs typeface="League Spartan"/>
                <a:sym typeface="League Spartan"/>
              </a:rPr>
              <a:t>Africa Impact Academy</a:t>
            </a:r>
          </a:p>
        </p:txBody>
      </p:sp>
      <p:sp>
        <p:nvSpPr>
          <p:cNvPr id="11" name="TextBox 11"/>
          <p:cNvSpPr txBox="1"/>
          <p:nvPr/>
        </p:nvSpPr>
        <p:spPr>
          <a:xfrm>
            <a:off x="5956954" y="3465843"/>
            <a:ext cx="233429" cy="1261615"/>
          </a:xfrm>
          <a:prstGeom prst="rect">
            <a:avLst/>
          </a:prstGeom>
        </p:spPr>
        <p:txBody>
          <a:bodyPr lIns="0" tIns="0" rIns="0" bIns="0" rtlCol="0" anchor="t">
            <a:spAutoFit/>
          </a:bodyPr>
          <a:lstStyle/>
          <a:p>
            <a:pPr algn="l">
              <a:lnSpc>
                <a:spcPts val="11192"/>
              </a:lnSpc>
            </a:pPr>
            <a:r>
              <a:rPr lang="en-US" sz="6800" b="1">
                <a:solidFill>
                  <a:srgbClr val="F79646"/>
                </a:solidFill>
                <a:latin typeface="League Spartan"/>
                <a:ea typeface="League Spartan"/>
                <a:cs typeface="League Spartan"/>
                <a:sym typeface="League Spartan"/>
              </a:rPr>
              <a:t> </a:t>
            </a:r>
          </a:p>
        </p:txBody>
      </p:sp>
      <p:sp>
        <p:nvSpPr>
          <p:cNvPr id="12" name="TextBox 12"/>
          <p:cNvSpPr txBox="1"/>
          <p:nvPr/>
        </p:nvSpPr>
        <p:spPr>
          <a:xfrm>
            <a:off x="1558950" y="5300980"/>
            <a:ext cx="8594558" cy="647065"/>
          </a:xfrm>
          <a:prstGeom prst="rect">
            <a:avLst/>
          </a:prstGeom>
        </p:spPr>
        <p:txBody>
          <a:bodyPr lIns="0" tIns="0" rIns="0" bIns="0" rtlCol="0" anchor="t">
            <a:spAutoFit/>
          </a:bodyPr>
          <a:lstStyle/>
          <a:p>
            <a:pPr algn="l">
              <a:lnSpc>
                <a:spcPts val="5180"/>
              </a:lnSpc>
            </a:pPr>
            <a:r>
              <a:rPr lang="en-US" sz="4000" b="1">
                <a:solidFill>
                  <a:srgbClr val="FFB437"/>
                </a:solidFill>
                <a:latin typeface="Open Sans Semi-Bold"/>
                <a:ea typeface="Open Sans Semi-Bold"/>
                <a:cs typeface="Open Sans Semi-Bold"/>
                <a:sym typeface="Open Sans Semi-Bold"/>
              </a:rPr>
              <a:t>ELEVATOR PITCH TEMPLATE</a:t>
            </a:r>
          </a:p>
        </p:txBody>
      </p:sp>
      <p:sp>
        <p:nvSpPr>
          <p:cNvPr id="13" name="Freeform 13"/>
          <p:cNvSpPr/>
          <p:nvPr/>
        </p:nvSpPr>
        <p:spPr>
          <a:xfrm>
            <a:off x="2609711" y="8791123"/>
            <a:ext cx="3740875" cy="992091"/>
          </a:xfrm>
          <a:custGeom>
            <a:avLst/>
            <a:gdLst/>
            <a:ahLst/>
            <a:cxnLst/>
            <a:rect l="l" t="t" r="r" b="b"/>
            <a:pathLst>
              <a:path w="3740875" h="992091">
                <a:moveTo>
                  <a:pt x="0" y="0"/>
                </a:moveTo>
                <a:lnTo>
                  <a:pt x="3740875" y="0"/>
                </a:lnTo>
                <a:lnTo>
                  <a:pt x="3740875" y="992091"/>
                </a:lnTo>
                <a:lnTo>
                  <a:pt x="0" y="992091"/>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GB"/>
          </a:p>
        </p:txBody>
      </p:sp>
      <p:sp>
        <p:nvSpPr>
          <p:cNvPr id="14" name="Freeform 14"/>
          <p:cNvSpPr/>
          <p:nvPr/>
        </p:nvSpPr>
        <p:spPr>
          <a:xfrm>
            <a:off x="1544271" y="8250042"/>
            <a:ext cx="2261807" cy="1525782"/>
          </a:xfrm>
          <a:custGeom>
            <a:avLst/>
            <a:gdLst/>
            <a:ahLst/>
            <a:cxnLst/>
            <a:rect l="l" t="t" r="r" b="b"/>
            <a:pathLst>
              <a:path w="2261807" h="1525782">
                <a:moveTo>
                  <a:pt x="0" y="0"/>
                </a:moveTo>
                <a:lnTo>
                  <a:pt x="2261807" y="0"/>
                </a:lnTo>
                <a:lnTo>
                  <a:pt x="2261807" y="1525782"/>
                </a:lnTo>
                <a:lnTo>
                  <a:pt x="0" y="1525782"/>
                </a:lnTo>
                <a:lnTo>
                  <a:pt x="0" y="0"/>
                </a:lnTo>
                <a:close/>
              </a:path>
            </a:pathLst>
          </a:custGeom>
          <a:blipFill>
            <a:blip r:embed="rId10"/>
            <a:stretch>
              <a:fillRect/>
            </a:stretch>
          </a:blipFill>
        </p:spPr>
        <p:txBody>
          <a:bodyPr/>
          <a:lstStyle/>
          <a:p>
            <a:endParaRPr lang="en-GB"/>
          </a:p>
        </p:txBody>
      </p:sp>
      <p:sp>
        <p:nvSpPr>
          <p:cNvPr id="15" name="Freeform 15"/>
          <p:cNvSpPr/>
          <p:nvPr/>
        </p:nvSpPr>
        <p:spPr>
          <a:xfrm>
            <a:off x="4695610" y="8250042"/>
            <a:ext cx="2801730" cy="1533172"/>
          </a:xfrm>
          <a:custGeom>
            <a:avLst/>
            <a:gdLst/>
            <a:ahLst/>
            <a:cxnLst/>
            <a:rect l="l" t="t" r="r" b="b"/>
            <a:pathLst>
              <a:path w="2801730" h="1533172">
                <a:moveTo>
                  <a:pt x="0" y="0"/>
                </a:moveTo>
                <a:lnTo>
                  <a:pt x="2801729" y="0"/>
                </a:lnTo>
                <a:lnTo>
                  <a:pt x="2801729" y="1533172"/>
                </a:lnTo>
                <a:lnTo>
                  <a:pt x="0" y="1533172"/>
                </a:lnTo>
                <a:lnTo>
                  <a:pt x="0" y="0"/>
                </a:lnTo>
                <a:close/>
              </a:path>
            </a:pathLst>
          </a:custGeom>
          <a:blipFill>
            <a:blip r:embed="rId11"/>
            <a:stretch>
              <a:fillRect/>
            </a:stretch>
          </a:blipFill>
        </p:spPr>
        <p:txBody>
          <a:bodyPr/>
          <a:lstStyle/>
          <a:p>
            <a:endParaRPr lang="en-GB"/>
          </a:p>
        </p:txBody>
      </p:sp>
      <p:sp>
        <p:nvSpPr>
          <p:cNvPr id="16" name="Freeform 16"/>
          <p:cNvSpPr/>
          <p:nvPr/>
        </p:nvSpPr>
        <p:spPr>
          <a:xfrm>
            <a:off x="8164089" y="8530779"/>
            <a:ext cx="3978837" cy="1245044"/>
          </a:xfrm>
          <a:custGeom>
            <a:avLst/>
            <a:gdLst/>
            <a:ahLst/>
            <a:cxnLst/>
            <a:rect l="l" t="t" r="r" b="b"/>
            <a:pathLst>
              <a:path w="3978837" h="1245044">
                <a:moveTo>
                  <a:pt x="0" y="0"/>
                </a:moveTo>
                <a:lnTo>
                  <a:pt x="3978838" y="0"/>
                </a:lnTo>
                <a:lnTo>
                  <a:pt x="3978838" y="1245045"/>
                </a:lnTo>
                <a:lnTo>
                  <a:pt x="0" y="1245045"/>
                </a:lnTo>
                <a:lnTo>
                  <a:pt x="0" y="0"/>
                </a:lnTo>
                <a:close/>
              </a:path>
            </a:pathLst>
          </a:custGeom>
          <a:blipFill>
            <a:blip r:embed="rId12"/>
            <a:stretch>
              <a:fillRect/>
            </a:stretch>
          </a:blipFill>
        </p:spPr>
        <p:txBody>
          <a:bodyPr/>
          <a:lstStyle/>
          <a:p>
            <a:endParaRPr lang="en-GB"/>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20091397" cy="11290297"/>
          </a:xfrm>
          <a:custGeom>
            <a:avLst/>
            <a:gdLst/>
            <a:ahLst/>
            <a:cxnLst/>
            <a:rect l="l" t="t" r="r" b="b"/>
            <a:pathLst>
              <a:path w="20091397" h="11290297">
                <a:moveTo>
                  <a:pt x="0" y="0"/>
                </a:moveTo>
                <a:lnTo>
                  <a:pt x="20091397" y="0"/>
                </a:lnTo>
                <a:lnTo>
                  <a:pt x="20091397" y="11290297"/>
                </a:lnTo>
                <a:lnTo>
                  <a:pt x="0" y="11290297"/>
                </a:lnTo>
                <a:lnTo>
                  <a:pt x="0" y="0"/>
                </a:lnTo>
                <a:close/>
              </a:path>
            </a:pathLst>
          </a:custGeom>
          <a:blipFill>
            <a:blip r:embed="rId2"/>
            <a:stretch>
              <a:fillRect r="-63" b="-168"/>
            </a:stretch>
          </a:blipFill>
        </p:spPr>
        <p:txBody>
          <a:bodyPr/>
          <a:lstStyle/>
          <a:p>
            <a:endParaRPr lang="en-GB"/>
          </a:p>
        </p:txBody>
      </p:sp>
      <p:sp>
        <p:nvSpPr>
          <p:cNvPr id="3" name="Freeform 3"/>
          <p:cNvSpPr/>
          <p:nvPr/>
        </p:nvSpPr>
        <p:spPr>
          <a:xfrm>
            <a:off x="0" y="0"/>
            <a:ext cx="20091397" cy="11290297"/>
          </a:xfrm>
          <a:custGeom>
            <a:avLst/>
            <a:gdLst/>
            <a:ahLst/>
            <a:cxnLst/>
            <a:rect l="l" t="t" r="r" b="b"/>
            <a:pathLst>
              <a:path w="20091397" h="11290297">
                <a:moveTo>
                  <a:pt x="0" y="0"/>
                </a:moveTo>
                <a:lnTo>
                  <a:pt x="20091397" y="0"/>
                </a:lnTo>
                <a:lnTo>
                  <a:pt x="20091397" y="11290297"/>
                </a:lnTo>
                <a:lnTo>
                  <a:pt x="0" y="1129029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4" name="Freeform 4"/>
          <p:cNvSpPr/>
          <p:nvPr/>
        </p:nvSpPr>
        <p:spPr>
          <a:xfrm>
            <a:off x="0" y="0"/>
            <a:ext cx="20091397" cy="11290297"/>
          </a:xfrm>
          <a:custGeom>
            <a:avLst/>
            <a:gdLst/>
            <a:ahLst/>
            <a:cxnLst/>
            <a:rect l="l" t="t" r="r" b="b"/>
            <a:pathLst>
              <a:path w="20091397" h="11290297">
                <a:moveTo>
                  <a:pt x="0" y="0"/>
                </a:moveTo>
                <a:lnTo>
                  <a:pt x="20091397" y="0"/>
                </a:lnTo>
                <a:lnTo>
                  <a:pt x="20091397" y="11290297"/>
                </a:lnTo>
                <a:lnTo>
                  <a:pt x="0" y="11290297"/>
                </a:lnTo>
                <a:lnTo>
                  <a:pt x="0" y="0"/>
                </a:lnTo>
                <a:close/>
              </a:path>
            </a:pathLst>
          </a:custGeom>
          <a:blipFill>
            <a:blip r:embed="rId5"/>
            <a:stretch>
              <a:fillRect t="-84" r="-12821" b="-84"/>
            </a:stretch>
          </a:blipFill>
        </p:spPr>
        <p:txBody>
          <a:bodyPr/>
          <a:lstStyle/>
          <a:p>
            <a:endParaRPr lang="en-GB"/>
          </a:p>
        </p:txBody>
      </p:sp>
      <p:sp>
        <p:nvSpPr>
          <p:cNvPr id="5" name="Freeform 5"/>
          <p:cNvSpPr/>
          <p:nvPr/>
        </p:nvSpPr>
        <p:spPr>
          <a:xfrm>
            <a:off x="0" y="0"/>
            <a:ext cx="20091397" cy="11290297"/>
          </a:xfrm>
          <a:custGeom>
            <a:avLst/>
            <a:gdLst/>
            <a:ahLst/>
            <a:cxnLst/>
            <a:rect l="l" t="t" r="r" b="b"/>
            <a:pathLst>
              <a:path w="20091397" h="11290297">
                <a:moveTo>
                  <a:pt x="0" y="0"/>
                </a:moveTo>
                <a:lnTo>
                  <a:pt x="20091397" y="0"/>
                </a:lnTo>
                <a:lnTo>
                  <a:pt x="20091397" y="11290297"/>
                </a:lnTo>
                <a:lnTo>
                  <a:pt x="0" y="1129029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6" name="Freeform 6"/>
          <p:cNvSpPr/>
          <p:nvPr/>
        </p:nvSpPr>
        <p:spPr>
          <a:xfrm rot="5400000">
            <a:off x="-5077618" y="5083971"/>
            <a:ext cx="11283953" cy="1128708"/>
          </a:xfrm>
          <a:custGeom>
            <a:avLst/>
            <a:gdLst/>
            <a:ahLst/>
            <a:cxnLst/>
            <a:rect l="l" t="t" r="r" b="b"/>
            <a:pathLst>
              <a:path w="11283953" h="1128708">
                <a:moveTo>
                  <a:pt x="0" y="0"/>
                </a:moveTo>
                <a:lnTo>
                  <a:pt x="11283953" y="0"/>
                </a:lnTo>
                <a:lnTo>
                  <a:pt x="11283953" y="1128708"/>
                </a:lnTo>
                <a:lnTo>
                  <a:pt x="0" y="1128708"/>
                </a:lnTo>
                <a:lnTo>
                  <a:pt x="0" y="0"/>
                </a:lnTo>
                <a:close/>
              </a:path>
            </a:pathLst>
          </a:custGeom>
          <a:blipFill>
            <a:blip r:embed="rId6"/>
            <a:stretch>
              <a:fillRect t="-447163" r="-112" b="-453684"/>
            </a:stretch>
          </a:blipFill>
        </p:spPr>
        <p:txBody>
          <a:bodyPr/>
          <a:lstStyle/>
          <a:p>
            <a:endParaRPr lang="en-GB"/>
          </a:p>
        </p:txBody>
      </p:sp>
      <p:sp>
        <p:nvSpPr>
          <p:cNvPr id="7" name="TextBox 7"/>
          <p:cNvSpPr txBox="1"/>
          <p:nvPr/>
        </p:nvSpPr>
        <p:spPr>
          <a:xfrm>
            <a:off x="1660210" y="1033463"/>
            <a:ext cx="9301276" cy="854075"/>
          </a:xfrm>
          <a:prstGeom prst="rect">
            <a:avLst/>
          </a:prstGeom>
        </p:spPr>
        <p:txBody>
          <a:bodyPr lIns="0" tIns="0" rIns="0" bIns="0" rtlCol="0" anchor="t">
            <a:spAutoFit/>
          </a:bodyPr>
          <a:lstStyle/>
          <a:p>
            <a:pPr algn="l">
              <a:lnSpc>
                <a:spcPts val="6999"/>
              </a:lnSpc>
            </a:pPr>
            <a:r>
              <a:rPr lang="en-US" sz="4999">
                <a:solidFill>
                  <a:srgbClr val="FFFEFE"/>
                </a:solidFill>
                <a:latin typeface="League Spartan"/>
                <a:ea typeface="League Spartan"/>
                <a:cs typeface="League Spartan"/>
                <a:sym typeface="League Spartan"/>
              </a:rPr>
              <a:t>What Is an Elevator Pitch?</a:t>
            </a:r>
          </a:p>
        </p:txBody>
      </p:sp>
      <p:sp>
        <p:nvSpPr>
          <p:cNvPr id="8" name="TextBox 8"/>
          <p:cNvSpPr txBox="1"/>
          <p:nvPr/>
        </p:nvSpPr>
        <p:spPr>
          <a:xfrm>
            <a:off x="1660210" y="2118473"/>
            <a:ext cx="16305820" cy="1922145"/>
          </a:xfrm>
          <a:prstGeom prst="rect">
            <a:avLst/>
          </a:prstGeom>
        </p:spPr>
        <p:txBody>
          <a:bodyPr lIns="0" tIns="0" rIns="0" bIns="0" rtlCol="0" anchor="t">
            <a:spAutoFit/>
          </a:bodyPr>
          <a:lstStyle/>
          <a:p>
            <a:pPr algn="l">
              <a:lnSpc>
                <a:spcPts val="5220"/>
              </a:lnSpc>
            </a:pPr>
            <a:r>
              <a:rPr lang="en-US" sz="2900">
                <a:solidFill>
                  <a:srgbClr val="FFFFFF"/>
                </a:solidFill>
                <a:latin typeface="Open Sans"/>
                <a:ea typeface="Open Sans"/>
                <a:cs typeface="Open Sans"/>
                <a:sym typeface="Open Sans"/>
              </a:rPr>
              <a:t>An elevator pitch is a short, persuasive speech (typically 30–60 seconds) that explains what your organization does, why it matters, and what sets it apart, as if you had to pitch it during an elevator ride.</a:t>
            </a:r>
          </a:p>
        </p:txBody>
      </p:sp>
      <p:sp>
        <p:nvSpPr>
          <p:cNvPr id="9" name="TextBox 9"/>
          <p:cNvSpPr txBox="1"/>
          <p:nvPr/>
        </p:nvSpPr>
        <p:spPr>
          <a:xfrm>
            <a:off x="1660210" y="5387888"/>
            <a:ext cx="16878774" cy="5208270"/>
          </a:xfrm>
          <a:prstGeom prst="rect">
            <a:avLst/>
          </a:prstGeom>
        </p:spPr>
        <p:txBody>
          <a:bodyPr lIns="0" tIns="0" rIns="0" bIns="0" rtlCol="0" anchor="t">
            <a:spAutoFit/>
          </a:bodyPr>
          <a:lstStyle/>
          <a:p>
            <a:pPr algn="l">
              <a:lnSpc>
                <a:spcPts val="5220"/>
              </a:lnSpc>
            </a:pPr>
            <a:r>
              <a:rPr lang="en-US" sz="2900">
                <a:solidFill>
                  <a:srgbClr val="FFFFFF"/>
                </a:solidFill>
                <a:latin typeface="Open Sans"/>
                <a:ea typeface="Open Sans"/>
                <a:cs typeface="Open Sans"/>
                <a:sym typeface="Open Sans"/>
              </a:rPr>
              <a:t>A strong elevator pitch helps entrepreneurs:</a:t>
            </a:r>
          </a:p>
          <a:p>
            <a:pPr marL="626111" lvl="1" indent="-313055" algn="l">
              <a:lnSpc>
                <a:spcPts val="5220"/>
              </a:lnSpc>
              <a:buFont typeface="Arial"/>
              <a:buChar char="•"/>
            </a:pPr>
            <a:r>
              <a:rPr lang="en-US" sz="2900">
                <a:solidFill>
                  <a:srgbClr val="FFFFFF"/>
                </a:solidFill>
                <a:latin typeface="Open Sans"/>
                <a:ea typeface="Open Sans"/>
                <a:cs typeface="Open Sans"/>
                <a:sym typeface="Open Sans"/>
              </a:rPr>
              <a:t>Make a strong first impression with potential investors, donors, partners, or customers.</a:t>
            </a:r>
          </a:p>
          <a:p>
            <a:pPr marL="626111" lvl="1" indent="-313055" algn="l">
              <a:lnSpc>
                <a:spcPts val="5220"/>
              </a:lnSpc>
              <a:buFont typeface="Arial"/>
              <a:buChar char="•"/>
            </a:pPr>
            <a:r>
              <a:rPr lang="en-US" sz="2900">
                <a:solidFill>
                  <a:srgbClr val="FFFFFF"/>
                </a:solidFill>
                <a:latin typeface="Open Sans"/>
                <a:ea typeface="Open Sans"/>
                <a:cs typeface="Open Sans"/>
                <a:sym typeface="Open Sans"/>
              </a:rPr>
              <a:t>Clarify their value proposition and communicate with confidence.</a:t>
            </a:r>
          </a:p>
          <a:p>
            <a:pPr marL="626111" lvl="1" indent="-313055" algn="l">
              <a:lnSpc>
                <a:spcPts val="5220"/>
              </a:lnSpc>
              <a:buFont typeface="Arial"/>
              <a:buChar char="•"/>
            </a:pPr>
            <a:r>
              <a:rPr lang="en-US" sz="2900">
                <a:solidFill>
                  <a:srgbClr val="FFFFFF"/>
                </a:solidFill>
                <a:latin typeface="Open Sans"/>
                <a:ea typeface="Open Sans"/>
                <a:cs typeface="Open Sans"/>
                <a:sym typeface="Open Sans"/>
              </a:rPr>
              <a:t>Use a consistent message across pitches, presentations, and conversations.</a:t>
            </a:r>
          </a:p>
          <a:p>
            <a:pPr marL="626111" lvl="1" indent="-313055" algn="l">
              <a:lnSpc>
                <a:spcPts val="5220"/>
              </a:lnSpc>
              <a:buFont typeface="Arial"/>
              <a:buChar char="•"/>
            </a:pPr>
            <a:r>
              <a:rPr lang="en-US" sz="2900">
                <a:solidFill>
                  <a:srgbClr val="FFFFFF"/>
                </a:solidFill>
                <a:latin typeface="Open Sans"/>
                <a:ea typeface="Open Sans"/>
                <a:cs typeface="Open Sans"/>
                <a:sym typeface="Open Sans"/>
              </a:rPr>
              <a:t>Open doors to funding, collaboration, or support by sparking interest quickly.</a:t>
            </a:r>
          </a:p>
          <a:p>
            <a:pPr algn="l">
              <a:lnSpc>
                <a:spcPts val="5220"/>
              </a:lnSpc>
            </a:pPr>
            <a:endParaRPr lang="en-US" sz="2900">
              <a:solidFill>
                <a:srgbClr val="FFFFFF"/>
              </a:solidFill>
              <a:latin typeface="Open Sans"/>
              <a:ea typeface="Open Sans"/>
              <a:cs typeface="Open Sans"/>
              <a:sym typeface="Open Sans"/>
            </a:endParaRPr>
          </a:p>
          <a:p>
            <a:pPr algn="l">
              <a:lnSpc>
                <a:spcPts val="5220"/>
              </a:lnSpc>
            </a:pPr>
            <a:r>
              <a:rPr lang="en-US" sz="2900">
                <a:solidFill>
                  <a:srgbClr val="FFFFFF"/>
                </a:solidFill>
                <a:latin typeface="Open Sans"/>
                <a:ea typeface="Open Sans"/>
                <a:cs typeface="Open Sans"/>
                <a:sym typeface="Open Sans"/>
              </a:rPr>
              <a:t>Whether you’re in a boardroom, networking event, or casual encounter, a polished pitch gets people to say, “Tell me more.”</a:t>
            </a:r>
          </a:p>
        </p:txBody>
      </p:sp>
      <p:sp>
        <p:nvSpPr>
          <p:cNvPr id="10" name="TextBox 10"/>
          <p:cNvSpPr txBox="1"/>
          <p:nvPr/>
        </p:nvSpPr>
        <p:spPr>
          <a:xfrm>
            <a:off x="1660210" y="4545878"/>
            <a:ext cx="5176011" cy="613409"/>
          </a:xfrm>
          <a:prstGeom prst="rect">
            <a:avLst/>
          </a:prstGeom>
        </p:spPr>
        <p:txBody>
          <a:bodyPr lIns="0" tIns="0" rIns="0" bIns="0" rtlCol="0" anchor="t">
            <a:spAutoFit/>
          </a:bodyPr>
          <a:lstStyle/>
          <a:p>
            <a:pPr algn="l">
              <a:lnSpc>
                <a:spcPts val="5040"/>
              </a:lnSpc>
            </a:pPr>
            <a:r>
              <a:rPr lang="en-US" sz="3600">
                <a:solidFill>
                  <a:srgbClr val="FFFEFE"/>
                </a:solidFill>
                <a:latin typeface="League Spartan"/>
                <a:ea typeface="League Spartan"/>
                <a:cs typeface="League Spartan"/>
                <a:sym typeface="League Spartan"/>
              </a:rPr>
              <a:t>Why Is I</a:t>
            </a:r>
            <a:r>
              <a:rPr lang="en-US" sz="3600" b="1">
                <a:solidFill>
                  <a:srgbClr val="FFFEFE"/>
                </a:solidFill>
                <a:latin typeface="League Spartan"/>
                <a:ea typeface="League Spartan"/>
                <a:cs typeface="League Spartan"/>
                <a:sym typeface="League Spartan"/>
              </a:rPr>
              <a:t>t Important?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20091397" cy="11290297"/>
          </a:xfrm>
          <a:custGeom>
            <a:avLst/>
            <a:gdLst/>
            <a:ahLst/>
            <a:cxnLst/>
            <a:rect l="l" t="t" r="r" b="b"/>
            <a:pathLst>
              <a:path w="20091397" h="11290297">
                <a:moveTo>
                  <a:pt x="0" y="0"/>
                </a:moveTo>
                <a:lnTo>
                  <a:pt x="20091397" y="0"/>
                </a:lnTo>
                <a:lnTo>
                  <a:pt x="20091397" y="11290297"/>
                </a:lnTo>
                <a:lnTo>
                  <a:pt x="0" y="11290297"/>
                </a:lnTo>
                <a:lnTo>
                  <a:pt x="0" y="0"/>
                </a:lnTo>
                <a:close/>
              </a:path>
            </a:pathLst>
          </a:custGeom>
          <a:blipFill>
            <a:blip r:embed="rId2"/>
            <a:stretch>
              <a:fillRect r="-63" b="-168"/>
            </a:stretch>
          </a:blipFill>
        </p:spPr>
        <p:txBody>
          <a:bodyPr/>
          <a:lstStyle/>
          <a:p>
            <a:endParaRPr lang="en-GB"/>
          </a:p>
        </p:txBody>
      </p:sp>
      <p:sp>
        <p:nvSpPr>
          <p:cNvPr id="3" name="Freeform 3"/>
          <p:cNvSpPr/>
          <p:nvPr/>
        </p:nvSpPr>
        <p:spPr>
          <a:xfrm>
            <a:off x="0" y="0"/>
            <a:ext cx="20091397" cy="11290297"/>
          </a:xfrm>
          <a:custGeom>
            <a:avLst/>
            <a:gdLst/>
            <a:ahLst/>
            <a:cxnLst/>
            <a:rect l="l" t="t" r="r" b="b"/>
            <a:pathLst>
              <a:path w="20091397" h="11290297">
                <a:moveTo>
                  <a:pt x="0" y="0"/>
                </a:moveTo>
                <a:lnTo>
                  <a:pt x="20091397" y="0"/>
                </a:lnTo>
                <a:lnTo>
                  <a:pt x="20091397" y="11290297"/>
                </a:lnTo>
                <a:lnTo>
                  <a:pt x="0" y="1129029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4" name="Freeform 4"/>
          <p:cNvSpPr/>
          <p:nvPr/>
        </p:nvSpPr>
        <p:spPr>
          <a:xfrm>
            <a:off x="0" y="0"/>
            <a:ext cx="20091397" cy="11290297"/>
          </a:xfrm>
          <a:custGeom>
            <a:avLst/>
            <a:gdLst/>
            <a:ahLst/>
            <a:cxnLst/>
            <a:rect l="l" t="t" r="r" b="b"/>
            <a:pathLst>
              <a:path w="20091397" h="11290297">
                <a:moveTo>
                  <a:pt x="0" y="0"/>
                </a:moveTo>
                <a:lnTo>
                  <a:pt x="20091397" y="0"/>
                </a:lnTo>
                <a:lnTo>
                  <a:pt x="20091397" y="11290297"/>
                </a:lnTo>
                <a:lnTo>
                  <a:pt x="0" y="11290297"/>
                </a:lnTo>
                <a:lnTo>
                  <a:pt x="0" y="0"/>
                </a:lnTo>
                <a:close/>
              </a:path>
            </a:pathLst>
          </a:custGeom>
          <a:blipFill>
            <a:blip r:embed="rId5"/>
            <a:stretch>
              <a:fillRect t="-84" r="-12821" b="-84"/>
            </a:stretch>
          </a:blipFill>
        </p:spPr>
        <p:txBody>
          <a:bodyPr/>
          <a:lstStyle/>
          <a:p>
            <a:endParaRPr lang="en-GB"/>
          </a:p>
        </p:txBody>
      </p:sp>
      <p:sp>
        <p:nvSpPr>
          <p:cNvPr id="5" name="Freeform 5"/>
          <p:cNvSpPr/>
          <p:nvPr/>
        </p:nvSpPr>
        <p:spPr>
          <a:xfrm rot="5400000">
            <a:off x="-5077618" y="5083971"/>
            <a:ext cx="11283953" cy="1128708"/>
          </a:xfrm>
          <a:custGeom>
            <a:avLst/>
            <a:gdLst/>
            <a:ahLst/>
            <a:cxnLst/>
            <a:rect l="l" t="t" r="r" b="b"/>
            <a:pathLst>
              <a:path w="11283953" h="1128708">
                <a:moveTo>
                  <a:pt x="0" y="0"/>
                </a:moveTo>
                <a:lnTo>
                  <a:pt x="11283953" y="0"/>
                </a:lnTo>
                <a:lnTo>
                  <a:pt x="11283953" y="1128708"/>
                </a:lnTo>
                <a:lnTo>
                  <a:pt x="0" y="1128708"/>
                </a:lnTo>
                <a:lnTo>
                  <a:pt x="0" y="0"/>
                </a:lnTo>
                <a:close/>
              </a:path>
            </a:pathLst>
          </a:custGeom>
          <a:blipFill>
            <a:blip r:embed="rId6"/>
            <a:stretch>
              <a:fillRect t="-447163" r="-112" b="-453684"/>
            </a:stretch>
          </a:blipFill>
        </p:spPr>
        <p:txBody>
          <a:bodyPr/>
          <a:lstStyle/>
          <a:p>
            <a:endParaRPr lang="en-GB"/>
          </a:p>
        </p:txBody>
      </p:sp>
      <p:sp>
        <p:nvSpPr>
          <p:cNvPr id="6" name="TextBox 6"/>
          <p:cNvSpPr txBox="1"/>
          <p:nvPr/>
        </p:nvSpPr>
        <p:spPr>
          <a:xfrm>
            <a:off x="1660210" y="1042988"/>
            <a:ext cx="14371914" cy="688974"/>
          </a:xfrm>
          <a:prstGeom prst="rect">
            <a:avLst/>
          </a:prstGeom>
        </p:spPr>
        <p:txBody>
          <a:bodyPr lIns="0" tIns="0" rIns="0" bIns="0" rtlCol="0" anchor="t">
            <a:spAutoFit/>
          </a:bodyPr>
          <a:lstStyle/>
          <a:p>
            <a:pPr algn="l">
              <a:lnSpc>
                <a:spcPts val="5600"/>
              </a:lnSpc>
            </a:pPr>
            <a:r>
              <a:rPr lang="en-US" sz="4000">
                <a:solidFill>
                  <a:srgbClr val="FFFEFE"/>
                </a:solidFill>
                <a:latin typeface="League Spartan"/>
                <a:ea typeface="League Spartan"/>
                <a:cs typeface="League Spartan"/>
                <a:sym typeface="League Spartan"/>
              </a:rPr>
              <a:t>El</a:t>
            </a:r>
            <a:r>
              <a:rPr lang="en-US" sz="4000" b="1">
                <a:solidFill>
                  <a:srgbClr val="FFFEFE"/>
                </a:solidFill>
                <a:latin typeface="League Spartan"/>
                <a:ea typeface="League Spartan"/>
                <a:cs typeface="League Spartan"/>
                <a:sym typeface="League Spartan"/>
              </a:rPr>
              <a:t>evator Pitch Template: Guiding Questions</a:t>
            </a:r>
          </a:p>
        </p:txBody>
      </p:sp>
      <p:sp>
        <p:nvSpPr>
          <p:cNvPr id="7" name="TextBox 7"/>
          <p:cNvSpPr txBox="1"/>
          <p:nvPr/>
        </p:nvSpPr>
        <p:spPr>
          <a:xfrm>
            <a:off x="1660210" y="1716088"/>
            <a:ext cx="17299303" cy="1264920"/>
          </a:xfrm>
          <a:prstGeom prst="rect">
            <a:avLst/>
          </a:prstGeom>
        </p:spPr>
        <p:txBody>
          <a:bodyPr lIns="0" tIns="0" rIns="0" bIns="0" rtlCol="0" anchor="t">
            <a:spAutoFit/>
          </a:bodyPr>
          <a:lstStyle/>
          <a:p>
            <a:pPr algn="l">
              <a:lnSpc>
                <a:spcPts val="5220"/>
              </a:lnSpc>
            </a:pPr>
            <a:r>
              <a:rPr lang="en-US" sz="2900">
                <a:solidFill>
                  <a:srgbClr val="FFFFFF"/>
                </a:solidFill>
                <a:latin typeface="Open Sans"/>
                <a:ea typeface="Open Sans"/>
                <a:cs typeface="Open Sans"/>
                <a:sym typeface="Open Sans"/>
              </a:rPr>
              <a:t>Use the following 6-part framework to develop your pitch. Each section includes example questions to help you think clearly and concisely:</a:t>
            </a:r>
          </a:p>
        </p:txBody>
      </p:sp>
      <p:sp>
        <p:nvSpPr>
          <p:cNvPr id="8" name="TextBox 8"/>
          <p:cNvSpPr txBox="1"/>
          <p:nvPr/>
        </p:nvSpPr>
        <p:spPr>
          <a:xfrm>
            <a:off x="1660210" y="3518770"/>
            <a:ext cx="7758910" cy="523874"/>
          </a:xfrm>
          <a:prstGeom prst="rect">
            <a:avLst/>
          </a:prstGeom>
        </p:spPr>
        <p:txBody>
          <a:bodyPr lIns="0" tIns="0" rIns="0" bIns="0" rtlCol="0" anchor="t">
            <a:spAutoFit/>
          </a:bodyPr>
          <a:lstStyle/>
          <a:p>
            <a:pPr algn="l">
              <a:lnSpc>
                <a:spcPts val="4200"/>
              </a:lnSpc>
            </a:pPr>
            <a:r>
              <a:rPr lang="en-US" sz="3000">
                <a:solidFill>
                  <a:srgbClr val="FFFEFE"/>
                </a:solidFill>
                <a:latin typeface="League Spartan"/>
                <a:ea typeface="League Spartan"/>
                <a:cs typeface="League Spartan"/>
                <a:sym typeface="League Spartan"/>
              </a:rPr>
              <a:t>1. Who are you and what d</a:t>
            </a:r>
            <a:r>
              <a:rPr lang="en-US" sz="3000" b="1">
                <a:solidFill>
                  <a:srgbClr val="FFFEFE"/>
                </a:solidFill>
                <a:latin typeface="League Spartan"/>
                <a:ea typeface="League Spartan"/>
                <a:cs typeface="League Spartan"/>
                <a:sym typeface="League Spartan"/>
              </a:rPr>
              <a:t>o you do?</a:t>
            </a:r>
          </a:p>
        </p:txBody>
      </p:sp>
      <p:sp>
        <p:nvSpPr>
          <p:cNvPr id="9" name="TextBox 9"/>
          <p:cNvSpPr txBox="1"/>
          <p:nvPr/>
        </p:nvSpPr>
        <p:spPr>
          <a:xfrm>
            <a:off x="1660210" y="8261032"/>
            <a:ext cx="16210691" cy="1922145"/>
          </a:xfrm>
          <a:prstGeom prst="rect">
            <a:avLst/>
          </a:prstGeom>
        </p:spPr>
        <p:txBody>
          <a:bodyPr lIns="0" tIns="0" rIns="0" bIns="0" rtlCol="0" anchor="t">
            <a:spAutoFit/>
          </a:bodyPr>
          <a:lstStyle/>
          <a:p>
            <a:pPr algn="l">
              <a:lnSpc>
                <a:spcPts val="5220"/>
              </a:lnSpc>
            </a:pPr>
            <a:r>
              <a:rPr lang="en-US" sz="2900" b="1">
                <a:solidFill>
                  <a:srgbClr val="FFFFFF"/>
                </a:solidFill>
                <a:latin typeface="Open Sans Bold"/>
                <a:ea typeface="Open Sans Bold"/>
                <a:cs typeface="Open Sans Bold"/>
                <a:sym typeface="Open Sans Bold"/>
              </a:rPr>
              <a:t>Example (non-profit):</a:t>
            </a:r>
          </a:p>
          <a:p>
            <a:pPr algn="l">
              <a:lnSpc>
                <a:spcPts val="5220"/>
              </a:lnSpc>
            </a:pPr>
            <a:r>
              <a:rPr lang="en-US" sz="2900">
                <a:solidFill>
                  <a:srgbClr val="FFFFFF"/>
                </a:solidFill>
                <a:latin typeface="Open Sans"/>
                <a:ea typeface="Open Sans"/>
                <a:cs typeface="Open Sans"/>
                <a:sym typeface="Open Sans"/>
              </a:rPr>
              <a:t> “I’m James, founder of LiteracyBridge, a non-profit that helps rural youth in Kenya access learning tools through mobile libraries.”</a:t>
            </a:r>
          </a:p>
        </p:txBody>
      </p:sp>
      <p:sp>
        <p:nvSpPr>
          <p:cNvPr id="10" name="TextBox 10"/>
          <p:cNvSpPr txBox="1"/>
          <p:nvPr/>
        </p:nvSpPr>
        <p:spPr>
          <a:xfrm>
            <a:off x="1660210" y="4121770"/>
            <a:ext cx="17299303" cy="1264920"/>
          </a:xfrm>
          <a:prstGeom prst="rect">
            <a:avLst/>
          </a:prstGeom>
        </p:spPr>
        <p:txBody>
          <a:bodyPr lIns="0" tIns="0" rIns="0" bIns="0" rtlCol="0" anchor="t">
            <a:spAutoFit/>
          </a:bodyPr>
          <a:lstStyle/>
          <a:p>
            <a:pPr algn="l">
              <a:lnSpc>
                <a:spcPts val="5220"/>
              </a:lnSpc>
            </a:pPr>
            <a:r>
              <a:rPr lang="en-US" sz="2900" b="1">
                <a:solidFill>
                  <a:srgbClr val="08C8A1"/>
                </a:solidFill>
                <a:latin typeface="Open Sans Bold"/>
                <a:ea typeface="Open Sans Bold"/>
                <a:cs typeface="Open Sans Bold"/>
                <a:sym typeface="Open Sans Bold"/>
              </a:rPr>
              <a:t>What’s your name, organization, and core focus? What’s the name of your business or initiative? What’s your role or title? What’s your big-picture mission or business focus?</a:t>
            </a:r>
          </a:p>
        </p:txBody>
      </p:sp>
      <p:sp>
        <p:nvSpPr>
          <p:cNvPr id="11" name="TextBox 11"/>
          <p:cNvSpPr txBox="1"/>
          <p:nvPr/>
        </p:nvSpPr>
        <p:spPr>
          <a:xfrm>
            <a:off x="1660210" y="5724676"/>
            <a:ext cx="17299303" cy="1922145"/>
          </a:xfrm>
          <a:prstGeom prst="rect">
            <a:avLst/>
          </a:prstGeom>
        </p:spPr>
        <p:txBody>
          <a:bodyPr lIns="0" tIns="0" rIns="0" bIns="0" rtlCol="0" anchor="t">
            <a:spAutoFit/>
          </a:bodyPr>
          <a:lstStyle/>
          <a:p>
            <a:pPr algn="l">
              <a:lnSpc>
                <a:spcPts val="5220"/>
              </a:lnSpc>
            </a:pPr>
            <a:r>
              <a:rPr lang="en-US" sz="2900" b="1">
                <a:solidFill>
                  <a:srgbClr val="FFFFFF"/>
                </a:solidFill>
                <a:latin typeface="Open Sans Bold"/>
                <a:ea typeface="Open Sans Bold"/>
                <a:cs typeface="Open Sans Bold"/>
                <a:sym typeface="Open Sans Bold"/>
              </a:rPr>
              <a:t>Example (for-profit):</a:t>
            </a:r>
          </a:p>
          <a:p>
            <a:pPr algn="l">
              <a:lnSpc>
                <a:spcPts val="5220"/>
              </a:lnSpc>
            </a:pPr>
            <a:r>
              <a:rPr lang="en-US" sz="2900">
                <a:solidFill>
                  <a:srgbClr val="FFFFFF"/>
                </a:solidFill>
                <a:latin typeface="Open Sans"/>
                <a:ea typeface="Open Sans"/>
                <a:cs typeface="Open Sans"/>
                <a:sym typeface="Open Sans"/>
              </a:rPr>
              <a:t> “My name is Amina, and I run EcoPack, a company that produces biodegradable packaging for African food vendors.”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20091397" cy="11290297"/>
          </a:xfrm>
          <a:custGeom>
            <a:avLst/>
            <a:gdLst/>
            <a:ahLst/>
            <a:cxnLst/>
            <a:rect l="l" t="t" r="r" b="b"/>
            <a:pathLst>
              <a:path w="20091397" h="11290297">
                <a:moveTo>
                  <a:pt x="0" y="0"/>
                </a:moveTo>
                <a:lnTo>
                  <a:pt x="20091397" y="0"/>
                </a:lnTo>
                <a:lnTo>
                  <a:pt x="20091397" y="11290297"/>
                </a:lnTo>
                <a:lnTo>
                  <a:pt x="0" y="11290297"/>
                </a:lnTo>
                <a:lnTo>
                  <a:pt x="0" y="0"/>
                </a:lnTo>
                <a:close/>
              </a:path>
            </a:pathLst>
          </a:custGeom>
          <a:blipFill>
            <a:blip r:embed="rId2"/>
            <a:stretch>
              <a:fillRect r="-63" b="-168"/>
            </a:stretch>
          </a:blipFill>
        </p:spPr>
        <p:txBody>
          <a:bodyPr/>
          <a:lstStyle/>
          <a:p>
            <a:endParaRPr lang="en-GB"/>
          </a:p>
        </p:txBody>
      </p:sp>
      <p:sp>
        <p:nvSpPr>
          <p:cNvPr id="3" name="Freeform 3"/>
          <p:cNvSpPr/>
          <p:nvPr/>
        </p:nvSpPr>
        <p:spPr>
          <a:xfrm>
            <a:off x="0" y="0"/>
            <a:ext cx="20091397" cy="11290297"/>
          </a:xfrm>
          <a:custGeom>
            <a:avLst/>
            <a:gdLst/>
            <a:ahLst/>
            <a:cxnLst/>
            <a:rect l="l" t="t" r="r" b="b"/>
            <a:pathLst>
              <a:path w="20091397" h="11290297">
                <a:moveTo>
                  <a:pt x="0" y="0"/>
                </a:moveTo>
                <a:lnTo>
                  <a:pt x="20091397" y="0"/>
                </a:lnTo>
                <a:lnTo>
                  <a:pt x="20091397" y="11290297"/>
                </a:lnTo>
                <a:lnTo>
                  <a:pt x="0" y="1129029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4" name="Freeform 4"/>
          <p:cNvSpPr/>
          <p:nvPr/>
        </p:nvSpPr>
        <p:spPr>
          <a:xfrm>
            <a:off x="0" y="0"/>
            <a:ext cx="20091397" cy="11290297"/>
          </a:xfrm>
          <a:custGeom>
            <a:avLst/>
            <a:gdLst/>
            <a:ahLst/>
            <a:cxnLst/>
            <a:rect l="l" t="t" r="r" b="b"/>
            <a:pathLst>
              <a:path w="20091397" h="11290297">
                <a:moveTo>
                  <a:pt x="0" y="0"/>
                </a:moveTo>
                <a:lnTo>
                  <a:pt x="20091397" y="0"/>
                </a:lnTo>
                <a:lnTo>
                  <a:pt x="20091397" y="11290297"/>
                </a:lnTo>
                <a:lnTo>
                  <a:pt x="0" y="11290297"/>
                </a:lnTo>
                <a:lnTo>
                  <a:pt x="0" y="0"/>
                </a:lnTo>
                <a:close/>
              </a:path>
            </a:pathLst>
          </a:custGeom>
          <a:blipFill>
            <a:blip r:embed="rId5"/>
            <a:stretch>
              <a:fillRect t="-84" r="-12821" b="-84"/>
            </a:stretch>
          </a:blipFill>
        </p:spPr>
        <p:txBody>
          <a:bodyPr/>
          <a:lstStyle/>
          <a:p>
            <a:endParaRPr lang="en-GB"/>
          </a:p>
        </p:txBody>
      </p:sp>
      <p:sp>
        <p:nvSpPr>
          <p:cNvPr id="5" name="Freeform 5"/>
          <p:cNvSpPr/>
          <p:nvPr/>
        </p:nvSpPr>
        <p:spPr>
          <a:xfrm rot="5400000">
            <a:off x="-5077618" y="5083971"/>
            <a:ext cx="11283953" cy="1128708"/>
          </a:xfrm>
          <a:custGeom>
            <a:avLst/>
            <a:gdLst/>
            <a:ahLst/>
            <a:cxnLst/>
            <a:rect l="l" t="t" r="r" b="b"/>
            <a:pathLst>
              <a:path w="11283953" h="1128708">
                <a:moveTo>
                  <a:pt x="0" y="0"/>
                </a:moveTo>
                <a:lnTo>
                  <a:pt x="11283953" y="0"/>
                </a:lnTo>
                <a:lnTo>
                  <a:pt x="11283953" y="1128708"/>
                </a:lnTo>
                <a:lnTo>
                  <a:pt x="0" y="1128708"/>
                </a:lnTo>
                <a:lnTo>
                  <a:pt x="0" y="0"/>
                </a:lnTo>
                <a:close/>
              </a:path>
            </a:pathLst>
          </a:custGeom>
          <a:blipFill>
            <a:blip r:embed="rId6"/>
            <a:stretch>
              <a:fillRect t="-447163" r="-112" b="-453684"/>
            </a:stretch>
          </a:blipFill>
        </p:spPr>
        <p:txBody>
          <a:bodyPr/>
          <a:lstStyle/>
          <a:p>
            <a:endParaRPr lang="en-GB"/>
          </a:p>
        </p:txBody>
      </p:sp>
      <p:sp>
        <p:nvSpPr>
          <p:cNvPr id="6" name="TextBox 6"/>
          <p:cNvSpPr txBox="1"/>
          <p:nvPr/>
        </p:nvSpPr>
        <p:spPr>
          <a:xfrm>
            <a:off x="1660210" y="1042988"/>
            <a:ext cx="14371914" cy="688974"/>
          </a:xfrm>
          <a:prstGeom prst="rect">
            <a:avLst/>
          </a:prstGeom>
        </p:spPr>
        <p:txBody>
          <a:bodyPr lIns="0" tIns="0" rIns="0" bIns="0" rtlCol="0" anchor="t">
            <a:spAutoFit/>
          </a:bodyPr>
          <a:lstStyle/>
          <a:p>
            <a:pPr algn="l">
              <a:lnSpc>
                <a:spcPts val="5600"/>
              </a:lnSpc>
            </a:pPr>
            <a:r>
              <a:rPr lang="en-US" sz="4000">
                <a:solidFill>
                  <a:srgbClr val="FFFEFE"/>
                </a:solidFill>
                <a:latin typeface="League Spartan"/>
                <a:ea typeface="League Spartan"/>
                <a:cs typeface="League Spartan"/>
                <a:sym typeface="League Spartan"/>
              </a:rPr>
              <a:t>2. Wh</a:t>
            </a:r>
            <a:r>
              <a:rPr lang="en-US" sz="4000" b="1">
                <a:solidFill>
                  <a:srgbClr val="FFFEFE"/>
                </a:solidFill>
                <a:latin typeface="League Spartan"/>
                <a:ea typeface="League Spartan"/>
                <a:cs typeface="League Spartan"/>
                <a:sym typeface="League Spartan"/>
              </a:rPr>
              <a:t>at problem are you solving?</a:t>
            </a:r>
          </a:p>
        </p:txBody>
      </p:sp>
      <p:sp>
        <p:nvSpPr>
          <p:cNvPr id="7" name="TextBox 7"/>
          <p:cNvSpPr txBox="1"/>
          <p:nvPr/>
        </p:nvSpPr>
        <p:spPr>
          <a:xfrm>
            <a:off x="1660210" y="8161171"/>
            <a:ext cx="16210691" cy="1264920"/>
          </a:xfrm>
          <a:prstGeom prst="rect">
            <a:avLst/>
          </a:prstGeom>
        </p:spPr>
        <p:txBody>
          <a:bodyPr lIns="0" tIns="0" rIns="0" bIns="0" rtlCol="0" anchor="t">
            <a:spAutoFit/>
          </a:bodyPr>
          <a:lstStyle/>
          <a:p>
            <a:pPr algn="l">
              <a:lnSpc>
                <a:spcPts val="5220"/>
              </a:lnSpc>
            </a:pPr>
            <a:r>
              <a:rPr lang="en-US" sz="2900" b="1">
                <a:solidFill>
                  <a:srgbClr val="FFFFFF"/>
                </a:solidFill>
                <a:latin typeface="Open Sans Bold"/>
                <a:ea typeface="Open Sans Bold"/>
                <a:cs typeface="Open Sans Bold"/>
                <a:sym typeface="Open Sans Bold"/>
              </a:rPr>
              <a:t>Example (non-profit):</a:t>
            </a:r>
          </a:p>
          <a:p>
            <a:pPr algn="l">
              <a:lnSpc>
                <a:spcPts val="5220"/>
              </a:lnSpc>
            </a:pPr>
            <a:r>
              <a:rPr lang="en-US" sz="2900">
                <a:solidFill>
                  <a:srgbClr val="FFFFFF"/>
                </a:solidFill>
                <a:latin typeface="Open Sans"/>
                <a:ea typeface="Open Sans"/>
                <a:cs typeface="Open Sans"/>
                <a:sym typeface="Open Sans"/>
              </a:rPr>
              <a:t>“Millions of rural children lack access to books or literacy support, limiting their opportunities.”</a:t>
            </a:r>
          </a:p>
        </p:txBody>
      </p:sp>
      <p:sp>
        <p:nvSpPr>
          <p:cNvPr id="8" name="TextBox 8"/>
          <p:cNvSpPr txBox="1"/>
          <p:nvPr/>
        </p:nvSpPr>
        <p:spPr>
          <a:xfrm>
            <a:off x="1660210" y="1973194"/>
            <a:ext cx="17299303" cy="3236595"/>
          </a:xfrm>
          <a:prstGeom prst="rect">
            <a:avLst/>
          </a:prstGeom>
        </p:spPr>
        <p:txBody>
          <a:bodyPr lIns="0" tIns="0" rIns="0" bIns="0" rtlCol="0" anchor="t">
            <a:spAutoFit/>
          </a:bodyPr>
          <a:lstStyle/>
          <a:p>
            <a:pPr marL="626111" lvl="1" indent="-313055" algn="l">
              <a:lnSpc>
                <a:spcPts val="5220"/>
              </a:lnSpc>
              <a:buFont typeface="Arial"/>
              <a:buChar char="•"/>
            </a:pPr>
            <a:r>
              <a:rPr lang="en-US" sz="2900" b="1">
                <a:solidFill>
                  <a:srgbClr val="08C8A1"/>
                </a:solidFill>
                <a:latin typeface="Open Sans Bold"/>
                <a:ea typeface="Open Sans Bold"/>
                <a:cs typeface="Open Sans Bold"/>
                <a:sym typeface="Open Sans Bold"/>
              </a:rPr>
              <a:t>What major pain point or social issue do you address? (make it very specific and avoid generic problems)</a:t>
            </a:r>
          </a:p>
          <a:p>
            <a:pPr marL="626111" lvl="1" indent="-313055" algn="l">
              <a:lnSpc>
                <a:spcPts val="5220"/>
              </a:lnSpc>
              <a:buFont typeface="Arial"/>
              <a:buChar char="•"/>
            </a:pPr>
            <a:r>
              <a:rPr lang="en-US" sz="2900" b="1">
                <a:solidFill>
                  <a:srgbClr val="08C8A1"/>
                </a:solidFill>
                <a:latin typeface="Open Sans Bold"/>
                <a:ea typeface="Open Sans Bold"/>
                <a:cs typeface="Open Sans Bold"/>
                <a:sym typeface="Open Sans Bold"/>
              </a:rPr>
              <a:t>Why does your organization need to exist? (what aren’t other organisations doing?)</a:t>
            </a:r>
          </a:p>
          <a:p>
            <a:pPr marL="626111" lvl="1" indent="-313055" algn="l">
              <a:lnSpc>
                <a:spcPts val="5220"/>
              </a:lnSpc>
              <a:buFont typeface="Arial"/>
              <a:buChar char="•"/>
            </a:pPr>
            <a:r>
              <a:rPr lang="en-US" sz="2900" b="1">
                <a:solidFill>
                  <a:srgbClr val="08C8A1"/>
                </a:solidFill>
                <a:latin typeface="Open Sans Bold"/>
                <a:ea typeface="Open Sans Bold"/>
                <a:cs typeface="Open Sans Bold"/>
                <a:sym typeface="Open Sans Bold"/>
              </a:rPr>
              <a:t>Who is affected by this problem?</a:t>
            </a:r>
          </a:p>
          <a:p>
            <a:pPr marL="626111" lvl="1" indent="-313055" algn="l">
              <a:lnSpc>
                <a:spcPts val="5220"/>
              </a:lnSpc>
              <a:buFont typeface="Arial"/>
              <a:buChar char="•"/>
            </a:pPr>
            <a:r>
              <a:rPr lang="en-US" sz="2900" b="1">
                <a:solidFill>
                  <a:srgbClr val="08C8A1"/>
                </a:solidFill>
                <a:latin typeface="Open Sans Bold"/>
                <a:ea typeface="Open Sans Bold"/>
                <a:cs typeface="Open Sans Bold"/>
                <a:sym typeface="Open Sans Bold"/>
              </a:rPr>
              <a:t>Why is it urgent or important?</a:t>
            </a:r>
          </a:p>
        </p:txBody>
      </p:sp>
      <p:sp>
        <p:nvSpPr>
          <p:cNvPr id="9" name="TextBox 9"/>
          <p:cNvSpPr txBox="1"/>
          <p:nvPr/>
        </p:nvSpPr>
        <p:spPr>
          <a:xfrm>
            <a:off x="1660210" y="5724676"/>
            <a:ext cx="17299303" cy="1922145"/>
          </a:xfrm>
          <a:prstGeom prst="rect">
            <a:avLst/>
          </a:prstGeom>
        </p:spPr>
        <p:txBody>
          <a:bodyPr lIns="0" tIns="0" rIns="0" bIns="0" rtlCol="0" anchor="t">
            <a:spAutoFit/>
          </a:bodyPr>
          <a:lstStyle/>
          <a:p>
            <a:pPr algn="l">
              <a:lnSpc>
                <a:spcPts val="5220"/>
              </a:lnSpc>
            </a:pPr>
            <a:r>
              <a:rPr lang="en-US" sz="2900" b="1">
                <a:solidFill>
                  <a:srgbClr val="FFFFFF"/>
                </a:solidFill>
                <a:latin typeface="Open Sans Bold"/>
                <a:ea typeface="Open Sans Bold"/>
                <a:cs typeface="Open Sans Bold"/>
                <a:sym typeface="Open Sans Bold"/>
              </a:rPr>
              <a:t>Example (for-profit):</a:t>
            </a:r>
          </a:p>
          <a:p>
            <a:pPr algn="l">
              <a:lnSpc>
                <a:spcPts val="5220"/>
              </a:lnSpc>
            </a:pPr>
            <a:r>
              <a:rPr lang="en-US" sz="2900">
                <a:solidFill>
                  <a:srgbClr val="FFFFFF"/>
                </a:solidFill>
                <a:latin typeface="Open Sans"/>
                <a:ea typeface="Open Sans"/>
                <a:cs typeface="Open Sans"/>
                <a:sym typeface="Open Sans"/>
              </a:rPr>
              <a:t>“Plastic pollution is choking African cities, and most vendors don’t have access to sustainable packaging.”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20091397" cy="11290297"/>
          </a:xfrm>
          <a:custGeom>
            <a:avLst/>
            <a:gdLst/>
            <a:ahLst/>
            <a:cxnLst/>
            <a:rect l="l" t="t" r="r" b="b"/>
            <a:pathLst>
              <a:path w="20091397" h="11290297">
                <a:moveTo>
                  <a:pt x="0" y="0"/>
                </a:moveTo>
                <a:lnTo>
                  <a:pt x="20091397" y="0"/>
                </a:lnTo>
                <a:lnTo>
                  <a:pt x="20091397" y="11290297"/>
                </a:lnTo>
                <a:lnTo>
                  <a:pt x="0" y="11290297"/>
                </a:lnTo>
                <a:lnTo>
                  <a:pt x="0" y="0"/>
                </a:lnTo>
                <a:close/>
              </a:path>
            </a:pathLst>
          </a:custGeom>
          <a:blipFill>
            <a:blip r:embed="rId2"/>
            <a:stretch>
              <a:fillRect r="-63" b="-168"/>
            </a:stretch>
          </a:blipFill>
        </p:spPr>
        <p:txBody>
          <a:bodyPr/>
          <a:lstStyle/>
          <a:p>
            <a:endParaRPr lang="en-GB"/>
          </a:p>
        </p:txBody>
      </p:sp>
      <p:sp>
        <p:nvSpPr>
          <p:cNvPr id="3" name="Freeform 3"/>
          <p:cNvSpPr/>
          <p:nvPr/>
        </p:nvSpPr>
        <p:spPr>
          <a:xfrm>
            <a:off x="0" y="0"/>
            <a:ext cx="20091397" cy="11290297"/>
          </a:xfrm>
          <a:custGeom>
            <a:avLst/>
            <a:gdLst/>
            <a:ahLst/>
            <a:cxnLst/>
            <a:rect l="l" t="t" r="r" b="b"/>
            <a:pathLst>
              <a:path w="20091397" h="11290297">
                <a:moveTo>
                  <a:pt x="0" y="0"/>
                </a:moveTo>
                <a:lnTo>
                  <a:pt x="20091397" y="0"/>
                </a:lnTo>
                <a:lnTo>
                  <a:pt x="20091397" y="11290297"/>
                </a:lnTo>
                <a:lnTo>
                  <a:pt x="0" y="1129029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4" name="Freeform 4"/>
          <p:cNvSpPr/>
          <p:nvPr/>
        </p:nvSpPr>
        <p:spPr>
          <a:xfrm>
            <a:off x="0" y="0"/>
            <a:ext cx="20091397" cy="11290297"/>
          </a:xfrm>
          <a:custGeom>
            <a:avLst/>
            <a:gdLst/>
            <a:ahLst/>
            <a:cxnLst/>
            <a:rect l="l" t="t" r="r" b="b"/>
            <a:pathLst>
              <a:path w="20091397" h="11290297">
                <a:moveTo>
                  <a:pt x="0" y="0"/>
                </a:moveTo>
                <a:lnTo>
                  <a:pt x="20091397" y="0"/>
                </a:lnTo>
                <a:lnTo>
                  <a:pt x="20091397" y="11290297"/>
                </a:lnTo>
                <a:lnTo>
                  <a:pt x="0" y="11290297"/>
                </a:lnTo>
                <a:lnTo>
                  <a:pt x="0" y="0"/>
                </a:lnTo>
                <a:close/>
              </a:path>
            </a:pathLst>
          </a:custGeom>
          <a:blipFill>
            <a:blip r:embed="rId5"/>
            <a:stretch>
              <a:fillRect t="-84" r="-12821" b="-84"/>
            </a:stretch>
          </a:blipFill>
        </p:spPr>
        <p:txBody>
          <a:bodyPr/>
          <a:lstStyle/>
          <a:p>
            <a:endParaRPr lang="en-GB"/>
          </a:p>
        </p:txBody>
      </p:sp>
      <p:sp>
        <p:nvSpPr>
          <p:cNvPr id="5" name="Freeform 5"/>
          <p:cNvSpPr/>
          <p:nvPr/>
        </p:nvSpPr>
        <p:spPr>
          <a:xfrm rot="5400000">
            <a:off x="-5077618" y="5083971"/>
            <a:ext cx="11283953" cy="1128708"/>
          </a:xfrm>
          <a:custGeom>
            <a:avLst/>
            <a:gdLst/>
            <a:ahLst/>
            <a:cxnLst/>
            <a:rect l="l" t="t" r="r" b="b"/>
            <a:pathLst>
              <a:path w="11283953" h="1128708">
                <a:moveTo>
                  <a:pt x="0" y="0"/>
                </a:moveTo>
                <a:lnTo>
                  <a:pt x="11283953" y="0"/>
                </a:lnTo>
                <a:lnTo>
                  <a:pt x="11283953" y="1128708"/>
                </a:lnTo>
                <a:lnTo>
                  <a:pt x="0" y="1128708"/>
                </a:lnTo>
                <a:lnTo>
                  <a:pt x="0" y="0"/>
                </a:lnTo>
                <a:close/>
              </a:path>
            </a:pathLst>
          </a:custGeom>
          <a:blipFill>
            <a:blip r:embed="rId6"/>
            <a:stretch>
              <a:fillRect t="-447163" r="-112" b="-453684"/>
            </a:stretch>
          </a:blipFill>
        </p:spPr>
        <p:txBody>
          <a:bodyPr/>
          <a:lstStyle/>
          <a:p>
            <a:endParaRPr lang="en-GB"/>
          </a:p>
        </p:txBody>
      </p:sp>
      <p:sp>
        <p:nvSpPr>
          <p:cNvPr id="6" name="TextBox 6"/>
          <p:cNvSpPr txBox="1"/>
          <p:nvPr/>
        </p:nvSpPr>
        <p:spPr>
          <a:xfrm>
            <a:off x="1660210" y="1042988"/>
            <a:ext cx="14371914" cy="688974"/>
          </a:xfrm>
          <a:prstGeom prst="rect">
            <a:avLst/>
          </a:prstGeom>
        </p:spPr>
        <p:txBody>
          <a:bodyPr lIns="0" tIns="0" rIns="0" bIns="0" rtlCol="0" anchor="t">
            <a:spAutoFit/>
          </a:bodyPr>
          <a:lstStyle/>
          <a:p>
            <a:pPr algn="l">
              <a:lnSpc>
                <a:spcPts val="5600"/>
              </a:lnSpc>
            </a:pPr>
            <a:r>
              <a:rPr lang="en-US" sz="4000">
                <a:solidFill>
                  <a:srgbClr val="FFFEFE"/>
                </a:solidFill>
                <a:latin typeface="League Spartan"/>
                <a:ea typeface="League Spartan"/>
                <a:cs typeface="League Spartan"/>
                <a:sym typeface="League Spartan"/>
              </a:rPr>
              <a:t>3. Wh</a:t>
            </a:r>
            <a:r>
              <a:rPr lang="en-US" sz="4000" b="1">
                <a:solidFill>
                  <a:srgbClr val="FFFEFE"/>
                </a:solidFill>
                <a:latin typeface="League Spartan"/>
                <a:ea typeface="League Spartan"/>
                <a:cs typeface="League Spartan"/>
                <a:sym typeface="League Spartan"/>
              </a:rPr>
              <a:t>at is your solution?</a:t>
            </a:r>
          </a:p>
        </p:txBody>
      </p:sp>
      <p:sp>
        <p:nvSpPr>
          <p:cNvPr id="7" name="TextBox 7"/>
          <p:cNvSpPr txBox="1"/>
          <p:nvPr/>
        </p:nvSpPr>
        <p:spPr>
          <a:xfrm>
            <a:off x="1660210" y="7616720"/>
            <a:ext cx="16210691" cy="1922145"/>
          </a:xfrm>
          <a:prstGeom prst="rect">
            <a:avLst/>
          </a:prstGeom>
        </p:spPr>
        <p:txBody>
          <a:bodyPr lIns="0" tIns="0" rIns="0" bIns="0" rtlCol="0" anchor="t">
            <a:spAutoFit/>
          </a:bodyPr>
          <a:lstStyle/>
          <a:p>
            <a:pPr algn="l">
              <a:lnSpc>
                <a:spcPts val="5220"/>
              </a:lnSpc>
            </a:pPr>
            <a:r>
              <a:rPr lang="en-US" sz="2900" b="1">
                <a:solidFill>
                  <a:srgbClr val="FFFFFF"/>
                </a:solidFill>
                <a:latin typeface="Open Sans Bold"/>
                <a:ea typeface="Open Sans Bold"/>
                <a:cs typeface="Open Sans Bold"/>
                <a:sym typeface="Open Sans Bold"/>
              </a:rPr>
              <a:t>Example (non-profit):</a:t>
            </a:r>
          </a:p>
          <a:p>
            <a:pPr algn="l">
              <a:lnSpc>
                <a:spcPts val="5220"/>
              </a:lnSpc>
            </a:pPr>
            <a:r>
              <a:rPr lang="en-US" sz="2900">
                <a:solidFill>
                  <a:srgbClr val="FFFFFF"/>
                </a:solidFill>
                <a:latin typeface="Open Sans"/>
                <a:ea typeface="Open Sans"/>
                <a:cs typeface="Open Sans"/>
                <a:sym typeface="Open Sans"/>
              </a:rPr>
              <a:t>“We run solar-powered mobile libraries that reach remote villages, giving kids weekly access to books and reading sessions.”</a:t>
            </a:r>
          </a:p>
        </p:txBody>
      </p:sp>
      <p:sp>
        <p:nvSpPr>
          <p:cNvPr id="8" name="TextBox 8"/>
          <p:cNvSpPr txBox="1"/>
          <p:nvPr/>
        </p:nvSpPr>
        <p:spPr>
          <a:xfrm>
            <a:off x="1660210" y="1973194"/>
            <a:ext cx="17299303" cy="2579370"/>
          </a:xfrm>
          <a:prstGeom prst="rect">
            <a:avLst/>
          </a:prstGeom>
        </p:spPr>
        <p:txBody>
          <a:bodyPr lIns="0" tIns="0" rIns="0" bIns="0" rtlCol="0" anchor="t">
            <a:spAutoFit/>
          </a:bodyPr>
          <a:lstStyle/>
          <a:p>
            <a:pPr marL="626111" lvl="1" indent="-313055" algn="l">
              <a:lnSpc>
                <a:spcPts val="5220"/>
              </a:lnSpc>
              <a:buFont typeface="Arial"/>
              <a:buChar char="•"/>
            </a:pPr>
            <a:r>
              <a:rPr lang="en-US" sz="2900" b="1">
                <a:solidFill>
                  <a:srgbClr val="08C8A1"/>
                </a:solidFill>
                <a:latin typeface="Open Sans Bold"/>
                <a:ea typeface="Open Sans Bold"/>
                <a:cs typeface="Open Sans Bold"/>
                <a:sym typeface="Open Sans Bold"/>
              </a:rPr>
              <a:t>What product, service, or program do you offer?</a:t>
            </a:r>
          </a:p>
          <a:p>
            <a:pPr marL="626111" lvl="1" indent="-313055" algn="l">
              <a:lnSpc>
                <a:spcPts val="5220"/>
              </a:lnSpc>
              <a:buFont typeface="Arial"/>
              <a:buChar char="•"/>
            </a:pPr>
            <a:r>
              <a:rPr lang="en-US" sz="2900" b="1">
                <a:solidFill>
                  <a:srgbClr val="08C8A1"/>
                </a:solidFill>
                <a:latin typeface="Open Sans Bold"/>
                <a:ea typeface="Open Sans Bold"/>
                <a:cs typeface="Open Sans Bold"/>
                <a:sym typeface="Open Sans Bold"/>
              </a:rPr>
              <a:t>What do you do that solves the problem? </a:t>
            </a:r>
          </a:p>
          <a:p>
            <a:pPr marL="626111" lvl="1" indent="-313055" algn="l">
              <a:lnSpc>
                <a:spcPts val="5220"/>
              </a:lnSpc>
              <a:buFont typeface="Arial"/>
              <a:buChar char="•"/>
            </a:pPr>
            <a:r>
              <a:rPr lang="en-US" sz="2900" b="1">
                <a:solidFill>
                  <a:srgbClr val="08C8A1"/>
                </a:solidFill>
                <a:latin typeface="Open Sans Bold"/>
                <a:ea typeface="Open Sans Bold"/>
                <a:cs typeface="Open Sans Bold"/>
                <a:sym typeface="Open Sans Bold"/>
              </a:rPr>
              <a:t>How does your product or service work to solve the identified problem?</a:t>
            </a:r>
          </a:p>
          <a:p>
            <a:pPr marL="626111" lvl="1" indent="-313055" algn="l">
              <a:lnSpc>
                <a:spcPts val="5220"/>
              </a:lnSpc>
              <a:buFont typeface="Arial"/>
              <a:buChar char="•"/>
            </a:pPr>
            <a:r>
              <a:rPr lang="en-US" sz="2900" b="1">
                <a:solidFill>
                  <a:srgbClr val="08C8A1"/>
                </a:solidFill>
                <a:latin typeface="Open Sans Bold"/>
                <a:ea typeface="Open Sans Bold"/>
                <a:cs typeface="Open Sans Bold"/>
                <a:sym typeface="Open Sans Bold"/>
              </a:rPr>
              <a:t>What’s your unique or innovative approach? </a:t>
            </a:r>
          </a:p>
        </p:txBody>
      </p:sp>
      <p:sp>
        <p:nvSpPr>
          <p:cNvPr id="9" name="TextBox 9"/>
          <p:cNvSpPr txBox="1"/>
          <p:nvPr/>
        </p:nvSpPr>
        <p:spPr>
          <a:xfrm>
            <a:off x="1660210" y="5123075"/>
            <a:ext cx="17299303" cy="1922145"/>
          </a:xfrm>
          <a:prstGeom prst="rect">
            <a:avLst/>
          </a:prstGeom>
        </p:spPr>
        <p:txBody>
          <a:bodyPr lIns="0" tIns="0" rIns="0" bIns="0" rtlCol="0" anchor="t">
            <a:spAutoFit/>
          </a:bodyPr>
          <a:lstStyle/>
          <a:p>
            <a:pPr algn="l">
              <a:lnSpc>
                <a:spcPts val="5220"/>
              </a:lnSpc>
            </a:pPr>
            <a:r>
              <a:rPr lang="en-US" sz="2900" b="1">
                <a:solidFill>
                  <a:srgbClr val="FFFFFF"/>
                </a:solidFill>
                <a:latin typeface="Open Sans Bold"/>
                <a:ea typeface="Open Sans Bold"/>
                <a:cs typeface="Open Sans Bold"/>
                <a:sym typeface="Open Sans Bold"/>
              </a:rPr>
              <a:t>Example (for-profit):</a:t>
            </a:r>
          </a:p>
          <a:p>
            <a:pPr algn="l">
              <a:lnSpc>
                <a:spcPts val="5220"/>
              </a:lnSpc>
            </a:pPr>
            <a:r>
              <a:rPr lang="en-US" sz="2900">
                <a:solidFill>
                  <a:srgbClr val="FFFFFF"/>
                </a:solidFill>
                <a:latin typeface="Open Sans"/>
                <a:ea typeface="Open Sans"/>
                <a:cs typeface="Open Sans"/>
                <a:sym typeface="Open Sans"/>
              </a:rPr>
              <a:t>“We manufacture affordable, compostable packaging made from local crop waste, tailored for small businesses.”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20091397" cy="11290297"/>
          </a:xfrm>
          <a:custGeom>
            <a:avLst/>
            <a:gdLst/>
            <a:ahLst/>
            <a:cxnLst/>
            <a:rect l="l" t="t" r="r" b="b"/>
            <a:pathLst>
              <a:path w="20091397" h="11290297">
                <a:moveTo>
                  <a:pt x="0" y="0"/>
                </a:moveTo>
                <a:lnTo>
                  <a:pt x="20091397" y="0"/>
                </a:lnTo>
                <a:lnTo>
                  <a:pt x="20091397" y="11290297"/>
                </a:lnTo>
                <a:lnTo>
                  <a:pt x="0" y="11290297"/>
                </a:lnTo>
                <a:lnTo>
                  <a:pt x="0" y="0"/>
                </a:lnTo>
                <a:close/>
              </a:path>
            </a:pathLst>
          </a:custGeom>
          <a:blipFill>
            <a:blip r:embed="rId2"/>
            <a:stretch>
              <a:fillRect r="-63" b="-168"/>
            </a:stretch>
          </a:blipFill>
        </p:spPr>
        <p:txBody>
          <a:bodyPr/>
          <a:lstStyle/>
          <a:p>
            <a:endParaRPr lang="en-GB"/>
          </a:p>
        </p:txBody>
      </p:sp>
      <p:sp>
        <p:nvSpPr>
          <p:cNvPr id="3" name="Freeform 3"/>
          <p:cNvSpPr/>
          <p:nvPr/>
        </p:nvSpPr>
        <p:spPr>
          <a:xfrm>
            <a:off x="0" y="0"/>
            <a:ext cx="20091397" cy="11290297"/>
          </a:xfrm>
          <a:custGeom>
            <a:avLst/>
            <a:gdLst/>
            <a:ahLst/>
            <a:cxnLst/>
            <a:rect l="l" t="t" r="r" b="b"/>
            <a:pathLst>
              <a:path w="20091397" h="11290297">
                <a:moveTo>
                  <a:pt x="0" y="0"/>
                </a:moveTo>
                <a:lnTo>
                  <a:pt x="20091397" y="0"/>
                </a:lnTo>
                <a:lnTo>
                  <a:pt x="20091397" y="11290297"/>
                </a:lnTo>
                <a:lnTo>
                  <a:pt x="0" y="1129029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4" name="Freeform 4"/>
          <p:cNvSpPr/>
          <p:nvPr/>
        </p:nvSpPr>
        <p:spPr>
          <a:xfrm>
            <a:off x="0" y="0"/>
            <a:ext cx="20091397" cy="11290297"/>
          </a:xfrm>
          <a:custGeom>
            <a:avLst/>
            <a:gdLst/>
            <a:ahLst/>
            <a:cxnLst/>
            <a:rect l="l" t="t" r="r" b="b"/>
            <a:pathLst>
              <a:path w="20091397" h="11290297">
                <a:moveTo>
                  <a:pt x="0" y="0"/>
                </a:moveTo>
                <a:lnTo>
                  <a:pt x="20091397" y="0"/>
                </a:lnTo>
                <a:lnTo>
                  <a:pt x="20091397" y="11290297"/>
                </a:lnTo>
                <a:lnTo>
                  <a:pt x="0" y="11290297"/>
                </a:lnTo>
                <a:lnTo>
                  <a:pt x="0" y="0"/>
                </a:lnTo>
                <a:close/>
              </a:path>
            </a:pathLst>
          </a:custGeom>
          <a:blipFill>
            <a:blip r:embed="rId5"/>
            <a:stretch>
              <a:fillRect t="-84" r="-12821" b="-84"/>
            </a:stretch>
          </a:blipFill>
        </p:spPr>
        <p:txBody>
          <a:bodyPr/>
          <a:lstStyle/>
          <a:p>
            <a:endParaRPr lang="en-GB"/>
          </a:p>
        </p:txBody>
      </p:sp>
      <p:sp>
        <p:nvSpPr>
          <p:cNvPr id="5" name="Freeform 5"/>
          <p:cNvSpPr/>
          <p:nvPr/>
        </p:nvSpPr>
        <p:spPr>
          <a:xfrm rot="5400000">
            <a:off x="-5077618" y="5083971"/>
            <a:ext cx="11283953" cy="1128708"/>
          </a:xfrm>
          <a:custGeom>
            <a:avLst/>
            <a:gdLst/>
            <a:ahLst/>
            <a:cxnLst/>
            <a:rect l="l" t="t" r="r" b="b"/>
            <a:pathLst>
              <a:path w="11283953" h="1128708">
                <a:moveTo>
                  <a:pt x="0" y="0"/>
                </a:moveTo>
                <a:lnTo>
                  <a:pt x="11283953" y="0"/>
                </a:lnTo>
                <a:lnTo>
                  <a:pt x="11283953" y="1128708"/>
                </a:lnTo>
                <a:lnTo>
                  <a:pt x="0" y="1128708"/>
                </a:lnTo>
                <a:lnTo>
                  <a:pt x="0" y="0"/>
                </a:lnTo>
                <a:close/>
              </a:path>
            </a:pathLst>
          </a:custGeom>
          <a:blipFill>
            <a:blip r:embed="rId6"/>
            <a:stretch>
              <a:fillRect t="-447163" r="-112" b="-453684"/>
            </a:stretch>
          </a:blipFill>
        </p:spPr>
        <p:txBody>
          <a:bodyPr/>
          <a:lstStyle/>
          <a:p>
            <a:endParaRPr lang="en-GB"/>
          </a:p>
        </p:txBody>
      </p:sp>
      <p:sp>
        <p:nvSpPr>
          <p:cNvPr id="6" name="TextBox 6"/>
          <p:cNvSpPr txBox="1"/>
          <p:nvPr/>
        </p:nvSpPr>
        <p:spPr>
          <a:xfrm>
            <a:off x="1660210" y="1042988"/>
            <a:ext cx="14371914" cy="688974"/>
          </a:xfrm>
          <a:prstGeom prst="rect">
            <a:avLst/>
          </a:prstGeom>
        </p:spPr>
        <p:txBody>
          <a:bodyPr lIns="0" tIns="0" rIns="0" bIns="0" rtlCol="0" anchor="t">
            <a:spAutoFit/>
          </a:bodyPr>
          <a:lstStyle/>
          <a:p>
            <a:pPr algn="l">
              <a:lnSpc>
                <a:spcPts val="5600"/>
              </a:lnSpc>
            </a:pPr>
            <a:r>
              <a:rPr lang="en-US" sz="4000">
                <a:solidFill>
                  <a:srgbClr val="FFFEFE"/>
                </a:solidFill>
                <a:latin typeface="League Spartan"/>
                <a:ea typeface="League Spartan"/>
                <a:cs typeface="League Spartan"/>
                <a:sym typeface="League Spartan"/>
              </a:rPr>
              <a:t>4. Who </a:t>
            </a:r>
            <a:r>
              <a:rPr lang="en-US" sz="4000" b="1">
                <a:solidFill>
                  <a:srgbClr val="FFFEFE"/>
                </a:solidFill>
                <a:latin typeface="League Spartan"/>
                <a:ea typeface="League Spartan"/>
                <a:cs typeface="League Spartan"/>
                <a:sym typeface="League Spartan"/>
              </a:rPr>
              <a:t>are you helping or serving?</a:t>
            </a:r>
          </a:p>
        </p:txBody>
      </p:sp>
      <p:sp>
        <p:nvSpPr>
          <p:cNvPr id="7" name="TextBox 7"/>
          <p:cNvSpPr txBox="1"/>
          <p:nvPr/>
        </p:nvSpPr>
        <p:spPr>
          <a:xfrm>
            <a:off x="1660210" y="7616720"/>
            <a:ext cx="16210691" cy="1922145"/>
          </a:xfrm>
          <a:prstGeom prst="rect">
            <a:avLst/>
          </a:prstGeom>
        </p:spPr>
        <p:txBody>
          <a:bodyPr lIns="0" tIns="0" rIns="0" bIns="0" rtlCol="0" anchor="t">
            <a:spAutoFit/>
          </a:bodyPr>
          <a:lstStyle/>
          <a:p>
            <a:pPr algn="l">
              <a:lnSpc>
                <a:spcPts val="5220"/>
              </a:lnSpc>
            </a:pPr>
            <a:r>
              <a:rPr lang="en-US" sz="2900" b="1">
                <a:solidFill>
                  <a:srgbClr val="FFFFFF"/>
                </a:solidFill>
                <a:latin typeface="Open Sans Bold"/>
                <a:ea typeface="Open Sans Bold"/>
                <a:cs typeface="Open Sans Bold"/>
                <a:sym typeface="Open Sans Bold"/>
              </a:rPr>
              <a:t>Example (non-profit):</a:t>
            </a:r>
          </a:p>
          <a:p>
            <a:pPr algn="l">
              <a:lnSpc>
                <a:spcPts val="5220"/>
              </a:lnSpc>
            </a:pPr>
            <a:r>
              <a:rPr lang="en-US" sz="2900">
                <a:solidFill>
                  <a:srgbClr val="FFFFFF"/>
                </a:solidFill>
                <a:latin typeface="Open Sans"/>
                <a:ea typeface="Open Sans"/>
                <a:cs typeface="Open Sans"/>
                <a:sym typeface="Open Sans"/>
              </a:rPr>
              <a:t>“We serve children aged 6–14 in off-grid communities with little to no access to formal education resources.”</a:t>
            </a:r>
          </a:p>
        </p:txBody>
      </p:sp>
      <p:sp>
        <p:nvSpPr>
          <p:cNvPr id="8" name="TextBox 8"/>
          <p:cNvSpPr txBox="1"/>
          <p:nvPr/>
        </p:nvSpPr>
        <p:spPr>
          <a:xfrm>
            <a:off x="1660210" y="1973194"/>
            <a:ext cx="17299303" cy="2579370"/>
          </a:xfrm>
          <a:prstGeom prst="rect">
            <a:avLst/>
          </a:prstGeom>
        </p:spPr>
        <p:txBody>
          <a:bodyPr lIns="0" tIns="0" rIns="0" bIns="0" rtlCol="0" anchor="t">
            <a:spAutoFit/>
          </a:bodyPr>
          <a:lstStyle/>
          <a:p>
            <a:pPr marL="626111" lvl="1" indent="-313055" algn="l">
              <a:lnSpc>
                <a:spcPts val="5220"/>
              </a:lnSpc>
              <a:buFont typeface="Arial"/>
              <a:buChar char="•"/>
            </a:pPr>
            <a:r>
              <a:rPr lang="en-US" sz="2900" b="1">
                <a:solidFill>
                  <a:srgbClr val="08C8A1"/>
                </a:solidFill>
                <a:latin typeface="Open Sans Bold"/>
                <a:ea typeface="Open Sans Bold"/>
                <a:cs typeface="Open Sans Bold"/>
                <a:sym typeface="Open Sans Bold"/>
              </a:rPr>
              <a:t>Who is your customer or beneficiary?</a:t>
            </a:r>
          </a:p>
          <a:p>
            <a:pPr marL="626111" lvl="1" indent="-313055" algn="l">
              <a:lnSpc>
                <a:spcPts val="5220"/>
              </a:lnSpc>
              <a:buFont typeface="Arial"/>
              <a:buChar char="•"/>
            </a:pPr>
            <a:r>
              <a:rPr lang="en-US" sz="2900" b="1">
                <a:solidFill>
                  <a:srgbClr val="08C8A1"/>
                </a:solidFill>
                <a:latin typeface="Open Sans Bold"/>
                <a:ea typeface="Open Sans Bold"/>
                <a:cs typeface="Open Sans Bold"/>
                <a:sym typeface="Open Sans Bold"/>
              </a:rPr>
              <a:t>Who benefits directly from your work?</a:t>
            </a:r>
          </a:p>
          <a:p>
            <a:pPr marL="626111" lvl="1" indent="-313055" algn="l">
              <a:lnSpc>
                <a:spcPts val="5220"/>
              </a:lnSpc>
              <a:buFont typeface="Arial"/>
              <a:buChar char="•"/>
            </a:pPr>
            <a:r>
              <a:rPr lang="en-US" sz="2900" b="1">
                <a:solidFill>
                  <a:srgbClr val="08C8A1"/>
                </a:solidFill>
                <a:latin typeface="Open Sans Bold"/>
                <a:ea typeface="Open Sans Bold"/>
                <a:cs typeface="Open Sans Bold"/>
                <a:sym typeface="Open Sans Bold"/>
              </a:rPr>
              <a:t>How do they engage with you?</a:t>
            </a:r>
          </a:p>
          <a:p>
            <a:pPr marL="626111" lvl="1" indent="-313055" algn="l">
              <a:lnSpc>
                <a:spcPts val="5220"/>
              </a:lnSpc>
              <a:buFont typeface="Arial"/>
              <a:buChar char="•"/>
            </a:pPr>
            <a:r>
              <a:rPr lang="en-US" sz="2900" b="1">
                <a:solidFill>
                  <a:srgbClr val="08C8A1"/>
                </a:solidFill>
                <a:latin typeface="Open Sans Bold"/>
                <a:ea typeface="Open Sans Bold"/>
                <a:cs typeface="Open Sans Bold"/>
                <a:sym typeface="Open Sans Bold"/>
              </a:rPr>
              <a:t>What makes them a valuable or underserved audience?</a:t>
            </a:r>
          </a:p>
        </p:txBody>
      </p:sp>
      <p:sp>
        <p:nvSpPr>
          <p:cNvPr id="9" name="TextBox 9"/>
          <p:cNvSpPr txBox="1"/>
          <p:nvPr/>
        </p:nvSpPr>
        <p:spPr>
          <a:xfrm>
            <a:off x="1660210" y="5123075"/>
            <a:ext cx="13632401" cy="1922145"/>
          </a:xfrm>
          <a:prstGeom prst="rect">
            <a:avLst/>
          </a:prstGeom>
        </p:spPr>
        <p:txBody>
          <a:bodyPr lIns="0" tIns="0" rIns="0" bIns="0" rtlCol="0" anchor="t">
            <a:spAutoFit/>
          </a:bodyPr>
          <a:lstStyle/>
          <a:p>
            <a:pPr algn="l">
              <a:lnSpc>
                <a:spcPts val="5220"/>
              </a:lnSpc>
            </a:pPr>
            <a:r>
              <a:rPr lang="en-US" sz="2900" b="1">
                <a:solidFill>
                  <a:srgbClr val="FFFFFF"/>
                </a:solidFill>
                <a:latin typeface="Open Sans Bold"/>
                <a:ea typeface="Open Sans Bold"/>
                <a:cs typeface="Open Sans Bold"/>
                <a:sym typeface="Open Sans Bold"/>
              </a:rPr>
              <a:t>Example (for-profit):</a:t>
            </a:r>
          </a:p>
          <a:p>
            <a:pPr algn="l">
              <a:lnSpc>
                <a:spcPts val="5220"/>
              </a:lnSpc>
            </a:pPr>
            <a:r>
              <a:rPr lang="en-US" sz="2900">
                <a:solidFill>
                  <a:srgbClr val="FFFFFF"/>
                </a:solidFill>
                <a:latin typeface="Open Sans"/>
                <a:ea typeface="Open Sans"/>
                <a:cs typeface="Open Sans"/>
                <a:sym typeface="Open Sans"/>
              </a:rPr>
              <a:t>“Our main users are informal food vendors looking to reduce their environmental impact.”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20091397" cy="11290297"/>
          </a:xfrm>
          <a:custGeom>
            <a:avLst/>
            <a:gdLst/>
            <a:ahLst/>
            <a:cxnLst/>
            <a:rect l="l" t="t" r="r" b="b"/>
            <a:pathLst>
              <a:path w="20091397" h="11290297">
                <a:moveTo>
                  <a:pt x="0" y="0"/>
                </a:moveTo>
                <a:lnTo>
                  <a:pt x="20091397" y="0"/>
                </a:lnTo>
                <a:lnTo>
                  <a:pt x="20091397" y="11290297"/>
                </a:lnTo>
                <a:lnTo>
                  <a:pt x="0" y="11290297"/>
                </a:lnTo>
                <a:lnTo>
                  <a:pt x="0" y="0"/>
                </a:lnTo>
                <a:close/>
              </a:path>
            </a:pathLst>
          </a:custGeom>
          <a:blipFill>
            <a:blip r:embed="rId2"/>
            <a:stretch>
              <a:fillRect r="-63" b="-168"/>
            </a:stretch>
          </a:blipFill>
        </p:spPr>
        <p:txBody>
          <a:bodyPr/>
          <a:lstStyle/>
          <a:p>
            <a:endParaRPr lang="en-GB"/>
          </a:p>
        </p:txBody>
      </p:sp>
      <p:sp>
        <p:nvSpPr>
          <p:cNvPr id="3" name="Freeform 3"/>
          <p:cNvSpPr/>
          <p:nvPr/>
        </p:nvSpPr>
        <p:spPr>
          <a:xfrm>
            <a:off x="0" y="0"/>
            <a:ext cx="20091397" cy="11290297"/>
          </a:xfrm>
          <a:custGeom>
            <a:avLst/>
            <a:gdLst/>
            <a:ahLst/>
            <a:cxnLst/>
            <a:rect l="l" t="t" r="r" b="b"/>
            <a:pathLst>
              <a:path w="20091397" h="11290297">
                <a:moveTo>
                  <a:pt x="0" y="0"/>
                </a:moveTo>
                <a:lnTo>
                  <a:pt x="20091397" y="0"/>
                </a:lnTo>
                <a:lnTo>
                  <a:pt x="20091397" y="11290297"/>
                </a:lnTo>
                <a:lnTo>
                  <a:pt x="0" y="1129029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4" name="Freeform 4"/>
          <p:cNvSpPr/>
          <p:nvPr/>
        </p:nvSpPr>
        <p:spPr>
          <a:xfrm>
            <a:off x="0" y="0"/>
            <a:ext cx="20091397" cy="11290297"/>
          </a:xfrm>
          <a:custGeom>
            <a:avLst/>
            <a:gdLst/>
            <a:ahLst/>
            <a:cxnLst/>
            <a:rect l="l" t="t" r="r" b="b"/>
            <a:pathLst>
              <a:path w="20091397" h="11290297">
                <a:moveTo>
                  <a:pt x="0" y="0"/>
                </a:moveTo>
                <a:lnTo>
                  <a:pt x="20091397" y="0"/>
                </a:lnTo>
                <a:lnTo>
                  <a:pt x="20091397" y="11290297"/>
                </a:lnTo>
                <a:lnTo>
                  <a:pt x="0" y="11290297"/>
                </a:lnTo>
                <a:lnTo>
                  <a:pt x="0" y="0"/>
                </a:lnTo>
                <a:close/>
              </a:path>
            </a:pathLst>
          </a:custGeom>
          <a:blipFill>
            <a:blip r:embed="rId5"/>
            <a:stretch>
              <a:fillRect t="-84" r="-12821" b="-84"/>
            </a:stretch>
          </a:blipFill>
        </p:spPr>
        <p:txBody>
          <a:bodyPr/>
          <a:lstStyle/>
          <a:p>
            <a:endParaRPr lang="en-GB"/>
          </a:p>
        </p:txBody>
      </p:sp>
      <p:sp>
        <p:nvSpPr>
          <p:cNvPr id="5" name="Freeform 5"/>
          <p:cNvSpPr/>
          <p:nvPr/>
        </p:nvSpPr>
        <p:spPr>
          <a:xfrm rot="5400000">
            <a:off x="-5077618" y="5083971"/>
            <a:ext cx="11283953" cy="1128708"/>
          </a:xfrm>
          <a:custGeom>
            <a:avLst/>
            <a:gdLst/>
            <a:ahLst/>
            <a:cxnLst/>
            <a:rect l="l" t="t" r="r" b="b"/>
            <a:pathLst>
              <a:path w="11283953" h="1128708">
                <a:moveTo>
                  <a:pt x="0" y="0"/>
                </a:moveTo>
                <a:lnTo>
                  <a:pt x="11283953" y="0"/>
                </a:lnTo>
                <a:lnTo>
                  <a:pt x="11283953" y="1128708"/>
                </a:lnTo>
                <a:lnTo>
                  <a:pt x="0" y="1128708"/>
                </a:lnTo>
                <a:lnTo>
                  <a:pt x="0" y="0"/>
                </a:lnTo>
                <a:close/>
              </a:path>
            </a:pathLst>
          </a:custGeom>
          <a:blipFill>
            <a:blip r:embed="rId6"/>
            <a:stretch>
              <a:fillRect t="-447163" r="-112" b="-453684"/>
            </a:stretch>
          </a:blipFill>
        </p:spPr>
        <p:txBody>
          <a:bodyPr/>
          <a:lstStyle/>
          <a:p>
            <a:endParaRPr lang="en-GB"/>
          </a:p>
        </p:txBody>
      </p:sp>
      <p:sp>
        <p:nvSpPr>
          <p:cNvPr id="6" name="TextBox 6"/>
          <p:cNvSpPr txBox="1"/>
          <p:nvPr/>
        </p:nvSpPr>
        <p:spPr>
          <a:xfrm>
            <a:off x="1660210" y="1042988"/>
            <a:ext cx="14371914" cy="688974"/>
          </a:xfrm>
          <a:prstGeom prst="rect">
            <a:avLst/>
          </a:prstGeom>
        </p:spPr>
        <p:txBody>
          <a:bodyPr lIns="0" tIns="0" rIns="0" bIns="0" rtlCol="0" anchor="t">
            <a:spAutoFit/>
          </a:bodyPr>
          <a:lstStyle/>
          <a:p>
            <a:pPr algn="l">
              <a:lnSpc>
                <a:spcPts val="5600"/>
              </a:lnSpc>
            </a:pPr>
            <a:r>
              <a:rPr lang="en-US" sz="4000">
                <a:solidFill>
                  <a:srgbClr val="FFFEFE"/>
                </a:solidFill>
                <a:latin typeface="League Spartan"/>
                <a:ea typeface="League Spartan"/>
                <a:cs typeface="League Spartan"/>
                <a:sym typeface="League Spartan"/>
              </a:rPr>
              <a:t>5. What m</a:t>
            </a:r>
            <a:r>
              <a:rPr lang="en-US" sz="4000" b="1">
                <a:solidFill>
                  <a:srgbClr val="FFFEFE"/>
                </a:solidFill>
                <a:latin typeface="League Spartan"/>
                <a:ea typeface="League Spartan"/>
                <a:cs typeface="League Spartan"/>
                <a:sym typeface="League Spartan"/>
              </a:rPr>
              <a:t>akes you different or better?</a:t>
            </a:r>
          </a:p>
        </p:txBody>
      </p:sp>
      <p:sp>
        <p:nvSpPr>
          <p:cNvPr id="7" name="TextBox 7"/>
          <p:cNvSpPr txBox="1"/>
          <p:nvPr/>
        </p:nvSpPr>
        <p:spPr>
          <a:xfrm>
            <a:off x="1660210" y="7616720"/>
            <a:ext cx="16210691" cy="1922145"/>
          </a:xfrm>
          <a:prstGeom prst="rect">
            <a:avLst/>
          </a:prstGeom>
        </p:spPr>
        <p:txBody>
          <a:bodyPr lIns="0" tIns="0" rIns="0" bIns="0" rtlCol="0" anchor="t">
            <a:spAutoFit/>
          </a:bodyPr>
          <a:lstStyle/>
          <a:p>
            <a:pPr algn="l">
              <a:lnSpc>
                <a:spcPts val="5220"/>
              </a:lnSpc>
            </a:pPr>
            <a:r>
              <a:rPr lang="en-US" sz="2900" b="1">
                <a:solidFill>
                  <a:srgbClr val="FFFFFF"/>
                </a:solidFill>
                <a:latin typeface="Open Sans Bold"/>
                <a:ea typeface="Open Sans Bold"/>
                <a:cs typeface="Open Sans Bold"/>
                <a:sym typeface="Open Sans Bold"/>
              </a:rPr>
              <a:t>Example (non-profit):</a:t>
            </a:r>
          </a:p>
          <a:p>
            <a:pPr algn="l">
              <a:lnSpc>
                <a:spcPts val="5220"/>
              </a:lnSpc>
            </a:pPr>
            <a:r>
              <a:rPr lang="en-US" sz="2900">
                <a:solidFill>
                  <a:srgbClr val="FFFFFF"/>
                </a:solidFill>
                <a:latin typeface="Open Sans"/>
                <a:ea typeface="Open Sans"/>
                <a:cs typeface="Open Sans"/>
                <a:sym typeface="Open Sans"/>
              </a:rPr>
              <a:t>“Our model is community-run and combines technology with traditional storytelling, making it both effective and sustainable.”</a:t>
            </a:r>
          </a:p>
        </p:txBody>
      </p:sp>
      <p:sp>
        <p:nvSpPr>
          <p:cNvPr id="8" name="TextBox 8"/>
          <p:cNvSpPr txBox="1"/>
          <p:nvPr/>
        </p:nvSpPr>
        <p:spPr>
          <a:xfrm>
            <a:off x="1660210" y="1973194"/>
            <a:ext cx="17299303" cy="2579370"/>
          </a:xfrm>
          <a:prstGeom prst="rect">
            <a:avLst/>
          </a:prstGeom>
        </p:spPr>
        <p:txBody>
          <a:bodyPr lIns="0" tIns="0" rIns="0" bIns="0" rtlCol="0" anchor="t">
            <a:spAutoFit/>
          </a:bodyPr>
          <a:lstStyle/>
          <a:p>
            <a:pPr marL="626111" lvl="1" indent="-313055" algn="l">
              <a:lnSpc>
                <a:spcPts val="5220"/>
              </a:lnSpc>
              <a:buFont typeface="Arial"/>
              <a:buChar char="•"/>
            </a:pPr>
            <a:r>
              <a:rPr lang="en-US" sz="2900" b="1">
                <a:solidFill>
                  <a:srgbClr val="08C8A1"/>
                </a:solidFill>
                <a:latin typeface="Open Sans Bold"/>
                <a:ea typeface="Open Sans Bold"/>
                <a:cs typeface="Open Sans Bold"/>
                <a:sym typeface="Open Sans Bold"/>
              </a:rPr>
              <a:t>Why should someone support or invest in you?</a:t>
            </a:r>
          </a:p>
          <a:p>
            <a:pPr marL="626111" lvl="1" indent="-313055" algn="l">
              <a:lnSpc>
                <a:spcPts val="5220"/>
              </a:lnSpc>
              <a:buFont typeface="Arial"/>
              <a:buChar char="•"/>
            </a:pPr>
            <a:r>
              <a:rPr lang="en-US" sz="2900" b="1">
                <a:solidFill>
                  <a:srgbClr val="08C8A1"/>
                </a:solidFill>
                <a:latin typeface="Open Sans Bold"/>
                <a:ea typeface="Open Sans Bold"/>
                <a:cs typeface="Open Sans Bold"/>
                <a:sym typeface="Open Sans Bold"/>
              </a:rPr>
              <a:t>What sets you apart from others?</a:t>
            </a:r>
          </a:p>
          <a:p>
            <a:pPr marL="626111" lvl="1" indent="-313055" algn="l">
              <a:lnSpc>
                <a:spcPts val="5220"/>
              </a:lnSpc>
              <a:buFont typeface="Arial"/>
              <a:buChar char="•"/>
            </a:pPr>
            <a:r>
              <a:rPr lang="en-US" sz="2900" b="1">
                <a:solidFill>
                  <a:srgbClr val="08C8A1"/>
                </a:solidFill>
                <a:latin typeface="Open Sans Bold"/>
                <a:ea typeface="Open Sans Bold"/>
                <a:cs typeface="Open Sans Bold"/>
                <a:sym typeface="Open Sans Bold"/>
              </a:rPr>
              <a:t>What results have you achieved so far?</a:t>
            </a:r>
          </a:p>
          <a:p>
            <a:pPr marL="626111" lvl="1" indent="-313055" algn="l">
              <a:lnSpc>
                <a:spcPts val="5220"/>
              </a:lnSpc>
              <a:buFont typeface="Arial"/>
              <a:buChar char="•"/>
            </a:pPr>
            <a:r>
              <a:rPr lang="en-US" sz="2900" b="1">
                <a:solidFill>
                  <a:srgbClr val="08C8A1"/>
                </a:solidFill>
                <a:latin typeface="Open Sans Bold"/>
                <a:ea typeface="Open Sans Bold"/>
                <a:cs typeface="Open Sans Bold"/>
                <a:sym typeface="Open Sans Bold"/>
              </a:rPr>
              <a:t>Do you have unique partnerships, innovations, or community roots?</a:t>
            </a:r>
          </a:p>
        </p:txBody>
      </p:sp>
      <p:sp>
        <p:nvSpPr>
          <p:cNvPr id="9" name="TextBox 9"/>
          <p:cNvSpPr txBox="1"/>
          <p:nvPr/>
        </p:nvSpPr>
        <p:spPr>
          <a:xfrm>
            <a:off x="1660210" y="5123075"/>
            <a:ext cx="15236671" cy="1922145"/>
          </a:xfrm>
          <a:prstGeom prst="rect">
            <a:avLst/>
          </a:prstGeom>
        </p:spPr>
        <p:txBody>
          <a:bodyPr lIns="0" tIns="0" rIns="0" bIns="0" rtlCol="0" anchor="t">
            <a:spAutoFit/>
          </a:bodyPr>
          <a:lstStyle/>
          <a:p>
            <a:pPr algn="l">
              <a:lnSpc>
                <a:spcPts val="5220"/>
              </a:lnSpc>
            </a:pPr>
            <a:r>
              <a:rPr lang="en-US" sz="2900" b="1">
                <a:solidFill>
                  <a:srgbClr val="FFFFFF"/>
                </a:solidFill>
                <a:latin typeface="Open Sans Bold"/>
                <a:ea typeface="Open Sans Bold"/>
                <a:cs typeface="Open Sans Bold"/>
                <a:sym typeface="Open Sans Bold"/>
              </a:rPr>
              <a:t>Example (for-profit):</a:t>
            </a:r>
          </a:p>
          <a:p>
            <a:pPr algn="l">
              <a:lnSpc>
                <a:spcPts val="5220"/>
              </a:lnSpc>
            </a:pPr>
            <a:r>
              <a:rPr lang="en-US" sz="2900">
                <a:solidFill>
                  <a:srgbClr val="FFFFFF"/>
                </a:solidFill>
                <a:latin typeface="Open Sans"/>
                <a:ea typeface="Open Sans"/>
                <a:cs typeface="Open Sans"/>
                <a:sym typeface="Open Sans"/>
              </a:rPr>
              <a:t>“Unlike imported eco-products, ours are affordable, locally made, and tailored to African street food culture.”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20091397" cy="11290297"/>
          </a:xfrm>
          <a:custGeom>
            <a:avLst/>
            <a:gdLst/>
            <a:ahLst/>
            <a:cxnLst/>
            <a:rect l="l" t="t" r="r" b="b"/>
            <a:pathLst>
              <a:path w="20091397" h="11290297">
                <a:moveTo>
                  <a:pt x="0" y="0"/>
                </a:moveTo>
                <a:lnTo>
                  <a:pt x="20091397" y="0"/>
                </a:lnTo>
                <a:lnTo>
                  <a:pt x="20091397" y="11290297"/>
                </a:lnTo>
                <a:lnTo>
                  <a:pt x="0" y="11290297"/>
                </a:lnTo>
                <a:lnTo>
                  <a:pt x="0" y="0"/>
                </a:lnTo>
                <a:close/>
              </a:path>
            </a:pathLst>
          </a:custGeom>
          <a:blipFill>
            <a:blip r:embed="rId2"/>
            <a:stretch>
              <a:fillRect r="-63" b="-168"/>
            </a:stretch>
          </a:blipFill>
        </p:spPr>
        <p:txBody>
          <a:bodyPr/>
          <a:lstStyle/>
          <a:p>
            <a:endParaRPr lang="en-GB"/>
          </a:p>
        </p:txBody>
      </p:sp>
      <p:sp>
        <p:nvSpPr>
          <p:cNvPr id="3" name="Freeform 3"/>
          <p:cNvSpPr/>
          <p:nvPr/>
        </p:nvSpPr>
        <p:spPr>
          <a:xfrm>
            <a:off x="0" y="0"/>
            <a:ext cx="20091397" cy="11290297"/>
          </a:xfrm>
          <a:custGeom>
            <a:avLst/>
            <a:gdLst/>
            <a:ahLst/>
            <a:cxnLst/>
            <a:rect l="l" t="t" r="r" b="b"/>
            <a:pathLst>
              <a:path w="20091397" h="11290297">
                <a:moveTo>
                  <a:pt x="0" y="0"/>
                </a:moveTo>
                <a:lnTo>
                  <a:pt x="20091397" y="0"/>
                </a:lnTo>
                <a:lnTo>
                  <a:pt x="20091397" y="11290297"/>
                </a:lnTo>
                <a:lnTo>
                  <a:pt x="0" y="1129029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4" name="Freeform 4"/>
          <p:cNvSpPr/>
          <p:nvPr/>
        </p:nvSpPr>
        <p:spPr>
          <a:xfrm>
            <a:off x="0" y="0"/>
            <a:ext cx="20091397" cy="11290297"/>
          </a:xfrm>
          <a:custGeom>
            <a:avLst/>
            <a:gdLst/>
            <a:ahLst/>
            <a:cxnLst/>
            <a:rect l="l" t="t" r="r" b="b"/>
            <a:pathLst>
              <a:path w="20091397" h="11290297">
                <a:moveTo>
                  <a:pt x="0" y="0"/>
                </a:moveTo>
                <a:lnTo>
                  <a:pt x="20091397" y="0"/>
                </a:lnTo>
                <a:lnTo>
                  <a:pt x="20091397" y="11290297"/>
                </a:lnTo>
                <a:lnTo>
                  <a:pt x="0" y="11290297"/>
                </a:lnTo>
                <a:lnTo>
                  <a:pt x="0" y="0"/>
                </a:lnTo>
                <a:close/>
              </a:path>
            </a:pathLst>
          </a:custGeom>
          <a:blipFill>
            <a:blip r:embed="rId5"/>
            <a:stretch>
              <a:fillRect t="-84" r="-12821" b="-84"/>
            </a:stretch>
          </a:blipFill>
        </p:spPr>
        <p:txBody>
          <a:bodyPr/>
          <a:lstStyle/>
          <a:p>
            <a:endParaRPr lang="en-GB"/>
          </a:p>
        </p:txBody>
      </p:sp>
      <p:sp>
        <p:nvSpPr>
          <p:cNvPr id="5" name="Freeform 5"/>
          <p:cNvSpPr/>
          <p:nvPr/>
        </p:nvSpPr>
        <p:spPr>
          <a:xfrm rot="5400000">
            <a:off x="-5077618" y="5083971"/>
            <a:ext cx="11283953" cy="1128708"/>
          </a:xfrm>
          <a:custGeom>
            <a:avLst/>
            <a:gdLst/>
            <a:ahLst/>
            <a:cxnLst/>
            <a:rect l="l" t="t" r="r" b="b"/>
            <a:pathLst>
              <a:path w="11283953" h="1128708">
                <a:moveTo>
                  <a:pt x="0" y="0"/>
                </a:moveTo>
                <a:lnTo>
                  <a:pt x="11283953" y="0"/>
                </a:lnTo>
                <a:lnTo>
                  <a:pt x="11283953" y="1128708"/>
                </a:lnTo>
                <a:lnTo>
                  <a:pt x="0" y="1128708"/>
                </a:lnTo>
                <a:lnTo>
                  <a:pt x="0" y="0"/>
                </a:lnTo>
                <a:close/>
              </a:path>
            </a:pathLst>
          </a:custGeom>
          <a:blipFill>
            <a:blip r:embed="rId6"/>
            <a:stretch>
              <a:fillRect t="-447163" r="-112" b="-453684"/>
            </a:stretch>
          </a:blipFill>
        </p:spPr>
        <p:txBody>
          <a:bodyPr/>
          <a:lstStyle/>
          <a:p>
            <a:endParaRPr lang="en-GB"/>
          </a:p>
        </p:txBody>
      </p:sp>
      <p:sp>
        <p:nvSpPr>
          <p:cNvPr id="6" name="TextBox 6"/>
          <p:cNvSpPr txBox="1"/>
          <p:nvPr/>
        </p:nvSpPr>
        <p:spPr>
          <a:xfrm>
            <a:off x="1660210" y="1042988"/>
            <a:ext cx="14371914" cy="688974"/>
          </a:xfrm>
          <a:prstGeom prst="rect">
            <a:avLst/>
          </a:prstGeom>
        </p:spPr>
        <p:txBody>
          <a:bodyPr lIns="0" tIns="0" rIns="0" bIns="0" rtlCol="0" anchor="t">
            <a:spAutoFit/>
          </a:bodyPr>
          <a:lstStyle/>
          <a:p>
            <a:pPr algn="l">
              <a:lnSpc>
                <a:spcPts val="5600"/>
              </a:lnSpc>
            </a:pPr>
            <a:r>
              <a:rPr lang="en-US" sz="4000">
                <a:solidFill>
                  <a:srgbClr val="FFFEFE"/>
                </a:solidFill>
                <a:latin typeface="League Spartan"/>
                <a:ea typeface="League Spartan"/>
                <a:cs typeface="League Spartan"/>
                <a:sym typeface="League Spartan"/>
              </a:rPr>
              <a:t>6. What’</a:t>
            </a:r>
            <a:r>
              <a:rPr lang="en-US" sz="4000" b="1">
                <a:solidFill>
                  <a:srgbClr val="FFFEFE"/>
                </a:solidFill>
                <a:latin typeface="League Spartan"/>
                <a:ea typeface="League Spartan"/>
                <a:cs typeface="League Spartan"/>
                <a:sym typeface="League Spartan"/>
              </a:rPr>
              <a:t>s your ask or next step?</a:t>
            </a:r>
          </a:p>
        </p:txBody>
      </p:sp>
      <p:sp>
        <p:nvSpPr>
          <p:cNvPr id="7" name="TextBox 7"/>
          <p:cNvSpPr txBox="1"/>
          <p:nvPr/>
        </p:nvSpPr>
        <p:spPr>
          <a:xfrm>
            <a:off x="1660210" y="7215652"/>
            <a:ext cx="15580443" cy="1922145"/>
          </a:xfrm>
          <a:prstGeom prst="rect">
            <a:avLst/>
          </a:prstGeom>
        </p:spPr>
        <p:txBody>
          <a:bodyPr lIns="0" tIns="0" rIns="0" bIns="0" rtlCol="0" anchor="t">
            <a:spAutoFit/>
          </a:bodyPr>
          <a:lstStyle/>
          <a:p>
            <a:pPr algn="l">
              <a:lnSpc>
                <a:spcPts val="5220"/>
              </a:lnSpc>
            </a:pPr>
            <a:r>
              <a:rPr lang="en-US" sz="2900" b="1">
                <a:solidFill>
                  <a:srgbClr val="FFFFFF"/>
                </a:solidFill>
                <a:latin typeface="Open Sans Bold"/>
                <a:ea typeface="Open Sans Bold"/>
                <a:cs typeface="Open Sans Bold"/>
                <a:sym typeface="Open Sans Bold"/>
              </a:rPr>
              <a:t>Example (non-profit):</a:t>
            </a:r>
          </a:p>
          <a:p>
            <a:pPr algn="l">
              <a:lnSpc>
                <a:spcPts val="5220"/>
              </a:lnSpc>
            </a:pPr>
            <a:r>
              <a:rPr lang="en-US" sz="2900">
                <a:solidFill>
                  <a:srgbClr val="FFFFFF"/>
                </a:solidFill>
                <a:latin typeface="Open Sans"/>
                <a:ea typeface="Open Sans"/>
                <a:cs typeface="Open Sans"/>
                <a:sym typeface="Open Sans"/>
              </a:rPr>
              <a:t>“We’re looking for partners to scale this to new regions. I’d love to connect further and explore synergies.”</a:t>
            </a:r>
          </a:p>
        </p:txBody>
      </p:sp>
      <p:sp>
        <p:nvSpPr>
          <p:cNvPr id="8" name="TextBox 8"/>
          <p:cNvSpPr txBox="1"/>
          <p:nvPr/>
        </p:nvSpPr>
        <p:spPr>
          <a:xfrm>
            <a:off x="1660210" y="1973194"/>
            <a:ext cx="17299303" cy="1922145"/>
          </a:xfrm>
          <a:prstGeom prst="rect">
            <a:avLst/>
          </a:prstGeom>
        </p:spPr>
        <p:txBody>
          <a:bodyPr lIns="0" tIns="0" rIns="0" bIns="0" rtlCol="0" anchor="t">
            <a:spAutoFit/>
          </a:bodyPr>
          <a:lstStyle/>
          <a:p>
            <a:pPr marL="626111" lvl="1" indent="-313055" algn="l">
              <a:lnSpc>
                <a:spcPts val="5220"/>
              </a:lnSpc>
              <a:buFont typeface="Arial"/>
              <a:buChar char="•"/>
            </a:pPr>
            <a:r>
              <a:rPr lang="en-US" sz="2900" b="1">
                <a:solidFill>
                  <a:srgbClr val="08C8A1"/>
                </a:solidFill>
                <a:latin typeface="Open Sans Bold"/>
                <a:ea typeface="Open Sans Bold"/>
                <a:cs typeface="Open Sans Bold"/>
                <a:sym typeface="Open Sans Bold"/>
              </a:rPr>
              <a:t>What do you want from the person you’re talking to?</a:t>
            </a:r>
          </a:p>
          <a:p>
            <a:pPr marL="626111" lvl="1" indent="-313055" algn="l">
              <a:lnSpc>
                <a:spcPts val="5220"/>
              </a:lnSpc>
              <a:buFont typeface="Arial"/>
              <a:buChar char="•"/>
            </a:pPr>
            <a:r>
              <a:rPr lang="en-US" sz="2900" b="1">
                <a:solidFill>
                  <a:srgbClr val="08C8A1"/>
                </a:solidFill>
                <a:latin typeface="Open Sans Bold"/>
                <a:ea typeface="Open Sans Bold"/>
                <a:cs typeface="Open Sans Bold"/>
                <a:sym typeface="Open Sans Bold"/>
              </a:rPr>
              <a:t>Are you looking for funding, partnerships, clients, volunteers, or advice?</a:t>
            </a:r>
          </a:p>
          <a:p>
            <a:pPr marL="626111" lvl="1" indent="-313055" algn="l">
              <a:lnSpc>
                <a:spcPts val="5220"/>
              </a:lnSpc>
              <a:buFont typeface="Arial"/>
              <a:buChar char="•"/>
            </a:pPr>
            <a:r>
              <a:rPr lang="en-US" sz="2900" b="1">
                <a:solidFill>
                  <a:srgbClr val="08C8A1"/>
                </a:solidFill>
                <a:latin typeface="Open Sans Bold"/>
                <a:ea typeface="Open Sans Bold"/>
                <a:cs typeface="Open Sans Bold"/>
                <a:sym typeface="Open Sans Bold"/>
              </a:rPr>
              <a:t>What action do you want them to take?</a:t>
            </a:r>
          </a:p>
        </p:txBody>
      </p:sp>
      <p:sp>
        <p:nvSpPr>
          <p:cNvPr id="9" name="TextBox 9"/>
          <p:cNvSpPr txBox="1"/>
          <p:nvPr/>
        </p:nvSpPr>
        <p:spPr>
          <a:xfrm>
            <a:off x="1660210" y="4794957"/>
            <a:ext cx="15236671" cy="1922145"/>
          </a:xfrm>
          <a:prstGeom prst="rect">
            <a:avLst/>
          </a:prstGeom>
        </p:spPr>
        <p:txBody>
          <a:bodyPr lIns="0" tIns="0" rIns="0" bIns="0" rtlCol="0" anchor="t">
            <a:spAutoFit/>
          </a:bodyPr>
          <a:lstStyle/>
          <a:p>
            <a:pPr algn="l">
              <a:lnSpc>
                <a:spcPts val="5220"/>
              </a:lnSpc>
            </a:pPr>
            <a:r>
              <a:rPr lang="en-US" sz="2900" b="1">
                <a:solidFill>
                  <a:srgbClr val="FFFFFF"/>
                </a:solidFill>
                <a:latin typeface="Open Sans Bold"/>
                <a:ea typeface="Open Sans Bold"/>
                <a:cs typeface="Open Sans Bold"/>
                <a:sym typeface="Open Sans Bold"/>
              </a:rPr>
              <a:t>Example (for-profit):</a:t>
            </a:r>
          </a:p>
          <a:p>
            <a:pPr algn="l">
              <a:lnSpc>
                <a:spcPts val="5220"/>
              </a:lnSpc>
            </a:pPr>
            <a:r>
              <a:rPr lang="en-US" sz="2900">
                <a:solidFill>
                  <a:srgbClr val="FFFFFF"/>
                </a:solidFill>
                <a:latin typeface="Open Sans"/>
                <a:ea typeface="Open Sans"/>
                <a:cs typeface="Open Sans"/>
                <a:sym typeface="Open Sans"/>
              </a:rPr>
              <a:t>“We’re currently raising $100,000 to expand to 3 more counties—would you be open to a deeper conversation?”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20091397" cy="11290297"/>
          </a:xfrm>
          <a:custGeom>
            <a:avLst/>
            <a:gdLst/>
            <a:ahLst/>
            <a:cxnLst/>
            <a:rect l="l" t="t" r="r" b="b"/>
            <a:pathLst>
              <a:path w="20091397" h="11290297">
                <a:moveTo>
                  <a:pt x="0" y="0"/>
                </a:moveTo>
                <a:lnTo>
                  <a:pt x="20091397" y="0"/>
                </a:lnTo>
                <a:lnTo>
                  <a:pt x="20091397" y="11290297"/>
                </a:lnTo>
                <a:lnTo>
                  <a:pt x="0" y="11290297"/>
                </a:lnTo>
                <a:lnTo>
                  <a:pt x="0" y="0"/>
                </a:lnTo>
                <a:close/>
              </a:path>
            </a:pathLst>
          </a:custGeom>
          <a:blipFill>
            <a:blip r:embed="rId2"/>
            <a:stretch>
              <a:fillRect r="-63" b="-168"/>
            </a:stretch>
          </a:blipFill>
        </p:spPr>
        <p:txBody>
          <a:bodyPr/>
          <a:lstStyle/>
          <a:p>
            <a:endParaRPr lang="en-GB"/>
          </a:p>
        </p:txBody>
      </p:sp>
      <p:sp>
        <p:nvSpPr>
          <p:cNvPr id="3" name="Freeform 3"/>
          <p:cNvSpPr/>
          <p:nvPr/>
        </p:nvSpPr>
        <p:spPr>
          <a:xfrm>
            <a:off x="0" y="0"/>
            <a:ext cx="20091397" cy="11290297"/>
          </a:xfrm>
          <a:custGeom>
            <a:avLst/>
            <a:gdLst/>
            <a:ahLst/>
            <a:cxnLst/>
            <a:rect l="l" t="t" r="r" b="b"/>
            <a:pathLst>
              <a:path w="20091397" h="11290297">
                <a:moveTo>
                  <a:pt x="0" y="0"/>
                </a:moveTo>
                <a:lnTo>
                  <a:pt x="20091397" y="0"/>
                </a:lnTo>
                <a:lnTo>
                  <a:pt x="20091397" y="11290297"/>
                </a:lnTo>
                <a:lnTo>
                  <a:pt x="0" y="1129029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4" name="Freeform 4"/>
          <p:cNvSpPr/>
          <p:nvPr/>
        </p:nvSpPr>
        <p:spPr>
          <a:xfrm>
            <a:off x="0" y="0"/>
            <a:ext cx="20091397" cy="11290297"/>
          </a:xfrm>
          <a:custGeom>
            <a:avLst/>
            <a:gdLst/>
            <a:ahLst/>
            <a:cxnLst/>
            <a:rect l="l" t="t" r="r" b="b"/>
            <a:pathLst>
              <a:path w="20091397" h="11290297">
                <a:moveTo>
                  <a:pt x="0" y="0"/>
                </a:moveTo>
                <a:lnTo>
                  <a:pt x="20091397" y="0"/>
                </a:lnTo>
                <a:lnTo>
                  <a:pt x="20091397" y="11290297"/>
                </a:lnTo>
                <a:lnTo>
                  <a:pt x="0" y="11290297"/>
                </a:lnTo>
                <a:lnTo>
                  <a:pt x="0" y="0"/>
                </a:lnTo>
                <a:close/>
              </a:path>
            </a:pathLst>
          </a:custGeom>
          <a:blipFill>
            <a:blip r:embed="rId5"/>
            <a:stretch>
              <a:fillRect t="-84" r="-12821" b="-84"/>
            </a:stretch>
          </a:blipFill>
        </p:spPr>
        <p:txBody>
          <a:bodyPr/>
          <a:lstStyle/>
          <a:p>
            <a:endParaRPr lang="en-GB"/>
          </a:p>
        </p:txBody>
      </p:sp>
      <p:sp>
        <p:nvSpPr>
          <p:cNvPr id="5" name="Freeform 5"/>
          <p:cNvSpPr/>
          <p:nvPr/>
        </p:nvSpPr>
        <p:spPr>
          <a:xfrm rot="5400000">
            <a:off x="-4974762" y="4981115"/>
            <a:ext cx="11283953" cy="1334420"/>
          </a:xfrm>
          <a:custGeom>
            <a:avLst/>
            <a:gdLst/>
            <a:ahLst/>
            <a:cxnLst/>
            <a:rect l="l" t="t" r="r" b="b"/>
            <a:pathLst>
              <a:path w="11283953" h="1334420">
                <a:moveTo>
                  <a:pt x="0" y="0"/>
                </a:moveTo>
                <a:lnTo>
                  <a:pt x="11283953" y="0"/>
                </a:lnTo>
                <a:lnTo>
                  <a:pt x="11283953" y="1334420"/>
                </a:lnTo>
                <a:lnTo>
                  <a:pt x="0" y="1334420"/>
                </a:lnTo>
                <a:lnTo>
                  <a:pt x="0" y="0"/>
                </a:lnTo>
                <a:close/>
              </a:path>
            </a:pathLst>
          </a:custGeom>
          <a:blipFill>
            <a:blip r:embed="rId6"/>
            <a:stretch>
              <a:fillRect t="-362813" r="-112" b="-383745"/>
            </a:stretch>
          </a:blipFill>
        </p:spPr>
        <p:txBody>
          <a:bodyPr/>
          <a:lstStyle/>
          <a:p>
            <a:endParaRPr lang="en-GB"/>
          </a:p>
        </p:txBody>
      </p:sp>
      <p:sp>
        <p:nvSpPr>
          <p:cNvPr id="6" name="Freeform 6"/>
          <p:cNvSpPr/>
          <p:nvPr/>
        </p:nvSpPr>
        <p:spPr>
          <a:xfrm>
            <a:off x="8793991" y="6266475"/>
            <a:ext cx="2781275" cy="490917"/>
          </a:xfrm>
          <a:custGeom>
            <a:avLst/>
            <a:gdLst/>
            <a:ahLst/>
            <a:cxnLst/>
            <a:rect l="l" t="t" r="r" b="b"/>
            <a:pathLst>
              <a:path w="2781275" h="490917">
                <a:moveTo>
                  <a:pt x="0" y="0"/>
                </a:moveTo>
                <a:lnTo>
                  <a:pt x="2781274" y="0"/>
                </a:lnTo>
                <a:lnTo>
                  <a:pt x="2781274" y="490917"/>
                </a:lnTo>
                <a:lnTo>
                  <a:pt x="0" y="490917"/>
                </a:lnTo>
                <a:lnTo>
                  <a:pt x="0" y="0"/>
                </a:lnTo>
                <a:close/>
              </a:path>
            </a:pathLst>
          </a:custGeom>
          <a:blipFill>
            <a:blip r:embed="rId6"/>
            <a:stretch>
              <a:fillRect t="-210079" r="-112" b="-257104"/>
            </a:stretch>
          </a:blipFill>
        </p:spPr>
        <p:txBody>
          <a:bodyPr/>
          <a:lstStyle/>
          <a:p>
            <a:endParaRPr lang="en-GB"/>
          </a:p>
        </p:txBody>
      </p:sp>
      <p:grpSp>
        <p:nvGrpSpPr>
          <p:cNvPr id="7" name="Group 7"/>
          <p:cNvGrpSpPr/>
          <p:nvPr/>
        </p:nvGrpSpPr>
        <p:grpSpPr>
          <a:xfrm>
            <a:off x="1946686" y="3572424"/>
            <a:ext cx="7886940" cy="6294782"/>
            <a:chOff x="0" y="0"/>
            <a:chExt cx="1893161" cy="1510984"/>
          </a:xfrm>
        </p:grpSpPr>
        <p:sp>
          <p:nvSpPr>
            <p:cNvPr id="8" name="Freeform 8"/>
            <p:cNvSpPr/>
            <p:nvPr/>
          </p:nvSpPr>
          <p:spPr>
            <a:xfrm>
              <a:off x="0" y="0"/>
              <a:ext cx="1893161" cy="1510984"/>
            </a:xfrm>
            <a:custGeom>
              <a:avLst/>
              <a:gdLst/>
              <a:ahLst/>
              <a:cxnLst/>
              <a:rect l="l" t="t" r="r" b="b"/>
              <a:pathLst>
                <a:path w="1893161" h="1510984">
                  <a:moveTo>
                    <a:pt x="27485" y="0"/>
                  </a:moveTo>
                  <a:lnTo>
                    <a:pt x="1865676" y="0"/>
                  </a:lnTo>
                  <a:cubicBezTo>
                    <a:pt x="1872966" y="0"/>
                    <a:pt x="1879957" y="2896"/>
                    <a:pt x="1885111" y="8050"/>
                  </a:cubicBezTo>
                  <a:cubicBezTo>
                    <a:pt x="1890266" y="13205"/>
                    <a:pt x="1893161" y="20196"/>
                    <a:pt x="1893161" y="27485"/>
                  </a:cubicBezTo>
                  <a:lnTo>
                    <a:pt x="1893161" y="1483499"/>
                  </a:lnTo>
                  <a:cubicBezTo>
                    <a:pt x="1893161" y="1490788"/>
                    <a:pt x="1890266" y="1497779"/>
                    <a:pt x="1885111" y="1502934"/>
                  </a:cubicBezTo>
                  <a:cubicBezTo>
                    <a:pt x="1879957" y="1508088"/>
                    <a:pt x="1872966" y="1510984"/>
                    <a:pt x="1865676" y="1510984"/>
                  </a:cubicBezTo>
                  <a:lnTo>
                    <a:pt x="27485" y="1510984"/>
                  </a:lnTo>
                  <a:cubicBezTo>
                    <a:pt x="20196" y="1510984"/>
                    <a:pt x="13205" y="1508088"/>
                    <a:pt x="8050" y="1502934"/>
                  </a:cubicBezTo>
                  <a:cubicBezTo>
                    <a:pt x="2896" y="1497779"/>
                    <a:pt x="0" y="1490788"/>
                    <a:pt x="0" y="1483499"/>
                  </a:cubicBezTo>
                  <a:lnTo>
                    <a:pt x="0" y="27485"/>
                  </a:lnTo>
                  <a:cubicBezTo>
                    <a:pt x="0" y="20196"/>
                    <a:pt x="2896" y="13205"/>
                    <a:pt x="8050" y="8050"/>
                  </a:cubicBezTo>
                  <a:cubicBezTo>
                    <a:pt x="13205" y="2896"/>
                    <a:pt x="20196" y="0"/>
                    <a:pt x="27485" y="0"/>
                  </a:cubicBezTo>
                  <a:close/>
                </a:path>
              </a:pathLst>
            </a:custGeom>
            <a:solidFill>
              <a:srgbClr val="FFB437"/>
            </a:solidFill>
          </p:spPr>
          <p:txBody>
            <a:bodyPr/>
            <a:lstStyle/>
            <a:p>
              <a:endParaRPr lang="en-GB"/>
            </a:p>
          </p:txBody>
        </p:sp>
        <p:sp>
          <p:nvSpPr>
            <p:cNvPr id="9" name="TextBox 9"/>
            <p:cNvSpPr txBox="1"/>
            <p:nvPr/>
          </p:nvSpPr>
          <p:spPr>
            <a:xfrm>
              <a:off x="0" y="-171450"/>
              <a:ext cx="1893161" cy="1682434"/>
            </a:xfrm>
            <a:prstGeom prst="rect">
              <a:avLst/>
            </a:prstGeom>
          </p:spPr>
          <p:txBody>
            <a:bodyPr lIns="50800" tIns="50800" rIns="50800" bIns="50800" rtlCol="0" anchor="ctr"/>
            <a:lstStyle/>
            <a:p>
              <a:pPr algn="ctr">
                <a:lnSpc>
                  <a:spcPts val="5220"/>
                </a:lnSpc>
              </a:pPr>
              <a:endParaRPr/>
            </a:p>
          </p:txBody>
        </p:sp>
      </p:grpSp>
      <p:grpSp>
        <p:nvGrpSpPr>
          <p:cNvPr id="10" name="Group 10"/>
          <p:cNvGrpSpPr/>
          <p:nvPr/>
        </p:nvGrpSpPr>
        <p:grpSpPr>
          <a:xfrm>
            <a:off x="10872039" y="3572424"/>
            <a:ext cx="7886940" cy="6294782"/>
            <a:chOff x="0" y="0"/>
            <a:chExt cx="1893161" cy="1510984"/>
          </a:xfrm>
        </p:grpSpPr>
        <p:sp>
          <p:nvSpPr>
            <p:cNvPr id="11" name="Freeform 11"/>
            <p:cNvSpPr/>
            <p:nvPr/>
          </p:nvSpPr>
          <p:spPr>
            <a:xfrm>
              <a:off x="0" y="0"/>
              <a:ext cx="1893161" cy="1510984"/>
            </a:xfrm>
            <a:custGeom>
              <a:avLst/>
              <a:gdLst/>
              <a:ahLst/>
              <a:cxnLst/>
              <a:rect l="l" t="t" r="r" b="b"/>
              <a:pathLst>
                <a:path w="1893161" h="1510984">
                  <a:moveTo>
                    <a:pt x="27485" y="0"/>
                  </a:moveTo>
                  <a:lnTo>
                    <a:pt x="1865676" y="0"/>
                  </a:lnTo>
                  <a:cubicBezTo>
                    <a:pt x="1872966" y="0"/>
                    <a:pt x="1879957" y="2896"/>
                    <a:pt x="1885111" y="8050"/>
                  </a:cubicBezTo>
                  <a:cubicBezTo>
                    <a:pt x="1890266" y="13205"/>
                    <a:pt x="1893161" y="20196"/>
                    <a:pt x="1893161" y="27485"/>
                  </a:cubicBezTo>
                  <a:lnTo>
                    <a:pt x="1893161" y="1483499"/>
                  </a:lnTo>
                  <a:cubicBezTo>
                    <a:pt x="1893161" y="1490788"/>
                    <a:pt x="1890266" y="1497779"/>
                    <a:pt x="1885111" y="1502934"/>
                  </a:cubicBezTo>
                  <a:cubicBezTo>
                    <a:pt x="1879957" y="1508088"/>
                    <a:pt x="1872966" y="1510984"/>
                    <a:pt x="1865676" y="1510984"/>
                  </a:cubicBezTo>
                  <a:lnTo>
                    <a:pt x="27485" y="1510984"/>
                  </a:lnTo>
                  <a:cubicBezTo>
                    <a:pt x="20196" y="1510984"/>
                    <a:pt x="13205" y="1508088"/>
                    <a:pt x="8050" y="1502934"/>
                  </a:cubicBezTo>
                  <a:cubicBezTo>
                    <a:pt x="2896" y="1497779"/>
                    <a:pt x="0" y="1490788"/>
                    <a:pt x="0" y="1483499"/>
                  </a:cubicBezTo>
                  <a:lnTo>
                    <a:pt x="0" y="27485"/>
                  </a:lnTo>
                  <a:cubicBezTo>
                    <a:pt x="0" y="20196"/>
                    <a:pt x="2896" y="13205"/>
                    <a:pt x="8050" y="8050"/>
                  </a:cubicBezTo>
                  <a:cubicBezTo>
                    <a:pt x="13205" y="2896"/>
                    <a:pt x="20196" y="0"/>
                    <a:pt x="27485" y="0"/>
                  </a:cubicBezTo>
                  <a:close/>
                </a:path>
              </a:pathLst>
            </a:custGeom>
            <a:solidFill>
              <a:srgbClr val="FFB437"/>
            </a:solidFill>
          </p:spPr>
          <p:txBody>
            <a:bodyPr/>
            <a:lstStyle/>
            <a:p>
              <a:endParaRPr lang="en-GB"/>
            </a:p>
          </p:txBody>
        </p:sp>
        <p:sp>
          <p:nvSpPr>
            <p:cNvPr id="12" name="TextBox 12"/>
            <p:cNvSpPr txBox="1"/>
            <p:nvPr/>
          </p:nvSpPr>
          <p:spPr>
            <a:xfrm>
              <a:off x="0" y="-171450"/>
              <a:ext cx="1893161" cy="1682434"/>
            </a:xfrm>
            <a:prstGeom prst="rect">
              <a:avLst/>
            </a:prstGeom>
          </p:spPr>
          <p:txBody>
            <a:bodyPr lIns="50800" tIns="50800" rIns="50800" bIns="50800" rtlCol="0" anchor="ctr"/>
            <a:lstStyle/>
            <a:p>
              <a:pPr algn="ctr">
                <a:lnSpc>
                  <a:spcPts val="5220"/>
                </a:lnSpc>
              </a:pPr>
              <a:endParaRPr/>
            </a:p>
          </p:txBody>
        </p:sp>
      </p:grpSp>
      <p:sp>
        <p:nvSpPr>
          <p:cNvPr id="13" name="TextBox 13"/>
          <p:cNvSpPr txBox="1"/>
          <p:nvPr/>
        </p:nvSpPr>
        <p:spPr>
          <a:xfrm>
            <a:off x="11547058" y="3805165"/>
            <a:ext cx="6536902" cy="5676899"/>
          </a:xfrm>
          <a:prstGeom prst="rect">
            <a:avLst/>
          </a:prstGeom>
        </p:spPr>
        <p:txBody>
          <a:bodyPr lIns="0" tIns="0" rIns="0" bIns="0" rtlCol="0" anchor="t">
            <a:spAutoFit/>
          </a:bodyPr>
          <a:lstStyle/>
          <a:p>
            <a:pPr algn="l">
              <a:lnSpc>
                <a:spcPts val="4500"/>
              </a:lnSpc>
            </a:pPr>
            <a:r>
              <a:rPr lang="en-US" sz="2500" b="1">
                <a:solidFill>
                  <a:srgbClr val="272F51"/>
                </a:solidFill>
                <a:latin typeface="Open Sans Semi-Bold"/>
                <a:ea typeface="Open Sans Semi-Bold"/>
                <a:cs typeface="Open Sans Semi-Bold"/>
                <a:sym typeface="Open Sans Semi-Bold"/>
              </a:rPr>
              <a:t>Hi, I’m James from LiteracyBridge. We run mobile libraries that bring books to off-grid villages in Kenya, helping thousands of children build reading skills. With over 60% of rural kids lacking access to reading materials, we’re filling a critical gap. We’ve reached 10,000 kids so far and aim to double that this year. We’re looking for funding and education partners to grow, can we explore how you could help?</a:t>
            </a:r>
          </a:p>
        </p:txBody>
      </p:sp>
      <p:sp>
        <p:nvSpPr>
          <p:cNvPr id="14" name="TextBox 14"/>
          <p:cNvSpPr txBox="1"/>
          <p:nvPr/>
        </p:nvSpPr>
        <p:spPr>
          <a:xfrm>
            <a:off x="3115941" y="1697137"/>
            <a:ext cx="5548431" cy="1393824"/>
          </a:xfrm>
          <a:prstGeom prst="rect">
            <a:avLst/>
          </a:prstGeom>
        </p:spPr>
        <p:txBody>
          <a:bodyPr lIns="0" tIns="0" rIns="0" bIns="0" rtlCol="0" anchor="t">
            <a:spAutoFit/>
          </a:bodyPr>
          <a:lstStyle/>
          <a:p>
            <a:pPr algn="l">
              <a:lnSpc>
                <a:spcPts val="5600"/>
              </a:lnSpc>
            </a:pPr>
            <a:r>
              <a:rPr lang="en-US" sz="4000">
                <a:solidFill>
                  <a:srgbClr val="FFFEFE"/>
                </a:solidFill>
                <a:latin typeface="League Spartan"/>
                <a:ea typeface="League Spartan"/>
                <a:cs typeface="League Spartan"/>
                <a:sym typeface="League Spartan"/>
              </a:rPr>
              <a:t>Final Elevat</a:t>
            </a:r>
            <a:r>
              <a:rPr lang="en-US" sz="4000" b="1">
                <a:solidFill>
                  <a:srgbClr val="FFFEFE"/>
                </a:solidFill>
                <a:latin typeface="League Spartan"/>
                <a:ea typeface="League Spartan"/>
                <a:cs typeface="League Spartan"/>
                <a:sym typeface="League Spartan"/>
              </a:rPr>
              <a:t>or Pitch Example (For-Profit)</a:t>
            </a:r>
          </a:p>
        </p:txBody>
      </p:sp>
      <p:sp>
        <p:nvSpPr>
          <p:cNvPr id="15" name="TextBox 15"/>
          <p:cNvSpPr txBox="1"/>
          <p:nvPr/>
        </p:nvSpPr>
        <p:spPr>
          <a:xfrm>
            <a:off x="2729521" y="4169100"/>
            <a:ext cx="6536902" cy="5105399"/>
          </a:xfrm>
          <a:prstGeom prst="rect">
            <a:avLst/>
          </a:prstGeom>
        </p:spPr>
        <p:txBody>
          <a:bodyPr lIns="0" tIns="0" rIns="0" bIns="0" rtlCol="0" anchor="t">
            <a:spAutoFit/>
          </a:bodyPr>
          <a:lstStyle/>
          <a:p>
            <a:pPr algn="l">
              <a:lnSpc>
                <a:spcPts val="4500"/>
              </a:lnSpc>
            </a:pPr>
            <a:r>
              <a:rPr lang="en-US" sz="2500" b="1">
                <a:solidFill>
                  <a:srgbClr val="272F51"/>
                </a:solidFill>
                <a:latin typeface="Open Sans Semi-Bold"/>
                <a:ea typeface="Open Sans Semi-Bold"/>
                <a:cs typeface="Open Sans Semi-Bold"/>
                <a:sym typeface="Open Sans Semi-Bold"/>
              </a:rPr>
              <a:t>Hi, I’m Amina from EcoPack. We produce compostable packaging for African food vendors using local crop waste. With plastic pollution rising and bans increasing, vendors need affordable, eco-friendly alternatives. We’ve served 2,000 vendors in Nairobi so far, and we’re expanding regionally. We’re raising $100K to scale—can we chat further?</a:t>
            </a:r>
          </a:p>
        </p:txBody>
      </p:sp>
      <p:sp>
        <p:nvSpPr>
          <p:cNvPr id="16" name="TextBox 16"/>
          <p:cNvSpPr txBox="1"/>
          <p:nvPr/>
        </p:nvSpPr>
        <p:spPr>
          <a:xfrm>
            <a:off x="11926703" y="1697137"/>
            <a:ext cx="5777612" cy="1393824"/>
          </a:xfrm>
          <a:prstGeom prst="rect">
            <a:avLst/>
          </a:prstGeom>
        </p:spPr>
        <p:txBody>
          <a:bodyPr lIns="0" tIns="0" rIns="0" bIns="0" rtlCol="0" anchor="t">
            <a:spAutoFit/>
          </a:bodyPr>
          <a:lstStyle/>
          <a:p>
            <a:pPr algn="l">
              <a:lnSpc>
                <a:spcPts val="5600"/>
              </a:lnSpc>
            </a:pPr>
            <a:r>
              <a:rPr lang="en-US" sz="4000">
                <a:solidFill>
                  <a:srgbClr val="FFFEFE"/>
                </a:solidFill>
                <a:latin typeface="League Spartan"/>
                <a:ea typeface="League Spartan"/>
                <a:cs typeface="League Spartan"/>
                <a:sym typeface="League Spartan"/>
              </a:rPr>
              <a:t>Final Elevat</a:t>
            </a:r>
            <a:r>
              <a:rPr lang="en-US" sz="4000" b="1">
                <a:solidFill>
                  <a:srgbClr val="FFFEFE"/>
                </a:solidFill>
                <a:latin typeface="League Spartan"/>
                <a:ea typeface="League Spartan"/>
                <a:cs typeface="League Spartan"/>
                <a:sym typeface="League Spartan"/>
              </a:rPr>
              <a:t>or Pitch Example (Non-Profit)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20091397" cy="11290297"/>
          </a:xfrm>
          <a:custGeom>
            <a:avLst/>
            <a:gdLst/>
            <a:ahLst/>
            <a:cxnLst/>
            <a:rect l="l" t="t" r="r" b="b"/>
            <a:pathLst>
              <a:path w="20091397" h="11290297">
                <a:moveTo>
                  <a:pt x="0" y="0"/>
                </a:moveTo>
                <a:lnTo>
                  <a:pt x="20091397" y="0"/>
                </a:lnTo>
                <a:lnTo>
                  <a:pt x="20091397" y="11290297"/>
                </a:lnTo>
                <a:lnTo>
                  <a:pt x="0" y="11290297"/>
                </a:lnTo>
                <a:lnTo>
                  <a:pt x="0" y="0"/>
                </a:lnTo>
                <a:close/>
              </a:path>
            </a:pathLst>
          </a:custGeom>
          <a:blipFill>
            <a:blip r:embed="rId2"/>
            <a:stretch>
              <a:fillRect r="-63" b="-168"/>
            </a:stretch>
          </a:blipFill>
        </p:spPr>
        <p:txBody>
          <a:bodyPr/>
          <a:lstStyle/>
          <a:p>
            <a:endParaRPr lang="en-GB"/>
          </a:p>
        </p:txBody>
      </p:sp>
      <p:sp>
        <p:nvSpPr>
          <p:cNvPr id="3" name="Freeform 3"/>
          <p:cNvSpPr/>
          <p:nvPr/>
        </p:nvSpPr>
        <p:spPr>
          <a:xfrm>
            <a:off x="0" y="0"/>
            <a:ext cx="20091397" cy="11290297"/>
          </a:xfrm>
          <a:custGeom>
            <a:avLst/>
            <a:gdLst/>
            <a:ahLst/>
            <a:cxnLst/>
            <a:rect l="l" t="t" r="r" b="b"/>
            <a:pathLst>
              <a:path w="20091397" h="11290297">
                <a:moveTo>
                  <a:pt x="0" y="0"/>
                </a:moveTo>
                <a:lnTo>
                  <a:pt x="20091397" y="0"/>
                </a:lnTo>
                <a:lnTo>
                  <a:pt x="20091397" y="11290297"/>
                </a:lnTo>
                <a:lnTo>
                  <a:pt x="0" y="1129029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4" name="Freeform 4"/>
          <p:cNvSpPr/>
          <p:nvPr/>
        </p:nvSpPr>
        <p:spPr>
          <a:xfrm>
            <a:off x="0" y="0"/>
            <a:ext cx="20091397" cy="11290297"/>
          </a:xfrm>
          <a:custGeom>
            <a:avLst/>
            <a:gdLst/>
            <a:ahLst/>
            <a:cxnLst/>
            <a:rect l="l" t="t" r="r" b="b"/>
            <a:pathLst>
              <a:path w="20091397" h="11290297">
                <a:moveTo>
                  <a:pt x="0" y="0"/>
                </a:moveTo>
                <a:lnTo>
                  <a:pt x="20091397" y="0"/>
                </a:lnTo>
                <a:lnTo>
                  <a:pt x="20091397" y="11290297"/>
                </a:lnTo>
                <a:lnTo>
                  <a:pt x="0" y="11290297"/>
                </a:lnTo>
                <a:lnTo>
                  <a:pt x="0" y="0"/>
                </a:lnTo>
                <a:close/>
              </a:path>
            </a:pathLst>
          </a:custGeom>
          <a:blipFill>
            <a:blip r:embed="rId5"/>
            <a:stretch>
              <a:fillRect t="-84" r="-12821" b="-84"/>
            </a:stretch>
          </a:blipFill>
        </p:spPr>
        <p:txBody>
          <a:bodyPr/>
          <a:lstStyle/>
          <a:p>
            <a:endParaRPr lang="en-GB"/>
          </a:p>
        </p:txBody>
      </p:sp>
      <p:sp>
        <p:nvSpPr>
          <p:cNvPr id="5" name="Freeform 5"/>
          <p:cNvSpPr/>
          <p:nvPr/>
        </p:nvSpPr>
        <p:spPr>
          <a:xfrm>
            <a:off x="0" y="0"/>
            <a:ext cx="20091397" cy="11290297"/>
          </a:xfrm>
          <a:custGeom>
            <a:avLst/>
            <a:gdLst/>
            <a:ahLst/>
            <a:cxnLst/>
            <a:rect l="l" t="t" r="r" b="b"/>
            <a:pathLst>
              <a:path w="20091397" h="11290297">
                <a:moveTo>
                  <a:pt x="0" y="0"/>
                </a:moveTo>
                <a:lnTo>
                  <a:pt x="20091397" y="0"/>
                </a:lnTo>
                <a:lnTo>
                  <a:pt x="20091397" y="11290297"/>
                </a:lnTo>
                <a:lnTo>
                  <a:pt x="0" y="1129029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6" name="Freeform 6"/>
          <p:cNvSpPr/>
          <p:nvPr/>
        </p:nvSpPr>
        <p:spPr>
          <a:xfrm rot="5400000">
            <a:off x="-4961556" y="4967910"/>
            <a:ext cx="11283953" cy="1360831"/>
          </a:xfrm>
          <a:custGeom>
            <a:avLst/>
            <a:gdLst/>
            <a:ahLst/>
            <a:cxnLst/>
            <a:rect l="l" t="t" r="r" b="b"/>
            <a:pathLst>
              <a:path w="11283953" h="1360831">
                <a:moveTo>
                  <a:pt x="0" y="0"/>
                </a:moveTo>
                <a:lnTo>
                  <a:pt x="11283953" y="0"/>
                </a:lnTo>
                <a:lnTo>
                  <a:pt x="11283953" y="1360830"/>
                </a:lnTo>
                <a:lnTo>
                  <a:pt x="0" y="1360830"/>
                </a:lnTo>
                <a:lnTo>
                  <a:pt x="0" y="0"/>
                </a:lnTo>
                <a:close/>
              </a:path>
            </a:pathLst>
          </a:custGeom>
          <a:blipFill>
            <a:blip r:embed="rId6"/>
            <a:stretch>
              <a:fillRect t="-353831" r="-112" b="-376297"/>
            </a:stretch>
          </a:blipFill>
        </p:spPr>
        <p:txBody>
          <a:bodyPr/>
          <a:lstStyle/>
          <a:p>
            <a:endParaRPr lang="en-GB"/>
          </a:p>
        </p:txBody>
      </p:sp>
      <p:grpSp>
        <p:nvGrpSpPr>
          <p:cNvPr id="7" name="Group 7"/>
          <p:cNvGrpSpPr/>
          <p:nvPr/>
        </p:nvGrpSpPr>
        <p:grpSpPr>
          <a:xfrm>
            <a:off x="2249090" y="2058826"/>
            <a:ext cx="7421808" cy="3733963"/>
            <a:chOff x="0" y="0"/>
            <a:chExt cx="1781512" cy="768320"/>
          </a:xfrm>
        </p:grpSpPr>
        <p:sp>
          <p:nvSpPr>
            <p:cNvPr id="8" name="Freeform 8"/>
            <p:cNvSpPr/>
            <p:nvPr/>
          </p:nvSpPr>
          <p:spPr>
            <a:xfrm>
              <a:off x="0" y="0"/>
              <a:ext cx="1781512" cy="768320"/>
            </a:xfrm>
            <a:custGeom>
              <a:avLst/>
              <a:gdLst/>
              <a:ahLst/>
              <a:cxnLst/>
              <a:rect l="l" t="t" r="r" b="b"/>
              <a:pathLst>
                <a:path w="1781512" h="768320">
                  <a:moveTo>
                    <a:pt x="29208" y="0"/>
                  </a:moveTo>
                  <a:lnTo>
                    <a:pt x="1752304" y="0"/>
                  </a:lnTo>
                  <a:cubicBezTo>
                    <a:pt x="1760051" y="0"/>
                    <a:pt x="1767480" y="3077"/>
                    <a:pt x="1772957" y="8555"/>
                  </a:cubicBezTo>
                  <a:cubicBezTo>
                    <a:pt x="1778435" y="14032"/>
                    <a:pt x="1781512" y="21461"/>
                    <a:pt x="1781512" y="29208"/>
                  </a:cubicBezTo>
                  <a:lnTo>
                    <a:pt x="1781512" y="739112"/>
                  </a:lnTo>
                  <a:cubicBezTo>
                    <a:pt x="1781512" y="746859"/>
                    <a:pt x="1778435" y="754288"/>
                    <a:pt x="1772957" y="759765"/>
                  </a:cubicBezTo>
                  <a:cubicBezTo>
                    <a:pt x="1767480" y="765243"/>
                    <a:pt x="1760051" y="768320"/>
                    <a:pt x="1752304" y="768320"/>
                  </a:cubicBezTo>
                  <a:lnTo>
                    <a:pt x="29208" y="768320"/>
                  </a:lnTo>
                  <a:cubicBezTo>
                    <a:pt x="21461" y="768320"/>
                    <a:pt x="14032" y="765243"/>
                    <a:pt x="8555" y="759765"/>
                  </a:cubicBezTo>
                  <a:cubicBezTo>
                    <a:pt x="3077" y="754288"/>
                    <a:pt x="0" y="746859"/>
                    <a:pt x="0" y="739112"/>
                  </a:cubicBezTo>
                  <a:lnTo>
                    <a:pt x="0" y="29208"/>
                  </a:lnTo>
                  <a:cubicBezTo>
                    <a:pt x="0" y="21461"/>
                    <a:pt x="3077" y="14032"/>
                    <a:pt x="8555" y="8555"/>
                  </a:cubicBezTo>
                  <a:cubicBezTo>
                    <a:pt x="14032" y="3077"/>
                    <a:pt x="21461" y="0"/>
                    <a:pt x="29208" y="0"/>
                  </a:cubicBezTo>
                  <a:close/>
                </a:path>
              </a:pathLst>
            </a:custGeom>
            <a:solidFill>
              <a:srgbClr val="08C8A1"/>
            </a:solidFill>
          </p:spPr>
          <p:txBody>
            <a:bodyPr/>
            <a:lstStyle/>
            <a:p>
              <a:pPr algn="just">
                <a:lnSpc>
                  <a:spcPct val="150000"/>
                </a:lnSpc>
              </a:pPr>
              <a:r>
                <a:rPr lang="en-GB" sz="2500" dirty="0" err="1"/>
                <a:t>Uhai</a:t>
              </a:r>
              <a:r>
                <a:rPr lang="en-GB" sz="2500" dirty="0"/>
                <a:t> Life Sciences</a:t>
              </a:r>
              <a:r>
                <a:rPr lang="en-US" sz="2500" dirty="0"/>
                <a:t>, founded in 2023, is a social enterprise dedicated to strengthening the health system's blood supply chain. Our goal is to address critical issues in access, processing, and distribution of blood, ensuring that every patient in need receives timely and safe transfusions.</a:t>
              </a:r>
              <a:endParaRPr lang="en-GB" sz="2500" dirty="0">
                <a:latin typeface=""/>
              </a:endParaRPr>
            </a:p>
          </p:txBody>
        </p:sp>
        <p:sp>
          <p:nvSpPr>
            <p:cNvPr id="9" name="TextBox 9"/>
            <p:cNvSpPr txBox="1"/>
            <p:nvPr/>
          </p:nvSpPr>
          <p:spPr>
            <a:xfrm>
              <a:off x="0" y="-171450"/>
              <a:ext cx="1781512" cy="939770"/>
            </a:xfrm>
            <a:prstGeom prst="rect">
              <a:avLst/>
            </a:prstGeom>
          </p:spPr>
          <p:txBody>
            <a:bodyPr lIns="50800" tIns="50800" rIns="50800" bIns="50800" rtlCol="0" anchor="ctr"/>
            <a:lstStyle/>
            <a:p>
              <a:pPr algn="ctr">
                <a:lnSpc>
                  <a:spcPts val="5220"/>
                </a:lnSpc>
              </a:pPr>
              <a:endParaRPr/>
            </a:p>
          </p:txBody>
        </p:sp>
      </p:grpSp>
      <p:sp>
        <p:nvSpPr>
          <p:cNvPr id="10" name="TextBox 10"/>
          <p:cNvSpPr txBox="1"/>
          <p:nvPr/>
        </p:nvSpPr>
        <p:spPr>
          <a:xfrm>
            <a:off x="2249090" y="1062037"/>
            <a:ext cx="7421808" cy="523874"/>
          </a:xfrm>
          <a:prstGeom prst="rect">
            <a:avLst/>
          </a:prstGeom>
        </p:spPr>
        <p:txBody>
          <a:bodyPr lIns="0" tIns="0" rIns="0" bIns="0" rtlCol="0" anchor="t">
            <a:spAutoFit/>
          </a:bodyPr>
          <a:lstStyle/>
          <a:p>
            <a:pPr algn="l">
              <a:lnSpc>
                <a:spcPts val="4200"/>
              </a:lnSpc>
            </a:pPr>
            <a:r>
              <a:rPr lang="en-US" sz="3000">
                <a:solidFill>
                  <a:srgbClr val="FFFEFE"/>
                </a:solidFill>
                <a:latin typeface="League Spartan"/>
                <a:ea typeface="League Spartan"/>
                <a:cs typeface="League Spartan"/>
                <a:sym typeface="League Spartan"/>
              </a:rPr>
              <a:t>1. Who </a:t>
            </a:r>
            <a:r>
              <a:rPr lang="en-US" sz="3000" b="1">
                <a:solidFill>
                  <a:srgbClr val="FFFEFE"/>
                </a:solidFill>
                <a:latin typeface="League Spartan"/>
                <a:ea typeface="League Spartan"/>
                <a:cs typeface="League Spartan"/>
                <a:sym typeface="League Spartan"/>
              </a:rPr>
              <a:t>are you and what do you do?</a:t>
            </a:r>
          </a:p>
        </p:txBody>
      </p:sp>
      <p:sp>
        <p:nvSpPr>
          <p:cNvPr id="11" name="TextBox 11"/>
          <p:cNvSpPr txBox="1"/>
          <p:nvPr/>
        </p:nvSpPr>
        <p:spPr>
          <a:xfrm>
            <a:off x="11537705" y="1062037"/>
            <a:ext cx="7421808" cy="523874"/>
          </a:xfrm>
          <a:prstGeom prst="rect">
            <a:avLst/>
          </a:prstGeom>
        </p:spPr>
        <p:txBody>
          <a:bodyPr lIns="0" tIns="0" rIns="0" bIns="0" rtlCol="0" anchor="t">
            <a:spAutoFit/>
          </a:bodyPr>
          <a:lstStyle/>
          <a:p>
            <a:pPr algn="l">
              <a:lnSpc>
                <a:spcPts val="4200"/>
              </a:lnSpc>
            </a:pPr>
            <a:r>
              <a:rPr lang="en-US" sz="3000">
                <a:solidFill>
                  <a:srgbClr val="FFFEFE"/>
                </a:solidFill>
                <a:latin typeface="League Spartan"/>
                <a:ea typeface="League Spartan"/>
                <a:cs typeface="League Spartan"/>
                <a:sym typeface="League Spartan"/>
              </a:rPr>
              <a:t>2. What problem </a:t>
            </a:r>
            <a:r>
              <a:rPr lang="en-US" sz="3000" b="1">
                <a:solidFill>
                  <a:srgbClr val="FFFEFE"/>
                </a:solidFill>
                <a:latin typeface="League Spartan"/>
                <a:ea typeface="League Spartan"/>
                <a:cs typeface="League Spartan"/>
                <a:sym typeface="League Spartan"/>
              </a:rPr>
              <a:t>are you solving?</a:t>
            </a:r>
          </a:p>
        </p:txBody>
      </p:sp>
      <p:grpSp>
        <p:nvGrpSpPr>
          <p:cNvPr id="12" name="Group 12"/>
          <p:cNvGrpSpPr/>
          <p:nvPr/>
        </p:nvGrpSpPr>
        <p:grpSpPr>
          <a:xfrm>
            <a:off x="11225040" y="1881188"/>
            <a:ext cx="8186910" cy="4092736"/>
            <a:chOff x="0" y="0"/>
            <a:chExt cx="1856564" cy="768320"/>
          </a:xfrm>
        </p:grpSpPr>
        <p:sp>
          <p:nvSpPr>
            <p:cNvPr id="13" name="Freeform 13"/>
            <p:cNvSpPr/>
            <p:nvPr/>
          </p:nvSpPr>
          <p:spPr>
            <a:xfrm>
              <a:off x="0" y="0"/>
              <a:ext cx="1856564" cy="768320"/>
            </a:xfrm>
            <a:custGeom>
              <a:avLst/>
              <a:gdLst/>
              <a:ahLst/>
              <a:cxnLst/>
              <a:rect l="l" t="t" r="r" b="b"/>
              <a:pathLst>
                <a:path w="1856564" h="768320">
                  <a:moveTo>
                    <a:pt x="28027" y="0"/>
                  </a:moveTo>
                  <a:lnTo>
                    <a:pt x="1828537" y="0"/>
                  </a:lnTo>
                  <a:cubicBezTo>
                    <a:pt x="1835970" y="0"/>
                    <a:pt x="1843099" y="2953"/>
                    <a:pt x="1848355" y="8209"/>
                  </a:cubicBezTo>
                  <a:cubicBezTo>
                    <a:pt x="1853611" y="13465"/>
                    <a:pt x="1856564" y="20594"/>
                    <a:pt x="1856564" y="28027"/>
                  </a:cubicBezTo>
                  <a:lnTo>
                    <a:pt x="1856564" y="740293"/>
                  </a:lnTo>
                  <a:cubicBezTo>
                    <a:pt x="1856564" y="747726"/>
                    <a:pt x="1853611" y="754855"/>
                    <a:pt x="1848355" y="760111"/>
                  </a:cubicBezTo>
                  <a:cubicBezTo>
                    <a:pt x="1843099" y="765367"/>
                    <a:pt x="1835970" y="768320"/>
                    <a:pt x="1828537" y="768320"/>
                  </a:cubicBezTo>
                  <a:lnTo>
                    <a:pt x="28027" y="768320"/>
                  </a:lnTo>
                  <a:cubicBezTo>
                    <a:pt x="20594" y="768320"/>
                    <a:pt x="13465" y="765367"/>
                    <a:pt x="8209" y="760111"/>
                  </a:cubicBezTo>
                  <a:cubicBezTo>
                    <a:pt x="2953" y="754855"/>
                    <a:pt x="0" y="747726"/>
                    <a:pt x="0" y="740293"/>
                  </a:cubicBezTo>
                  <a:lnTo>
                    <a:pt x="0" y="28027"/>
                  </a:lnTo>
                  <a:cubicBezTo>
                    <a:pt x="0" y="20594"/>
                    <a:pt x="2953" y="13465"/>
                    <a:pt x="8209" y="8209"/>
                  </a:cubicBezTo>
                  <a:cubicBezTo>
                    <a:pt x="13465" y="2953"/>
                    <a:pt x="20594" y="0"/>
                    <a:pt x="28027" y="0"/>
                  </a:cubicBezTo>
                  <a:close/>
                </a:path>
              </a:pathLst>
            </a:custGeom>
            <a:solidFill>
              <a:srgbClr val="08C8A1"/>
            </a:solidFill>
          </p:spPr>
          <p:txBody>
            <a:bodyPr/>
            <a:lstStyle/>
            <a:p>
              <a:pPr algn="just">
                <a:lnSpc>
                  <a:spcPct val="150000"/>
                </a:lnSpc>
              </a:pPr>
              <a:r>
                <a:rPr lang="en-US" sz="2500" dirty="0"/>
                <a:t>In Kenya, millions of patients suffer due to inadequate and irregular blood supply. A 2022 Auditor General report highlighted critical issues like inefficient management, insufficient donations, and unreliable blood storage. These challenges jeopardize lives, especially for patients with chronic diseases such as cancer and blood disorders.</a:t>
              </a:r>
              <a:endParaRPr lang="en-GB" sz="2500" dirty="0"/>
            </a:p>
          </p:txBody>
        </p:sp>
        <p:sp>
          <p:nvSpPr>
            <p:cNvPr id="14" name="TextBox 14"/>
            <p:cNvSpPr txBox="1"/>
            <p:nvPr/>
          </p:nvSpPr>
          <p:spPr>
            <a:xfrm>
              <a:off x="0" y="-171450"/>
              <a:ext cx="1856564" cy="939770"/>
            </a:xfrm>
            <a:prstGeom prst="rect">
              <a:avLst/>
            </a:prstGeom>
          </p:spPr>
          <p:txBody>
            <a:bodyPr lIns="50800" tIns="50800" rIns="50800" bIns="50800" rtlCol="0" anchor="ctr"/>
            <a:lstStyle/>
            <a:p>
              <a:pPr algn="ctr">
                <a:lnSpc>
                  <a:spcPts val="5220"/>
                </a:lnSpc>
              </a:pPr>
              <a:endParaRPr/>
            </a:p>
          </p:txBody>
        </p:sp>
      </p:grpSp>
      <p:sp>
        <p:nvSpPr>
          <p:cNvPr id="15" name="TextBox 15"/>
          <p:cNvSpPr txBox="1"/>
          <p:nvPr/>
        </p:nvSpPr>
        <p:spPr>
          <a:xfrm>
            <a:off x="2249090" y="6034086"/>
            <a:ext cx="7421808" cy="523874"/>
          </a:xfrm>
          <a:prstGeom prst="rect">
            <a:avLst/>
          </a:prstGeom>
        </p:spPr>
        <p:txBody>
          <a:bodyPr lIns="0" tIns="0" rIns="0" bIns="0" rtlCol="0" anchor="t">
            <a:spAutoFit/>
          </a:bodyPr>
          <a:lstStyle/>
          <a:p>
            <a:pPr algn="l">
              <a:lnSpc>
                <a:spcPts val="4200"/>
              </a:lnSpc>
            </a:pPr>
            <a:r>
              <a:rPr lang="en-US" sz="3000">
                <a:solidFill>
                  <a:srgbClr val="FFFEFE"/>
                </a:solidFill>
                <a:latin typeface="League Spartan"/>
                <a:ea typeface="League Spartan"/>
                <a:cs typeface="League Spartan"/>
                <a:sym typeface="League Spartan"/>
              </a:rPr>
              <a:t>3. Wh</a:t>
            </a:r>
            <a:r>
              <a:rPr lang="en-US" sz="3000" b="1">
                <a:solidFill>
                  <a:srgbClr val="FFFEFE"/>
                </a:solidFill>
                <a:latin typeface="League Spartan"/>
                <a:ea typeface="League Spartan"/>
                <a:cs typeface="League Spartan"/>
                <a:sym typeface="League Spartan"/>
              </a:rPr>
              <a:t>at is your solution?</a:t>
            </a:r>
          </a:p>
        </p:txBody>
      </p:sp>
      <p:grpSp>
        <p:nvGrpSpPr>
          <p:cNvPr id="16" name="Group 16"/>
          <p:cNvGrpSpPr/>
          <p:nvPr/>
        </p:nvGrpSpPr>
        <p:grpSpPr>
          <a:xfrm>
            <a:off x="2249090" y="6007166"/>
            <a:ext cx="7844068" cy="5041835"/>
            <a:chOff x="0" y="-171450"/>
            <a:chExt cx="1793817" cy="1021691"/>
          </a:xfrm>
        </p:grpSpPr>
        <p:sp>
          <p:nvSpPr>
            <p:cNvPr id="17" name="Freeform 17"/>
            <p:cNvSpPr/>
            <p:nvPr/>
          </p:nvSpPr>
          <p:spPr>
            <a:xfrm>
              <a:off x="0" y="0"/>
              <a:ext cx="1793817" cy="850241"/>
            </a:xfrm>
            <a:custGeom>
              <a:avLst/>
              <a:gdLst/>
              <a:ahLst/>
              <a:cxnLst/>
              <a:rect l="l" t="t" r="r" b="b"/>
              <a:pathLst>
                <a:path w="1781512" h="793366">
                  <a:moveTo>
                    <a:pt x="29208" y="0"/>
                  </a:moveTo>
                  <a:lnTo>
                    <a:pt x="1752304" y="0"/>
                  </a:lnTo>
                  <a:cubicBezTo>
                    <a:pt x="1760051" y="0"/>
                    <a:pt x="1767480" y="3077"/>
                    <a:pt x="1772957" y="8555"/>
                  </a:cubicBezTo>
                  <a:cubicBezTo>
                    <a:pt x="1778435" y="14032"/>
                    <a:pt x="1781512" y="21461"/>
                    <a:pt x="1781512" y="29208"/>
                  </a:cubicBezTo>
                  <a:lnTo>
                    <a:pt x="1781512" y="764159"/>
                  </a:lnTo>
                  <a:cubicBezTo>
                    <a:pt x="1781512" y="771905"/>
                    <a:pt x="1778435" y="779334"/>
                    <a:pt x="1772957" y="784812"/>
                  </a:cubicBezTo>
                  <a:cubicBezTo>
                    <a:pt x="1767480" y="790289"/>
                    <a:pt x="1760051" y="793366"/>
                    <a:pt x="1752304" y="793366"/>
                  </a:cubicBezTo>
                  <a:lnTo>
                    <a:pt x="29208" y="793366"/>
                  </a:lnTo>
                  <a:cubicBezTo>
                    <a:pt x="21461" y="793366"/>
                    <a:pt x="14032" y="790289"/>
                    <a:pt x="8555" y="784812"/>
                  </a:cubicBezTo>
                  <a:cubicBezTo>
                    <a:pt x="3077" y="779334"/>
                    <a:pt x="0" y="771905"/>
                    <a:pt x="0" y="764159"/>
                  </a:cubicBezTo>
                  <a:lnTo>
                    <a:pt x="0" y="29208"/>
                  </a:lnTo>
                  <a:cubicBezTo>
                    <a:pt x="0" y="21461"/>
                    <a:pt x="3077" y="14032"/>
                    <a:pt x="8555" y="8555"/>
                  </a:cubicBezTo>
                  <a:cubicBezTo>
                    <a:pt x="14032" y="3077"/>
                    <a:pt x="21461" y="0"/>
                    <a:pt x="29208" y="0"/>
                  </a:cubicBezTo>
                  <a:close/>
                </a:path>
              </a:pathLst>
            </a:custGeom>
            <a:solidFill>
              <a:srgbClr val="08C8A1"/>
            </a:solidFill>
          </p:spPr>
          <p:txBody>
            <a:bodyPr/>
            <a:lstStyle/>
            <a:p>
              <a:pPr algn="just">
                <a:lnSpc>
                  <a:spcPct val="150000"/>
                </a:lnSpc>
              </a:pPr>
              <a:r>
                <a:rPr lang="en-KE" sz="2500" b="1" dirty="0" err="1"/>
                <a:t>Uhai</a:t>
              </a:r>
              <a:r>
                <a:rPr lang="en-KE" sz="2500" b="1" dirty="0"/>
                <a:t>, </a:t>
              </a:r>
              <a:r>
                <a:rPr lang="en-KE" sz="2500" dirty="0"/>
                <a:t>in partnership with the Eldoret-Kenya blood bank, is reducing the cost of blood drives from US$1,000 to US$250</a:t>
              </a:r>
              <a:r>
                <a:rPr lang="en-US" sz="2500" dirty="0"/>
                <a:t>. Our approach integrates predictive modelling, real-time inventory management, temperature-controlled storage, and targeted blood drives. This holistic model ensures a reliable and consistent blood supply, saving lives and reducing wastage. </a:t>
              </a:r>
              <a:endParaRPr lang="en-GB" sz="2500" dirty="0"/>
            </a:p>
          </p:txBody>
        </p:sp>
        <p:sp>
          <p:nvSpPr>
            <p:cNvPr id="18" name="TextBox 18"/>
            <p:cNvSpPr txBox="1"/>
            <p:nvPr/>
          </p:nvSpPr>
          <p:spPr>
            <a:xfrm>
              <a:off x="0" y="-171450"/>
              <a:ext cx="1781512" cy="964816"/>
            </a:xfrm>
            <a:prstGeom prst="rect">
              <a:avLst/>
            </a:prstGeom>
          </p:spPr>
          <p:txBody>
            <a:bodyPr lIns="50800" tIns="50800" rIns="50800" bIns="50800" rtlCol="0" anchor="ctr"/>
            <a:lstStyle/>
            <a:p>
              <a:pPr algn="ctr">
                <a:lnSpc>
                  <a:spcPts val="5220"/>
                </a:lnSpc>
              </a:pPr>
              <a:endParaRPr/>
            </a:p>
          </p:txBody>
        </p:sp>
      </p:grpSp>
      <p:sp>
        <p:nvSpPr>
          <p:cNvPr id="19" name="TextBox 19"/>
          <p:cNvSpPr txBox="1"/>
          <p:nvPr/>
        </p:nvSpPr>
        <p:spPr>
          <a:xfrm>
            <a:off x="11537705" y="6034086"/>
            <a:ext cx="7421808" cy="523874"/>
          </a:xfrm>
          <a:prstGeom prst="rect">
            <a:avLst/>
          </a:prstGeom>
        </p:spPr>
        <p:txBody>
          <a:bodyPr lIns="0" tIns="0" rIns="0" bIns="0" rtlCol="0" anchor="t">
            <a:spAutoFit/>
          </a:bodyPr>
          <a:lstStyle/>
          <a:p>
            <a:pPr algn="l">
              <a:lnSpc>
                <a:spcPts val="4200"/>
              </a:lnSpc>
            </a:pPr>
            <a:r>
              <a:rPr lang="en-US" sz="3000">
                <a:solidFill>
                  <a:srgbClr val="FFFEFE"/>
                </a:solidFill>
                <a:latin typeface="League Spartan"/>
                <a:ea typeface="League Spartan"/>
                <a:cs typeface="League Spartan"/>
                <a:sym typeface="League Spartan"/>
              </a:rPr>
              <a:t>4. Who </a:t>
            </a:r>
            <a:r>
              <a:rPr lang="en-US" sz="3000" b="1">
                <a:solidFill>
                  <a:srgbClr val="FFFEFE"/>
                </a:solidFill>
                <a:latin typeface="League Spartan"/>
                <a:ea typeface="League Spartan"/>
                <a:cs typeface="League Spartan"/>
                <a:sym typeface="League Spartan"/>
              </a:rPr>
              <a:t>are you helping or serving?</a:t>
            </a:r>
          </a:p>
        </p:txBody>
      </p:sp>
      <p:grpSp>
        <p:nvGrpSpPr>
          <p:cNvPr id="20" name="Group 20"/>
          <p:cNvGrpSpPr/>
          <p:nvPr/>
        </p:nvGrpSpPr>
        <p:grpSpPr>
          <a:xfrm>
            <a:off x="11225040" y="6853235"/>
            <a:ext cx="8339310" cy="3915099"/>
            <a:chOff x="0" y="0"/>
            <a:chExt cx="1856564" cy="793366"/>
          </a:xfrm>
        </p:grpSpPr>
        <p:sp>
          <p:nvSpPr>
            <p:cNvPr id="21" name="Freeform 21"/>
            <p:cNvSpPr/>
            <p:nvPr/>
          </p:nvSpPr>
          <p:spPr>
            <a:xfrm>
              <a:off x="0" y="0"/>
              <a:ext cx="1856564" cy="793366"/>
            </a:xfrm>
            <a:custGeom>
              <a:avLst/>
              <a:gdLst/>
              <a:ahLst/>
              <a:cxnLst/>
              <a:rect l="l" t="t" r="r" b="b"/>
              <a:pathLst>
                <a:path w="1856564" h="793366">
                  <a:moveTo>
                    <a:pt x="28027" y="0"/>
                  </a:moveTo>
                  <a:lnTo>
                    <a:pt x="1828537" y="0"/>
                  </a:lnTo>
                  <a:cubicBezTo>
                    <a:pt x="1835970" y="0"/>
                    <a:pt x="1843099" y="2953"/>
                    <a:pt x="1848355" y="8209"/>
                  </a:cubicBezTo>
                  <a:cubicBezTo>
                    <a:pt x="1853611" y="13465"/>
                    <a:pt x="1856564" y="20594"/>
                    <a:pt x="1856564" y="28027"/>
                  </a:cubicBezTo>
                  <a:lnTo>
                    <a:pt x="1856564" y="765339"/>
                  </a:lnTo>
                  <a:cubicBezTo>
                    <a:pt x="1856564" y="772773"/>
                    <a:pt x="1853611" y="779901"/>
                    <a:pt x="1848355" y="785157"/>
                  </a:cubicBezTo>
                  <a:cubicBezTo>
                    <a:pt x="1843099" y="790413"/>
                    <a:pt x="1835970" y="793366"/>
                    <a:pt x="1828537" y="793366"/>
                  </a:cubicBezTo>
                  <a:lnTo>
                    <a:pt x="28027" y="793366"/>
                  </a:lnTo>
                  <a:cubicBezTo>
                    <a:pt x="20594" y="793366"/>
                    <a:pt x="13465" y="790413"/>
                    <a:pt x="8209" y="785157"/>
                  </a:cubicBezTo>
                  <a:cubicBezTo>
                    <a:pt x="2953" y="779901"/>
                    <a:pt x="0" y="772773"/>
                    <a:pt x="0" y="765339"/>
                  </a:cubicBezTo>
                  <a:lnTo>
                    <a:pt x="0" y="28027"/>
                  </a:lnTo>
                  <a:cubicBezTo>
                    <a:pt x="0" y="20594"/>
                    <a:pt x="2953" y="13465"/>
                    <a:pt x="8209" y="8209"/>
                  </a:cubicBezTo>
                  <a:cubicBezTo>
                    <a:pt x="13465" y="2953"/>
                    <a:pt x="20594" y="0"/>
                    <a:pt x="28027" y="0"/>
                  </a:cubicBezTo>
                  <a:close/>
                </a:path>
              </a:pathLst>
            </a:custGeom>
            <a:solidFill>
              <a:srgbClr val="08C8A1"/>
            </a:solidFill>
          </p:spPr>
          <p:txBody>
            <a:bodyPr/>
            <a:lstStyle/>
            <a:p>
              <a:pPr algn="just">
                <a:lnSpc>
                  <a:spcPct val="150000"/>
                </a:lnSpc>
              </a:pPr>
              <a:r>
                <a:rPr lang="en-KE" sz="2500" b="1" dirty="0" err="1"/>
                <a:t>Uhai</a:t>
              </a:r>
              <a:r>
                <a:rPr lang="en-KE" sz="2500" dirty="0"/>
                <a:t>  has been running blood drives in collaboration with the Eldoret blood bank both off-site and on-site</a:t>
              </a:r>
              <a:r>
                <a:rPr lang="en-US" sz="2500" dirty="0"/>
                <a:t> to serve patients in critical or chronic need of blood transfusion. These include those undergoing treatment for Cancer, Blood Disorders, trauma-related injuries (such as Road Traffic Accidents) or scheduled for surgery.</a:t>
              </a:r>
              <a:endParaRPr lang="en-GB" sz="2500" dirty="0"/>
            </a:p>
          </p:txBody>
        </p:sp>
        <p:sp>
          <p:nvSpPr>
            <p:cNvPr id="22" name="TextBox 22"/>
            <p:cNvSpPr txBox="1"/>
            <p:nvPr/>
          </p:nvSpPr>
          <p:spPr>
            <a:xfrm>
              <a:off x="0" y="-171450"/>
              <a:ext cx="1856564" cy="964816"/>
            </a:xfrm>
            <a:prstGeom prst="rect">
              <a:avLst/>
            </a:prstGeom>
          </p:spPr>
          <p:txBody>
            <a:bodyPr lIns="50800" tIns="50800" rIns="50800" bIns="50800" rtlCol="0" anchor="ctr"/>
            <a:lstStyle/>
            <a:p>
              <a:pPr algn="ctr">
                <a:lnSpc>
                  <a:spcPts val="5220"/>
                </a:lnSpc>
              </a:pPr>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20091397" cy="11290297"/>
          </a:xfrm>
          <a:custGeom>
            <a:avLst/>
            <a:gdLst/>
            <a:ahLst/>
            <a:cxnLst/>
            <a:rect l="l" t="t" r="r" b="b"/>
            <a:pathLst>
              <a:path w="20091397" h="11290297">
                <a:moveTo>
                  <a:pt x="0" y="0"/>
                </a:moveTo>
                <a:lnTo>
                  <a:pt x="20091397" y="0"/>
                </a:lnTo>
                <a:lnTo>
                  <a:pt x="20091397" y="11290297"/>
                </a:lnTo>
                <a:lnTo>
                  <a:pt x="0" y="11290297"/>
                </a:lnTo>
                <a:lnTo>
                  <a:pt x="0" y="0"/>
                </a:lnTo>
                <a:close/>
              </a:path>
            </a:pathLst>
          </a:custGeom>
          <a:blipFill>
            <a:blip r:embed="rId2"/>
            <a:stretch>
              <a:fillRect r="-63" b="-168"/>
            </a:stretch>
          </a:blipFill>
        </p:spPr>
        <p:txBody>
          <a:bodyPr/>
          <a:lstStyle/>
          <a:p>
            <a:endParaRPr lang="en-GB"/>
          </a:p>
        </p:txBody>
      </p:sp>
      <p:sp>
        <p:nvSpPr>
          <p:cNvPr id="3" name="Freeform 3"/>
          <p:cNvSpPr/>
          <p:nvPr/>
        </p:nvSpPr>
        <p:spPr>
          <a:xfrm>
            <a:off x="0" y="0"/>
            <a:ext cx="20091397" cy="11290297"/>
          </a:xfrm>
          <a:custGeom>
            <a:avLst/>
            <a:gdLst/>
            <a:ahLst/>
            <a:cxnLst/>
            <a:rect l="l" t="t" r="r" b="b"/>
            <a:pathLst>
              <a:path w="20091397" h="11290297">
                <a:moveTo>
                  <a:pt x="0" y="0"/>
                </a:moveTo>
                <a:lnTo>
                  <a:pt x="20091397" y="0"/>
                </a:lnTo>
                <a:lnTo>
                  <a:pt x="20091397" y="11290297"/>
                </a:lnTo>
                <a:lnTo>
                  <a:pt x="0" y="1129029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4" name="Freeform 4"/>
          <p:cNvSpPr/>
          <p:nvPr/>
        </p:nvSpPr>
        <p:spPr>
          <a:xfrm>
            <a:off x="0" y="0"/>
            <a:ext cx="20091397" cy="11290297"/>
          </a:xfrm>
          <a:custGeom>
            <a:avLst/>
            <a:gdLst/>
            <a:ahLst/>
            <a:cxnLst/>
            <a:rect l="l" t="t" r="r" b="b"/>
            <a:pathLst>
              <a:path w="20091397" h="11290297">
                <a:moveTo>
                  <a:pt x="0" y="0"/>
                </a:moveTo>
                <a:lnTo>
                  <a:pt x="20091397" y="0"/>
                </a:lnTo>
                <a:lnTo>
                  <a:pt x="20091397" y="11290297"/>
                </a:lnTo>
                <a:lnTo>
                  <a:pt x="0" y="11290297"/>
                </a:lnTo>
                <a:lnTo>
                  <a:pt x="0" y="0"/>
                </a:lnTo>
                <a:close/>
              </a:path>
            </a:pathLst>
          </a:custGeom>
          <a:blipFill>
            <a:blip r:embed="rId5"/>
            <a:stretch>
              <a:fillRect t="-84" r="-12821" b="-84"/>
            </a:stretch>
          </a:blipFill>
        </p:spPr>
        <p:txBody>
          <a:bodyPr/>
          <a:lstStyle/>
          <a:p>
            <a:endParaRPr lang="en-GB"/>
          </a:p>
        </p:txBody>
      </p:sp>
      <p:sp>
        <p:nvSpPr>
          <p:cNvPr id="5" name="Freeform 5"/>
          <p:cNvSpPr/>
          <p:nvPr/>
        </p:nvSpPr>
        <p:spPr>
          <a:xfrm>
            <a:off x="0" y="0"/>
            <a:ext cx="20091397" cy="11290297"/>
          </a:xfrm>
          <a:custGeom>
            <a:avLst/>
            <a:gdLst/>
            <a:ahLst/>
            <a:cxnLst/>
            <a:rect l="l" t="t" r="r" b="b"/>
            <a:pathLst>
              <a:path w="20091397" h="11290297">
                <a:moveTo>
                  <a:pt x="0" y="0"/>
                </a:moveTo>
                <a:lnTo>
                  <a:pt x="20091397" y="0"/>
                </a:lnTo>
                <a:lnTo>
                  <a:pt x="20091397" y="11290297"/>
                </a:lnTo>
                <a:lnTo>
                  <a:pt x="0" y="1129029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6" name="Freeform 6"/>
          <p:cNvSpPr/>
          <p:nvPr/>
        </p:nvSpPr>
        <p:spPr>
          <a:xfrm rot="5400000">
            <a:off x="-5077618" y="5083971"/>
            <a:ext cx="11283953" cy="1128708"/>
          </a:xfrm>
          <a:custGeom>
            <a:avLst/>
            <a:gdLst/>
            <a:ahLst/>
            <a:cxnLst/>
            <a:rect l="l" t="t" r="r" b="b"/>
            <a:pathLst>
              <a:path w="11283953" h="1128708">
                <a:moveTo>
                  <a:pt x="0" y="0"/>
                </a:moveTo>
                <a:lnTo>
                  <a:pt x="11283953" y="0"/>
                </a:lnTo>
                <a:lnTo>
                  <a:pt x="11283953" y="1128708"/>
                </a:lnTo>
                <a:lnTo>
                  <a:pt x="0" y="1128708"/>
                </a:lnTo>
                <a:lnTo>
                  <a:pt x="0" y="0"/>
                </a:lnTo>
                <a:close/>
              </a:path>
            </a:pathLst>
          </a:custGeom>
          <a:blipFill>
            <a:blip r:embed="rId6"/>
            <a:stretch>
              <a:fillRect t="-447163" r="-112" b="-453684"/>
            </a:stretch>
          </a:blipFill>
        </p:spPr>
        <p:txBody>
          <a:bodyPr/>
          <a:lstStyle/>
          <a:p>
            <a:endParaRPr lang="en-GB"/>
          </a:p>
        </p:txBody>
      </p:sp>
      <p:grpSp>
        <p:nvGrpSpPr>
          <p:cNvPr id="7" name="Group 7"/>
          <p:cNvGrpSpPr/>
          <p:nvPr/>
        </p:nvGrpSpPr>
        <p:grpSpPr>
          <a:xfrm>
            <a:off x="2061689" y="1585912"/>
            <a:ext cx="8815861" cy="4123342"/>
            <a:chOff x="0" y="0"/>
            <a:chExt cx="1871479" cy="713308"/>
          </a:xfrm>
        </p:grpSpPr>
        <p:sp>
          <p:nvSpPr>
            <p:cNvPr id="8" name="Freeform 8"/>
            <p:cNvSpPr/>
            <p:nvPr/>
          </p:nvSpPr>
          <p:spPr>
            <a:xfrm>
              <a:off x="0" y="0"/>
              <a:ext cx="1871479" cy="713308"/>
            </a:xfrm>
            <a:custGeom>
              <a:avLst/>
              <a:gdLst/>
              <a:ahLst/>
              <a:cxnLst/>
              <a:rect l="l" t="t" r="r" b="b"/>
              <a:pathLst>
                <a:path w="1871479" h="713308">
                  <a:moveTo>
                    <a:pt x="27804" y="0"/>
                  </a:moveTo>
                  <a:lnTo>
                    <a:pt x="1843675" y="0"/>
                  </a:lnTo>
                  <a:cubicBezTo>
                    <a:pt x="1851049" y="0"/>
                    <a:pt x="1858121" y="2929"/>
                    <a:pt x="1863335" y="8143"/>
                  </a:cubicBezTo>
                  <a:cubicBezTo>
                    <a:pt x="1868549" y="13358"/>
                    <a:pt x="1871479" y="20430"/>
                    <a:pt x="1871479" y="27804"/>
                  </a:cubicBezTo>
                  <a:lnTo>
                    <a:pt x="1871479" y="685504"/>
                  </a:lnTo>
                  <a:cubicBezTo>
                    <a:pt x="1871479" y="692878"/>
                    <a:pt x="1868549" y="699950"/>
                    <a:pt x="1863335" y="705165"/>
                  </a:cubicBezTo>
                  <a:cubicBezTo>
                    <a:pt x="1858121" y="710379"/>
                    <a:pt x="1851049" y="713308"/>
                    <a:pt x="1843675" y="713308"/>
                  </a:cubicBezTo>
                  <a:lnTo>
                    <a:pt x="27804" y="713308"/>
                  </a:lnTo>
                  <a:cubicBezTo>
                    <a:pt x="12448" y="713308"/>
                    <a:pt x="0" y="700860"/>
                    <a:pt x="0" y="685504"/>
                  </a:cubicBezTo>
                  <a:lnTo>
                    <a:pt x="0" y="27804"/>
                  </a:lnTo>
                  <a:cubicBezTo>
                    <a:pt x="0" y="20430"/>
                    <a:pt x="2929" y="13358"/>
                    <a:pt x="8143" y="8143"/>
                  </a:cubicBezTo>
                  <a:cubicBezTo>
                    <a:pt x="13358" y="2929"/>
                    <a:pt x="20430" y="0"/>
                    <a:pt x="27804" y="0"/>
                  </a:cubicBezTo>
                  <a:close/>
                </a:path>
              </a:pathLst>
            </a:custGeom>
            <a:solidFill>
              <a:srgbClr val="08C8A1"/>
            </a:solidFill>
          </p:spPr>
          <p:txBody>
            <a:bodyPr/>
            <a:lstStyle/>
            <a:p>
              <a:pPr algn="just">
                <a:lnSpc>
                  <a:spcPct val="150000"/>
                </a:lnSpc>
              </a:pPr>
              <a:r>
                <a:rPr lang="en-GB" sz="2400" dirty="0"/>
                <a:t>We are a community of 500 multidisciplinary health professionals and students with diverse skills in conducting blood drives, developing Artificial Intelligence driven predictive and behavioural reward system models and blood donor mobilization. This ensures not only adequate quantities of donated blood, but that this reaches the target patients without bias.</a:t>
              </a:r>
              <a:r>
                <a:rPr lang="en-GB" dirty="0"/>
                <a:t> </a:t>
              </a:r>
            </a:p>
          </p:txBody>
        </p:sp>
        <p:sp>
          <p:nvSpPr>
            <p:cNvPr id="9" name="TextBox 9"/>
            <p:cNvSpPr txBox="1"/>
            <p:nvPr/>
          </p:nvSpPr>
          <p:spPr>
            <a:xfrm>
              <a:off x="0" y="-171450"/>
              <a:ext cx="1871479" cy="884758"/>
            </a:xfrm>
            <a:prstGeom prst="rect">
              <a:avLst/>
            </a:prstGeom>
          </p:spPr>
          <p:txBody>
            <a:bodyPr lIns="50800" tIns="50800" rIns="50800" bIns="50800" rtlCol="0" anchor="ctr"/>
            <a:lstStyle/>
            <a:p>
              <a:pPr algn="ctr">
                <a:lnSpc>
                  <a:spcPts val="5220"/>
                </a:lnSpc>
              </a:pPr>
              <a:endParaRPr/>
            </a:p>
          </p:txBody>
        </p:sp>
      </p:grpSp>
      <p:sp>
        <p:nvSpPr>
          <p:cNvPr id="10" name="TextBox 10"/>
          <p:cNvSpPr txBox="1"/>
          <p:nvPr/>
        </p:nvSpPr>
        <p:spPr>
          <a:xfrm>
            <a:off x="2061689" y="1062037"/>
            <a:ext cx="7796609" cy="523874"/>
          </a:xfrm>
          <a:prstGeom prst="rect">
            <a:avLst/>
          </a:prstGeom>
        </p:spPr>
        <p:txBody>
          <a:bodyPr lIns="0" tIns="0" rIns="0" bIns="0" rtlCol="0" anchor="t">
            <a:spAutoFit/>
          </a:bodyPr>
          <a:lstStyle/>
          <a:p>
            <a:pPr algn="l">
              <a:lnSpc>
                <a:spcPts val="4200"/>
              </a:lnSpc>
            </a:pPr>
            <a:r>
              <a:rPr lang="en-US" sz="3000">
                <a:solidFill>
                  <a:srgbClr val="FFFEFE"/>
                </a:solidFill>
                <a:latin typeface="League Spartan"/>
                <a:ea typeface="League Spartan"/>
                <a:cs typeface="League Spartan"/>
                <a:sym typeface="League Spartan"/>
              </a:rPr>
              <a:t>5. What m</a:t>
            </a:r>
            <a:r>
              <a:rPr lang="en-US" sz="3000" b="1">
                <a:solidFill>
                  <a:srgbClr val="FFFEFE"/>
                </a:solidFill>
                <a:latin typeface="League Spartan"/>
                <a:ea typeface="League Spartan"/>
                <a:cs typeface="League Spartan"/>
                <a:sym typeface="League Spartan"/>
              </a:rPr>
              <a:t>akes you different or better?</a:t>
            </a:r>
          </a:p>
        </p:txBody>
      </p:sp>
      <p:sp>
        <p:nvSpPr>
          <p:cNvPr id="11" name="TextBox 11"/>
          <p:cNvSpPr txBox="1"/>
          <p:nvPr/>
        </p:nvSpPr>
        <p:spPr>
          <a:xfrm>
            <a:off x="11537705" y="1062037"/>
            <a:ext cx="7421808" cy="523874"/>
          </a:xfrm>
          <a:prstGeom prst="rect">
            <a:avLst/>
          </a:prstGeom>
        </p:spPr>
        <p:txBody>
          <a:bodyPr lIns="0" tIns="0" rIns="0" bIns="0" rtlCol="0" anchor="t">
            <a:spAutoFit/>
          </a:bodyPr>
          <a:lstStyle/>
          <a:p>
            <a:pPr algn="l">
              <a:lnSpc>
                <a:spcPts val="4200"/>
              </a:lnSpc>
            </a:pPr>
            <a:r>
              <a:rPr lang="en-US" sz="3000">
                <a:solidFill>
                  <a:srgbClr val="FFFEFE"/>
                </a:solidFill>
                <a:latin typeface="League Spartan"/>
                <a:ea typeface="League Spartan"/>
                <a:cs typeface="League Spartan"/>
                <a:sym typeface="League Spartan"/>
              </a:rPr>
              <a:t>6. What’s your </a:t>
            </a:r>
            <a:r>
              <a:rPr lang="en-US" sz="3000" b="1">
                <a:solidFill>
                  <a:srgbClr val="FFFEFE"/>
                </a:solidFill>
                <a:latin typeface="League Spartan"/>
                <a:ea typeface="League Spartan"/>
                <a:cs typeface="League Spartan"/>
                <a:sym typeface="League Spartan"/>
              </a:rPr>
              <a:t>ask or next step?</a:t>
            </a:r>
          </a:p>
        </p:txBody>
      </p:sp>
      <p:grpSp>
        <p:nvGrpSpPr>
          <p:cNvPr id="12" name="Group 12"/>
          <p:cNvGrpSpPr/>
          <p:nvPr/>
        </p:nvGrpSpPr>
        <p:grpSpPr>
          <a:xfrm>
            <a:off x="11193933" y="2058827"/>
            <a:ext cx="7765580" cy="2971652"/>
            <a:chOff x="0" y="0"/>
            <a:chExt cx="1864030" cy="713308"/>
          </a:xfrm>
        </p:grpSpPr>
        <p:sp>
          <p:nvSpPr>
            <p:cNvPr id="13" name="Freeform 13"/>
            <p:cNvSpPr/>
            <p:nvPr/>
          </p:nvSpPr>
          <p:spPr>
            <a:xfrm>
              <a:off x="0" y="0"/>
              <a:ext cx="1864030" cy="713308"/>
            </a:xfrm>
            <a:custGeom>
              <a:avLst/>
              <a:gdLst/>
              <a:ahLst/>
              <a:cxnLst/>
              <a:rect l="l" t="t" r="r" b="b"/>
              <a:pathLst>
                <a:path w="1864030" h="713308">
                  <a:moveTo>
                    <a:pt x="27915" y="0"/>
                  </a:moveTo>
                  <a:lnTo>
                    <a:pt x="1836116" y="0"/>
                  </a:lnTo>
                  <a:cubicBezTo>
                    <a:pt x="1851533" y="0"/>
                    <a:pt x="1864030" y="12498"/>
                    <a:pt x="1864030" y="27915"/>
                  </a:cubicBezTo>
                  <a:lnTo>
                    <a:pt x="1864030" y="685393"/>
                  </a:lnTo>
                  <a:cubicBezTo>
                    <a:pt x="1864030" y="692797"/>
                    <a:pt x="1861090" y="699897"/>
                    <a:pt x="1855854" y="705132"/>
                  </a:cubicBezTo>
                  <a:cubicBezTo>
                    <a:pt x="1850619" y="710367"/>
                    <a:pt x="1843519" y="713308"/>
                    <a:pt x="1836116" y="713308"/>
                  </a:cubicBezTo>
                  <a:lnTo>
                    <a:pt x="27915" y="713308"/>
                  </a:lnTo>
                  <a:cubicBezTo>
                    <a:pt x="12498" y="713308"/>
                    <a:pt x="0" y="700810"/>
                    <a:pt x="0" y="685393"/>
                  </a:cubicBezTo>
                  <a:lnTo>
                    <a:pt x="0" y="27915"/>
                  </a:lnTo>
                  <a:cubicBezTo>
                    <a:pt x="0" y="12498"/>
                    <a:pt x="12498" y="0"/>
                    <a:pt x="27915" y="0"/>
                  </a:cubicBezTo>
                  <a:close/>
                </a:path>
              </a:pathLst>
            </a:custGeom>
            <a:solidFill>
              <a:srgbClr val="08C8A1"/>
            </a:solidFill>
          </p:spPr>
          <p:txBody>
            <a:bodyPr/>
            <a:lstStyle/>
            <a:p>
              <a:pPr algn="just">
                <a:lnSpc>
                  <a:spcPct val="150000"/>
                </a:lnSpc>
              </a:pPr>
              <a:r>
                <a:rPr lang="en-US" sz="2500" dirty="0"/>
                <a:t>We are seeking a partnership to conduct a pilot project in Western Kenya to demonstrate the effectiveness of our solution</a:t>
              </a:r>
              <a:endParaRPr lang="en-GB" sz="2500" dirty="0"/>
            </a:p>
          </p:txBody>
        </p:sp>
        <p:sp>
          <p:nvSpPr>
            <p:cNvPr id="14" name="TextBox 14"/>
            <p:cNvSpPr txBox="1"/>
            <p:nvPr/>
          </p:nvSpPr>
          <p:spPr>
            <a:xfrm>
              <a:off x="0" y="-171450"/>
              <a:ext cx="1864030" cy="884758"/>
            </a:xfrm>
            <a:prstGeom prst="rect">
              <a:avLst/>
            </a:prstGeom>
          </p:spPr>
          <p:txBody>
            <a:bodyPr lIns="50800" tIns="50800" rIns="50800" bIns="50800" rtlCol="0" anchor="ctr"/>
            <a:lstStyle/>
            <a:p>
              <a:pPr algn="ctr">
                <a:lnSpc>
                  <a:spcPts val="5220"/>
                </a:lnSpc>
              </a:pPr>
              <a:endParaRPr/>
            </a:p>
          </p:txBody>
        </p:sp>
      </p:grpSp>
      <p:sp>
        <p:nvSpPr>
          <p:cNvPr id="15" name="TextBox 15"/>
          <p:cNvSpPr txBox="1"/>
          <p:nvPr/>
        </p:nvSpPr>
        <p:spPr>
          <a:xfrm>
            <a:off x="2436490" y="5627533"/>
            <a:ext cx="7421808" cy="688974"/>
          </a:xfrm>
          <a:prstGeom prst="rect">
            <a:avLst/>
          </a:prstGeom>
        </p:spPr>
        <p:txBody>
          <a:bodyPr lIns="0" tIns="0" rIns="0" bIns="0" rtlCol="0" anchor="t">
            <a:spAutoFit/>
          </a:bodyPr>
          <a:lstStyle/>
          <a:p>
            <a:pPr algn="l">
              <a:lnSpc>
                <a:spcPts val="5600"/>
              </a:lnSpc>
            </a:pPr>
            <a:r>
              <a:rPr lang="en-US" sz="4000">
                <a:solidFill>
                  <a:srgbClr val="FFFEFE"/>
                </a:solidFill>
                <a:latin typeface="League Spartan"/>
                <a:ea typeface="League Spartan"/>
                <a:cs typeface="League Spartan"/>
                <a:sym typeface="League Spartan"/>
              </a:rPr>
              <a:t>Final Elev</a:t>
            </a:r>
            <a:r>
              <a:rPr lang="en-US" sz="4000" b="1">
                <a:solidFill>
                  <a:srgbClr val="FFFEFE"/>
                </a:solidFill>
                <a:latin typeface="League Spartan"/>
                <a:ea typeface="League Spartan"/>
                <a:cs typeface="League Spartan"/>
                <a:sym typeface="League Spartan"/>
              </a:rPr>
              <a:t>ator Pitch</a:t>
            </a:r>
          </a:p>
        </p:txBody>
      </p:sp>
      <p:grpSp>
        <p:nvGrpSpPr>
          <p:cNvPr id="16" name="Group 16"/>
          <p:cNvGrpSpPr/>
          <p:nvPr/>
        </p:nvGrpSpPr>
        <p:grpSpPr>
          <a:xfrm>
            <a:off x="2249090" y="6423521"/>
            <a:ext cx="16710423" cy="3734891"/>
            <a:chOff x="0" y="0"/>
            <a:chExt cx="4011128" cy="896514"/>
          </a:xfrm>
        </p:grpSpPr>
        <p:sp>
          <p:nvSpPr>
            <p:cNvPr id="17" name="Freeform 17"/>
            <p:cNvSpPr/>
            <p:nvPr/>
          </p:nvSpPr>
          <p:spPr>
            <a:xfrm>
              <a:off x="0" y="0"/>
              <a:ext cx="4011128" cy="896514"/>
            </a:xfrm>
            <a:custGeom>
              <a:avLst/>
              <a:gdLst/>
              <a:ahLst/>
              <a:cxnLst/>
              <a:rect l="l" t="t" r="r" b="b"/>
              <a:pathLst>
                <a:path w="4011128" h="896514">
                  <a:moveTo>
                    <a:pt x="12972" y="0"/>
                  </a:moveTo>
                  <a:lnTo>
                    <a:pt x="3998156" y="0"/>
                  </a:lnTo>
                  <a:cubicBezTo>
                    <a:pt x="4001596" y="0"/>
                    <a:pt x="4004896" y="1367"/>
                    <a:pt x="4007329" y="3800"/>
                  </a:cubicBezTo>
                  <a:cubicBezTo>
                    <a:pt x="4009761" y="6232"/>
                    <a:pt x="4011128" y="9532"/>
                    <a:pt x="4011128" y="12972"/>
                  </a:cubicBezTo>
                  <a:lnTo>
                    <a:pt x="4011128" y="883542"/>
                  </a:lnTo>
                  <a:cubicBezTo>
                    <a:pt x="4011128" y="890706"/>
                    <a:pt x="4005320" y="896514"/>
                    <a:pt x="3998156" y="896514"/>
                  </a:cubicBezTo>
                  <a:lnTo>
                    <a:pt x="12972" y="896514"/>
                  </a:lnTo>
                  <a:cubicBezTo>
                    <a:pt x="5808" y="896514"/>
                    <a:pt x="0" y="890706"/>
                    <a:pt x="0" y="883542"/>
                  </a:cubicBezTo>
                  <a:lnTo>
                    <a:pt x="0" y="12972"/>
                  </a:lnTo>
                  <a:cubicBezTo>
                    <a:pt x="0" y="5808"/>
                    <a:pt x="5808" y="0"/>
                    <a:pt x="12972" y="0"/>
                  </a:cubicBezTo>
                  <a:close/>
                </a:path>
              </a:pathLst>
            </a:custGeom>
            <a:solidFill>
              <a:srgbClr val="08C8A1"/>
            </a:solidFill>
          </p:spPr>
          <p:txBody>
            <a:bodyPr/>
            <a:lstStyle/>
            <a:p>
              <a:pPr>
                <a:lnSpc>
                  <a:spcPct val="150000"/>
                </a:lnSpc>
              </a:pPr>
              <a:r>
                <a:rPr lang="en-US" sz="2500" dirty="0"/>
                <a:t>We invite the African Impact Academy, through </a:t>
              </a:r>
              <a:r>
                <a:rPr lang="en-US" sz="2500" dirty="0" err="1"/>
                <a:t>MoFund</a:t>
              </a:r>
              <a:r>
                <a:rPr lang="en-US" sz="2500" dirty="0"/>
                <a:t>, to join us in revolutionizing blood supply systems in Kenya. With your support, we can conduct a pilot project in Western Kenya, reduce transfusion costs, and create a sustainable model for blood supply that can be replicated across Africa.</a:t>
              </a:r>
              <a:endParaRPr lang="en-GB" sz="2500" dirty="0"/>
            </a:p>
          </p:txBody>
        </p:sp>
        <p:sp>
          <p:nvSpPr>
            <p:cNvPr id="18" name="TextBox 18"/>
            <p:cNvSpPr txBox="1"/>
            <p:nvPr/>
          </p:nvSpPr>
          <p:spPr>
            <a:xfrm>
              <a:off x="0" y="-171450"/>
              <a:ext cx="4011128" cy="1067964"/>
            </a:xfrm>
            <a:prstGeom prst="rect">
              <a:avLst/>
            </a:prstGeom>
          </p:spPr>
          <p:txBody>
            <a:bodyPr lIns="50800" tIns="50800" rIns="50800" bIns="50800" rtlCol="0" anchor="ctr"/>
            <a:lstStyle/>
            <a:p>
              <a:pPr algn="ctr">
                <a:lnSpc>
                  <a:spcPts val="5220"/>
                </a:lnSpc>
              </a:pPr>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20091397" cy="11290297"/>
          </a:xfrm>
          <a:custGeom>
            <a:avLst/>
            <a:gdLst/>
            <a:ahLst/>
            <a:cxnLst/>
            <a:rect l="l" t="t" r="r" b="b"/>
            <a:pathLst>
              <a:path w="20091397" h="11290297">
                <a:moveTo>
                  <a:pt x="0" y="0"/>
                </a:moveTo>
                <a:lnTo>
                  <a:pt x="20091397" y="0"/>
                </a:lnTo>
                <a:lnTo>
                  <a:pt x="20091397" y="11290297"/>
                </a:lnTo>
                <a:lnTo>
                  <a:pt x="0" y="11290297"/>
                </a:lnTo>
                <a:lnTo>
                  <a:pt x="0" y="0"/>
                </a:lnTo>
                <a:close/>
              </a:path>
            </a:pathLst>
          </a:custGeom>
          <a:blipFill>
            <a:blip r:embed="rId2"/>
            <a:stretch>
              <a:fillRect r="-63" b="-168"/>
            </a:stretch>
          </a:blipFill>
        </p:spPr>
        <p:txBody>
          <a:bodyPr/>
          <a:lstStyle/>
          <a:p>
            <a:endParaRPr lang="en-GB"/>
          </a:p>
        </p:txBody>
      </p:sp>
      <p:sp>
        <p:nvSpPr>
          <p:cNvPr id="3" name="Freeform 3"/>
          <p:cNvSpPr/>
          <p:nvPr/>
        </p:nvSpPr>
        <p:spPr>
          <a:xfrm>
            <a:off x="0" y="0"/>
            <a:ext cx="20091397" cy="11290297"/>
          </a:xfrm>
          <a:custGeom>
            <a:avLst/>
            <a:gdLst/>
            <a:ahLst/>
            <a:cxnLst/>
            <a:rect l="l" t="t" r="r" b="b"/>
            <a:pathLst>
              <a:path w="20091397" h="11290297">
                <a:moveTo>
                  <a:pt x="0" y="0"/>
                </a:moveTo>
                <a:lnTo>
                  <a:pt x="20091397" y="0"/>
                </a:lnTo>
                <a:lnTo>
                  <a:pt x="20091397" y="11290297"/>
                </a:lnTo>
                <a:lnTo>
                  <a:pt x="0" y="1129029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4" name="Freeform 4"/>
          <p:cNvSpPr/>
          <p:nvPr/>
        </p:nvSpPr>
        <p:spPr>
          <a:xfrm>
            <a:off x="0" y="0"/>
            <a:ext cx="20091397" cy="11290297"/>
          </a:xfrm>
          <a:custGeom>
            <a:avLst/>
            <a:gdLst/>
            <a:ahLst/>
            <a:cxnLst/>
            <a:rect l="l" t="t" r="r" b="b"/>
            <a:pathLst>
              <a:path w="20091397" h="11290297">
                <a:moveTo>
                  <a:pt x="0" y="0"/>
                </a:moveTo>
                <a:lnTo>
                  <a:pt x="20091397" y="0"/>
                </a:lnTo>
                <a:lnTo>
                  <a:pt x="20091397" y="11290297"/>
                </a:lnTo>
                <a:lnTo>
                  <a:pt x="0" y="11290297"/>
                </a:lnTo>
                <a:lnTo>
                  <a:pt x="0" y="0"/>
                </a:lnTo>
                <a:close/>
              </a:path>
            </a:pathLst>
          </a:custGeom>
          <a:blipFill>
            <a:blip r:embed="rId5"/>
            <a:stretch>
              <a:fillRect t="-84" r="-13071" b="-84"/>
            </a:stretch>
          </a:blipFill>
        </p:spPr>
        <p:txBody>
          <a:bodyPr/>
          <a:lstStyle/>
          <a:p>
            <a:endParaRPr lang="en-GB"/>
          </a:p>
        </p:txBody>
      </p:sp>
      <p:sp>
        <p:nvSpPr>
          <p:cNvPr id="5" name="Freeform 5"/>
          <p:cNvSpPr/>
          <p:nvPr/>
        </p:nvSpPr>
        <p:spPr>
          <a:xfrm>
            <a:off x="0" y="0"/>
            <a:ext cx="20091397" cy="11290297"/>
          </a:xfrm>
          <a:custGeom>
            <a:avLst/>
            <a:gdLst/>
            <a:ahLst/>
            <a:cxnLst/>
            <a:rect l="l" t="t" r="r" b="b"/>
            <a:pathLst>
              <a:path w="20091397" h="11290297">
                <a:moveTo>
                  <a:pt x="0" y="0"/>
                </a:moveTo>
                <a:lnTo>
                  <a:pt x="20091397" y="0"/>
                </a:lnTo>
                <a:lnTo>
                  <a:pt x="20091397" y="11290297"/>
                </a:lnTo>
                <a:lnTo>
                  <a:pt x="0" y="1129029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6" name="Freeform 6"/>
          <p:cNvSpPr/>
          <p:nvPr/>
        </p:nvSpPr>
        <p:spPr>
          <a:xfrm>
            <a:off x="4014534" y="8539591"/>
            <a:ext cx="2399728" cy="1618821"/>
          </a:xfrm>
          <a:custGeom>
            <a:avLst/>
            <a:gdLst/>
            <a:ahLst/>
            <a:cxnLst/>
            <a:rect l="l" t="t" r="r" b="b"/>
            <a:pathLst>
              <a:path w="2399728" h="1618821">
                <a:moveTo>
                  <a:pt x="0" y="0"/>
                </a:moveTo>
                <a:lnTo>
                  <a:pt x="2399729" y="0"/>
                </a:lnTo>
                <a:lnTo>
                  <a:pt x="2399729" y="1618821"/>
                </a:lnTo>
                <a:lnTo>
                  <a:pt x="0" y="161882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GB"/>
          </a:p>
        </p:txBody>
      </p:sp>
      <p:sp>
        <p:nvSpPr>
          <p:cNvPr id="7" name="Freeform 7"/>
          <p:cNvSpPr/>
          <p:nvPr/>
        </p:nvSpPr>
        <p:spPr>
          <a:xfrm>
            <a:off x="7400224" y="8539591"/>
            <a:ext cx="2958246" cy="1618821"/>
          </a:xfrm>
          <a:custGeom>
            <a:avLst/>
            <a:gdLst/>
            <a:ahLst/>
            <a:cxnLst/>
            <a:rect l="l" t="t" r="r" b="b"/>
            <a:pathLst>
              <a:path w="2958246" h="1618821">
                <a:moveTo>
                  <a:pt x="0" y="0"/>
                </a:moveTo>
                <a:lnTo>
                  <a:pt x="2958246" y="0"/>
                </a:lnTo>
                <a:lnTo>
                  <a:pt x="2958246" y="1618821"/>
                </a:lnTo>
                <a:lnTo>
                  <a:pt x="0" y="161882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GB"/>
          </a:p>
        </p:txBody>
      </p:sp>
      <p:sp>
        <p:nvSpPr>
          <p:cNvPr id="8" name="Freeform 8"/>
          <p:cNvSpPr/>
          <p:nvPr/>
        </p:nvSpPr>
        <p:spPr>
          <a:xfrm>
            <a:off x="4014534" y="8379970"/>
            <a:ext cx="2623641" cy="1769870"/>
          </a:xfrm>
          <a:custGeom>
            <a:avLst/>
            <a:gdLst/>
            <a:ahLst/>
            <a:cxnLst/>
            <a:rect l="l" t="t" r="r" b="b"/>
            <a:pathLst>
              <a:path w="2623641" h="1769870">
                <a:moveTo>
                  <a:pt x="0" y="0"/>
                </a:moveTo>
                <a:lnTo>
                  <a:pt x="2623642" y="0"/>
                </a:lnTo>
                <a:lnTo>
                  <a:pt x="2623642" y="1769870"/>
                </a:lnTo>
                <a:lnTo>
                  <a:pt x="0" y="1769870"/>
                </a:lnTo>
                <a:lnTo>
                  <a:pt x="0" y="0"/>
                </a:lnTo>
                <a:close/>
              </a:path>
            </a:pathLst>
          </a:custGeom>
          <a:blipFill>
            <a:blip r:embed="rId10"/>
            <a:stretch>
              <a:fillRect/>
            </a:stretch>
          </a:blipFill>
        </p:spPr>
        <p:txBody>
          <a:bodyPr/>
          <a:lstStyle/>
          <a:p>
            <a:endParaRPr lang="en-GB"/>
          </a:p>
        </p:txBody>
      </p:sp>
      <p:sp>
        <p:nvSpPr>
          <p:cNvPr id="9" name="Freeform 9"/>
          <p:cNvSpPr/>
          <p:nvPr/>
        </p:nvSpPr>
        <p:spPr>
          <a:xfrm>
            <a:off x="7400224" y="8379970"/>
            <a:ext cx="3249938" cy="1778442"/>
          </a:xfrm>
          <a:custGeom>
            <a:avLst/>
            <a:gdLst/>
            <a:ahLst/>
            <a:cxnLst/>
            <a:rect l="l" t="t" r="r" b="b"/>
            <a:pathLst>
              <a:path w="3249938" h="1778442">
                <a:moveTo>
                  <a:pt x="0" y="0"/>
                </a:moveTo>
                <a:lnTo>
                  <a:pt x="3249938" y="0"/>
                </a:lnTo>
                <a:lnTo>
                  <a:pt x="3249938" y="1778442"/>
                </a:lnTo>
                <a:lnTo>
                  <a:pt x="0" y="1778442"/>
                </a:lnTo>
                <a:lnTo>
                  <a:pt x="0" y="0"/>
                </a:lnTo>
                <a:close/>
              </a:path>
            </a:pathLst>
          </a:custGeom>
          <a:blipFill>
            <a:blip r:embed="rId11"/>
            <a:stretch>
              <a:fillRect/>
            </a:stretch>
          </a:blipFill>
        </p:spPr>
        <p:txBody>
          <a:bodyPr/>
          <a:lstStyle/>
          <a:p>
            <a:endParaRPr lang="en-GB"/>
          </a:p>
        </p:txBody>
      </p:sp>
      <p:sp>
        <p:nvSpPr>
          <p:cNvPr id="10" name="Freeform 10"/>
          <p:cNvSpPr/>
          <p:nvPr/>
        </p:nvSpPr>
        <p:spPr>
          <a:xfrm>
            <a:off x="11461509" y="8705619"/>
            <a:ext cx="4615354" cy="1444221"/>
          </a:xfrm>
          <a:custGeom>
            <a:avLst/>
            <a:gdLst/>
            <a:ahLst/>
            <a:cxnLst/>
            <a:rect l="l" t="t" r="r" b="b"/>
            <a:pathLst>
              <a:path w="4615354" h="1444221">
                <a:moveTo>
                  <a:pt x="0" y="0"/>
                </a:moveTo>
                <a:lnTo>
                  <a:pt x="4615354" y="0"/>
                </a:lnTo>
                <a:lnTo>
                  <a:pt x="4615354" y="1444221"/>
                </a:lnTo>
                <a:lnTo>
                  <a:pt x="0" y="1444221"/>
                </a:lnTo>
                <a:lnTo>
                  <a:pt x="0" y="0"/>
                </a:lnTo>
                <a:close/>
              </a:path>
            </a:pathLst>
          </a:custGeom>
          <a:blipFill>
            <a:blip r:embed="rId12"/>
            <a:stretch>
              <a:fillRect/>
            </a:stretch>
          </a:blipFill>
        </p:spPr>
        <p:txBody>
          <a:bodyPr/>
          <a:lstStyle/>
          <a:p>
            <a:endParaRPr lang="en-GB"/>
          </a:p>
        </p:txBody>
      </p:sp>
      <p:sp>
        <p:nvSpPr>
          <p:cNvPr id="11" name="TextBox 11"/>
          <p:cNvSpPr txBox="1"/>
          <p:nvPr/>
        </p:nvSpPr>
        <p:spPr>
          <a:xfrm>
            <a:off x="6253162" y="3859848"/>
            <a:ext cx="7581900" cy="1783714"/>
          </a:xfrm>
          <a:prstGeom prst="rect">
            <a:avLst/>
          </a:prstGeom>
        </p:spPr>
        <p:txBody>
          <a:bodyPr lIns="0" tIns="0" rIns="0" bIns="0" rtlCol="0" anchor="t">
            <a:spAutoFit/>
          </a:bodyPr>
          <a:lstStyle/>
          <a:p>
            <a:pPr algn="ctr">
              <a:lnSpc>
                <a:spcPts val="14560"/>
              </a:lnSpc>
            </a:pPr>
            <a:r>
              <a:rPr lang="en-US" sz="10400">
                <a:solidFill>
                  <a:srgbClr val="FFFFFF"/>
                </a:solidFill>
                <a:latin typeface="League Spartan"/>
                <a:ea typeface="League Spartan"/>
                <a:cs typeface="League Spartan"/>
                <a:sym typeface="League Spartan"/>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42</TotalTime>
  <Words>1297</Words>
  <Application>Microsoft Office PowerPoint</Application>
  <PresentationFormat>Custom</PresentationFormat>
  <Paragraphs>85</Paragraphs>
  <Slides>12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Open Sans Semi-Bold</vt:lpstr>
      <vt:lpstr>League Spartan</vt:lpstr>
      <vt:lpstr>Arial</vt:lpstr>
      <vt:lpstr>Open Sans</vt:lpstr>
      <vt:lpstr>Open Sans Bold</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Elevator Pitch</dc:title>
  <dc:creator>Gerald Lwande</dc:creator>
  <cp:lastModifiedBy>Gerald Lwande</cp:lastModifiedBy>
  <cp:revision>1</cp:revision>
  <dcterms:created xsi:type="dcterms:W3CDTF">2006-08-16T00:00:00Z</dcterms:created>
  <dcterms:modified xsi:type="dcterms:W3CDTF">2025-07-24T11:38:10Z</dcterms:modified>
  <dc:identifier>DAGsHUz170g</dc:identifier>
</cp:coreProperties>
</file>